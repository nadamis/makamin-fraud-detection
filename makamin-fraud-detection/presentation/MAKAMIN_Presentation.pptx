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6B4E6FC-EE3A-4228-97BC-7198E92D1EF7}">
  <a:tblStyle styleId="{36B4E6FC-EE3A-4228-97BC-7198E92D1EF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Alia AlGhamdi</a:t>
            </a:r>
            <a:br>
              <a:rPr lang="en-US"/>
            </a:br>
            <a:br>
              <a:rPr lang="en-US"/>
            </a:br>
            <a:r>
              <a:rPr lang="en-US"/>
              <a:t>Introduce the team and the question. Fraud is often coordinated: several transactions sharing a card, address or device. Our project asks whether using those relationships improves detection compared with looking at each transaction alone.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Alia AlGhamdi</a:t>
            </a:r>
            <a:br>
              <a:rPr lang="en-US"/>
            </a:br>
            <a:br>
              <a:rPr lang="en-US"/>
            </a:br>
            <a:r>
              <a:rPr lang="en-US"/>
              <a:t>Alia: introduce the four of us and the order. Alia opens with the problem, data and EDA. Remas explains the approach, the fraud network and the features. Nada presents the models and results. Lujain walks through the MAKĀMIN dashboard and the demo. Remas closes with the reliability checks, limitations and conclusion. Everyone answers questions.</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 name="Google Shape;9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Alia AlGhamdi</a:t>
            </a:r>
            <a:br>
              <a:rPr lang="en-US"/>
            </a:br>
            <a:br>
              <a:rPr lang="en-US"/>
            </a:br>
            <a:r>
              <a:rPr lang="en-US"/>
              <a:t>State the business problem: coordinated fraud that looks normal one transaction at a time. Be upfront that the proposal planned graph neural networks (GraphSAGE, RGCN); we tried both, but neither performed better than XGBoost, so the final comparison uses an ANN, which runs on the same features and split.</a:t>
            </a:r>
            <a:endParaRPr/>
          </a:p>
        </p:txBody>
      </p:sp>
      <p:sp>
        <p:nvSpPr>
          <p:cNvPr id="96" name="Google Shape;9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Alia AlGhamdi</a:t>
            </a:r>
            <a:br>
              <a:rPr lang="en-US"/>
            </a:br>
            <a:br>
              <a:rPr lang="en-US"/>
            </a:br>
            <a:r>
              <a:rPr lang="en-US"/>
              <a:t>The dataset is the IEEE-CIS Fraud Detection competition data from Kaggle. Two tables joined on TransactionID. The key numbers: 3.5% fraud, so the classes are very imbalanced, and 76% of transactions have no identity data, so missing values are everywhere.</a:t>
            </a:r>
            <a:endParaRPr/>
          </a:p>
        </p:txBody>
      </p:sp>
      <p:sp>
        <p:nvSpPr>
          <p:cNvPr id="119" name="Google Shape;11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Alia AlGhamdi</a:t>
            </a:r>
            <a:br>
              <a:rPr lang="en-US"/>
            </a:br>
            <a:br>
              <a:rPr lang="en-US"/>
            </a:br>
            <a:r>
              <a:rPr lang="en-US"/>
              <a:t>Main EDA findings. Product C and mobile devices have fraud rates three to five times the average. Credit cards are nearly three times riskier than debit. Transactions with no device info have the lowest rate, so missingness itself carries signal. Amount alone separates poorly (median $75 fraud vs $68.50 legitimate). These are associations, not causes.</a:t>
            </a:r>
            <a:endParaRPr/>
          </a:p>
        </p:txBody>
      </p:sp>
      <p:sp>
        <p:nvSpPr>
          <p:cNvPr id="144" name="Google Shape;14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Walk through the pipeline. The key design choice is the time-based split: a random split would let the model learn from later fraud when predicting earlier fraud. Every preprocessing step (dropping 9 columns over 95% empty, category encoding, medians and scaling for the ANN) was learned from the training period only. Class imbalance was handled with a weight of 27.5 on fraud rather than resampling.</a:t>
            </a:r>
            <a:endParaRPr/>
          </a:p>
        </p:txBody>
      </p:sp>
      <p:sp>
        <p:nvSpPr>
          <p:cNvPr id="158" name="Google Shape;15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We tested linking rules first. Single attributes like email domain linked too broadly. Card plus address was a good balance, and the 24-hour window made links meaningful. The network has 12,922 nodes, 12,226 edges and 7,519 components. The biggest has 35 transactions on one card, one address and one email domain, across 3 devices over 73 hours. Stress that this graph is exploratory because it uses labels.</a:t>
            </a:r>
            <a:endParaRPr/>
          </a:p>
        </p:txBody>
      </p:sp>
      <p:sp>
        <p:nvSpPr>
          <p:cNvPr id="203" name="Google Shape;20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 name="Google Shape;22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This is how we used relationships safely. The proposal mentioned neighbourhood fraud density, but counting known fraud would leak the label. So instead we count how busy each identifier was in the past 24 hours. Only past transactions count, which is exactly the information available when a real transaction arrives.</a:t>
            </a:r>
            <a:endParaRPr/>
          </a:p>
        </p:txBody>
      </p:sp>
      <p:sp>
        <p:nvSpPr>
          <p:cNvPr id="225" name="Google Shape;22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Nada Aljaafari</a:t>
            </a:r>
            <a:br>
              <a:rPr lang="en-US"/>
            </a:br>
            <a:br>
              <a:rPr lang="en-US"/>
            </a:br>
            <a:r>
              <a:rPr lang="en-US"/>
              <a:t>XGBoost is the standard strong model for tabular data and was our proposal baseline. The ANN is the deep learning comparison. We also tried GraphSAGE and RGCN from the proposal; neither performed better than XGBoost, so they are not in the final notebook. Keeping everything identical except the five features means any change in score comes from the features.</a:t>
            </a:r>
            <a:endParaRPr/>
          </a:p>
        </p:txBody>
      </p:sp>
      <p:sp>
        <p:nvSpPr>
          <p:cNvPr id="249" name="Google Shape;24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Nada Aljaafari</a:t>
            </a:r>
            <a:br>
              <a:rPr lang="en-US"/>
            </a:br>
            <a:br>
              <a:rPr lang="en-US"/>
            </a:br>
            <a:r>
              <a:rPr lang="en-US"/>
              <a:t>We rank by Average Precision because it measures how well fraud rises to the top of the list. ROC-AUC can look strong even with many false alerts. XGBoost beats the ANN clearly; the ANN validation PR-AUC jumped between epochs, a sign of unstable training. The historical features helped XGBoost only slightly.</a:t>
            </a:r>
            <a:endParaRPr/>
          </a:p>
        </p:txBody>
      </p:sp>
      <p:sp>
        <p:nvSpPr>
          <p:cNvPr id="270" name="Google Shape;27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 name="Google Shape;28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Nada Aljaafari</a:t>
            </a:r>
            <a:br>
              <a:rPr lang="en-US"/>
            </a:br>
            <a:br>
              <a:rPr lang="en-US"/>
            </a:br>
            <a:r>
              <a:rPr lang="en-US"/>
              <a:t>Click to reveal each number. AP 0.521 versus 0.034 for random, ROC-AUC 0.909, and at the default 0.50 threshold it catches 74% of fraud. Be honest that the gain over plain XGBoost is small. The most complex model, the ANN, was not the best.</a:t>
            </a:r>
            <a:endParaRPr/>
          </a:p>
        </p:txBody>
      </p:sp>
      <p:sp>
        <p:nvSpPr>
          <p:cNvPr id="284" name="Google Shape;28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Nada Aljaafari</a:t>
            </a:r>
            <a:br>
              <a:rPr lang="en-US"/>
            </a:br>
            <a:br>
              <a:rPr lang="en-US"/>
            </a:br>
            <a:r>
              <a:rPr lang="en-US"/>
              <a:t>The model gives a probability; the threshold turns it into an alert. Lower thresholds catch more fraud but flood the team with false alerts. At 0.50, only about 1 in 5 alerts is real fraud. Accuracy at 0.50 is 89.7%, but that mostly reflects the legitimate majority.</a:t>
            </a:r>
            <a:endParaRPr/>
          </a:p>
        </p:txBody>
      </p:sp>
      <p:sp>
        <p:nvSpPr>
          <p:cNvPr id="308" name="Google Shape;308;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5" name="Google Shape;32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Nada Aljaafari</a:t>
            </a:r>
            <a:br>
              <a:rPr lang="en-US"/>
            </a:br>
            <a:br>
              <a:rPr lang="en-US"/>
            </a:br>
            <a:r>
              <a:rPr lang="en-US"/>
              <a:t>Each dot is a transaction; right means pushed toward fraud; red means a high feature value. Amount and card type lead. Among our five features, card count ranks 17th, then address 36th, email 56th, device 61st, card plus address 82nd. Their effect is non-linear.</a:t>
            </a:r>
            <a:endParaRPr/>
          </a:p>
        </p:txBody>
      </p:sp>
      <p:sp>
        <p:nvSpPr>
          <p:cNvPr id="326" name="Google Shape;32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Lujain Alqarni</a:t>
            </a:r>
            <a:br>
              <a:rPr lang="en-US"/>
            </a:br>
            <a:br>
              <a:rPr lang="en-US"/>
            </a:br>
            <a:r>
              <a:rPr lang="en-US"/>
              <a:t>MAKĀMIN (مكامن, "Uncovering Hidden Fraud Patterns") takes the 5,000 validation transactions that have SHAP explanations. For a selected transaction it shows the risk score and decision at 0.50, the ten strongest SHAP reasons, and an interactive network of earlier transactions from the previous 24 hours that share its card, address, email domain or device. Future transactions are never used, and fraud labels are added only after links are found. Built with Streamlit, Plotly and PyVis; runs from Kaggle through a temporary link for the demo. If possible, show the live dashboard here.</a:t>
            </a:r>
            <a:endParaRPr/>
          </a:p>
        </p:txBody>
      </p:sp>
      <p:sp>
        <p:nvSpPr>
          <p:cNvPr id="348" name="Google Shape;34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h1c8d42aab90edb00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h1c8d42aab90edb00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Lujain Alqarni</a:t>
            </a:r>
            <a:br>
              <a:rPr lang="en-US"/>
            </a:br>
            <a:br>
              <a:rPr lang="en-US"/>
            </a:br>
            <a:r>
              <a:rPr lang="en-US"/>
              <a:t>MAKĀMIN (مكامن, "Uncovering Hidden Fraud Patterns") takes the 5,000 validation transactions that have SHAP explanations. For a selected transaction it shows the risk score and decision at 0.50, the ten strongest SHAP reasons, and an interactive network of earlier transactions from the previous 24 hours that share its card, address, email domain or device. Future transactions are never used, and fraud labels are added only after links are found. Built with Streamlit, Plotly and PyVis; runs from Kaggle through a temporary link for the demo. If possible, show the live dashboard here.</a:t>
            </a:r>
            <a:endParaRPr/>
          </a:p>
        </p:txBody>
      </p:sp>
      <p:sp>
        <p:nvSpPr>
          <p:cNvPr id="395" name="Google Shape;395;h1c8d42aab90edb00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Lujain Alqarni</a:t>
            </a:r>
            <a:br>
              <a:rPr lang="en-US"/>
            </a:br>
            <a:br>
              <a:rPr lang="en-US"/>
            </a:br>
            <a:r>
              <a:rPr lang="en-US"/>
              <a:t>The video plays automatically (40 seconds, no sound), so narrate over it. Overview: 118,108 validation transactions, 14,122 alerts and 74% recall at 0.50. Then one transaction: its risk gauge and decision, the SHAP reasons that pushed its score up or down, and the network of earlier transactions from the past 24 hours that share its card, address, email domain or device, with known fraud in pink. If the live link works, you can show the real dashboard instead.</a:t>
            </a:r>
            <a:endParaRPr/>
          </a:p>
        </p:txBody>
      </p:sp>
      <p:sp>
        <p:nvSpPr>
          <p:cNvPr id="424" name="Google Shape;42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7" name="Google Shape;43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We designed against leakage from the start. The honest caveats: the ANN used validation PR-AUC for early stopping, so its score is slightly optimistic; the threshold table also used validation data. With one split and one run, the small gain from our features may not hold. Recording XGBoost training scores would show the overfitting gap.</a:t>
            </a:r>
            <a:endParaRPr/>
          </a:p>
        </p:txBody>
      </p:sp>
      <p:sp>
        <p:nvSpPr>
          <p:cNvPr id="438" name="Google Shape;43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We tried GraphSAGE and RGCN and neither beat XGBoost, but those runs are not in the final notebook, so we cannot show their scores. A stronger customer ID, for example card plus address plus account start date, would make the relationship features sharper.</a:t>
            </a:r>
            <a:endParaRPr/>
          </a:p>
        </p:txBody>
      </p:sp>
      <p:sp>
        <p:nvSpPr>
          <p:cNvPr id="460" name="Google Shape;46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 name="Google Shape;47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Remas Almutairi</a:t>
            </a:r>
            <a:br>
              <a:rPr lang="en-US"/>
            </a:br>
            <a:br>
              <a:rPr lang="en-US"/>
            </a:br>
            <a:r>
              <a:rPr lang="en-US"/>
              <a:t>Click to reveal each takeaway. Relationships exist and can be used without leakage, but a strong tabular model already captures most of the signal. MAKĀMIN shows how an investigator could use the score, its reasons and the related transactions together. Even the graph neural networks we tried did not beat XGBoost.</a:t>
            </a:r>
            <a:endParaRPr/>
          </a:p>
        </p:txBody>
      </p:sp>
      <p:sp>
        <p:nvSpPr>
          <p:cNvPr id="478" name="Google Shape;478;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5" name="Google Shape;4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PRESENTER: Everyone</a:t>
            </a:r>
            <a:br>
              <a:rPr lang="en-US"/>
            </a:br>
            <a:br>
              <a:rPr lang="en-US"/>
            </a:br>
            <a:r>
              <a:rPr lang="en-US"/>
              <a:t>Likely questions: Why not GNNs? Why AP instead of accuracy? How do you know there is no leakage? Why weighting instead of SMOTE? Why is the gain from the features so small?</a:t>
            </a:r>
            <a:endParaRPr/>
          </a:p>
        </p:txBody>
      </p:sp>
      <p:sp>
        <p:nvSpPr>
          <p:cNvPr id="496" name="Google Shape;49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drive.google.com/file/d/16bE6GYHlasHAesR-0ozNaReA6qv78S3y/view" TargetMode="Externa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15" name="Shape 15"/>
        <p:cNvGrpSpPr/>
        <p:nvPr/>
      </p:nvGrpSpPr>
      <p:grpSpPr>
        <a:xfrm>
          <a:off x="0" y="0"/>
          <a:ext cx="0" cy="0"/>
          <a:chOff x="0" y="0"/>
          <a:chExt cx="0" cy="0"/>
        </a:xfrm>
      </p:grpSpPr>
      <p:cxnSp>
        <p:nvCxnSpPr>
          <p:cNvPr id="16" name="Google Shape;16;p3"/>
          <p:cNvCxnSpPr/>
          <p:nvPr/>
        </p:nvCxnSpPr>
        <p:spPr>
          <a:xfrm flipH="1" rot="10800000">
            <a:off x="7676147" y="1648326"/>
            <a:ext cx="1039528" cy="389823"/>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17" name="Google Shape;17;p3"/>
          <p:cNvCxnSpPr/>
          <p:nvPr/>
        </p:nvCxnSpPr>
        <p:spPr>
          <a:xfrm>
            <a:off x="7676147" y="2038149"/>
            <a:ext cx="649705"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18" name="Google Shape;18;p3"/>
          <p:cNvCxnSpPr/>
          <p:nvPr/>
        </p:nvCxnSpPr>
        <p:spPr>
          <a:xfrm flipH="1" rot="10800000">
            <a:off x="8325853" y="1648326"/>
            <a:ext cx="389823" cy="1299411"/>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19" name="Google Shape;19;p3"/>
          <p:cNvCxnSpPr/>
          <p:nvPr/>
        </p:nvCxnSpPr>
        <p:spPr>
          <a:xfrm>
            <a:off x="8715676" y="1648326"/>
            <a:ext cx="1039528" cy="649705"/>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0" name="Google Shape;20;p3"/>
          <p:cNvCxnSpPr/>
          <p:nvPr/>
        </p:nvCxnSpPr>
        <p:spPr>
          <a:xfrm flipH="1" rot="10800000">
            <a:off x="9755204" y="1778267"/>
            <a:ext cx="909587" cy="519764"/>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1" name="Google Shape;21;p3"/>
          <p:cNvCxnSpPr/>
          <p:nvPr/>
        </p:nvCxnSpPr>
        <p:spPr>
          <a:xfrm>
            <a:off x="8325853" y="2947737"/>
            <a:ext cx="584735" cy="1169469"/>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2" name="Google Shape;22;p3"/>
          <p:cNvCxnSpPr/>
          <p:nvPr/>
        </p:nvCxnSpPr>
        <p:spPr>
          <a:xfrm>
            <a:off x="10145027" y="3597442"/>
            <a:ext cx="779646"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3" name="Google Shape;23;p3"/>
          <p:cNvCxnSpPr/>
          <p:nvPr/>
        </p:nvCxnSpPr>
        <p:spPr>
          <a:xfrm flipH="1" rot="10800000">
            <a:off x="8065971" y="4117206"/>
            <a:ext cx="844617" cy="779646"/>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4" name="Google Shape;24;p3"/>
          <p:cNvCxnSpPr/>
          <p:nvPr/>
        </p:nvCxnSpPr>
        <p:spPr>
          <a:xfrm>
            <a:off x="8910587" y="4117206"/>
            <a:ext cx="844617"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5" name="Google Shape;25;p3"/>
          <p:cNvCxnSpPr/>
          <p:nvPr/>
        </p:nvCxnSpPr>
        <p:spPr>
          <a:xfrm flipH="1" rot="10800000">
            <a:off x="9755204" y="4507029"/>
            <a:ext cx="1169469" cy="519764"/>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6" name="Google Shape;26;p3"/>
          <p:cNvCxnSpPr/>
          <p:nvPr/>
        </p:nvCxnSpPr>
        <p:spPr>
          <a:xfrm flipH="1" rot="10800000">
            <a:off x="10145027" y="1778267"/>
            <a:ext cx="519764" cy="1819175"/>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27" name="Google Shape;27;p3"/>
          <p:cNvCxnSpPr/>
          <p:nvPr/>
        </p:nvCxnSpPr>
        <p:spPr>
          <a:xfrm flipH="1" rot="10800000">
            <a:off x="8325853" y="2298032"/>
            <a:ext cx="1429352" cy="649705"/>
          </a:xfrm>
          <a:prstGeom prst="straightConnector1">
            <a:avLst/>
          </a:prstGeom>
          <a:noFill/>
          <a:ln cap="flat" cmpd="sng" w="44450">
            <a:solidFill>
              <a:srgbClr val="E8743B"/>
            </a:solidFill>
            <a:prstDash val="solid"/>
            <a:round/>
            <a:headEnd len="sm" w="sm" type="none"/>
            <a:tailEnd len="sm" w="sm" type="none"/>
          </a:ln>
        </p:spPr>
      </p:cxnSp>
      <p:cxnSp>
        <p:nvCxnSpPr>
          <p:cNvPr id="28" name="Google Shape;28;p3"/>
          <p:cNvCxnSpPr/>
          <p:nvPr/>
        </p:nvCxnSpPr>
        <p:spPr>
          <a:xfrm>
            <a:off x="9755204" y="2298032"/>
            <a:ext cx="389823" cy="1299411"/>
          </a:xfrm>
          <a:prstGeom prst="straightConnector1">
            <a:avLst/>
          </a:prstGeom>
          <a:noFill/>
          <a:ln cap="flat" cmpd="sng" w="44450">
            <a:solidFill>
              <a:srgbClr val="E8743B"/>
            </a:solidFill>
            <a:prstDash val="solid"/>
            <a:round/>
            <a:headEnd len="sm" w="sm" type="none"/>
            <a:tailEnd len="sm" w="sm" type="none"/>
          </a:ln>
        </p:spPr>
      </p:cxnSp>
      <p:cxnSp>
        <p:nvCxnSpPr>
          <p:cNvPr id="29" name="Google Shape;29;p3"/>
          <p:cNvCxnSpPr/>
          <p:nvPr/>
        </p:nvCxnSpPr>
        <p:spPr>
          <a:xfrm flipH="1" rot="10800000">
            <a:off x="8910587" y="3597442"/>
            <a:ext cx="1234440" cy="519764"/>
          </a:xfrm>
          <a:prstGeom prst="straightConnector1">
            <a:avLst/>
          </a:prstGeom>
          <a:noFill/>
          <a:ln cap="flat" cmpd="sng" w="44450">
            <a:solidFill>
              <a:srgbClr val="E8743B"/>
            </a:solidFill>
            <a:prstDash val="solid"/>
            <a:round/>
            <a:headEnd len="sm" w="sm" type="none"/>
            <a:tailEnd len="sm" w="sm" type="none"/>
          </a:ln>
        </p:spPr>
      </p:cxnSp>
      <p:cxnSp>
        <p:nvCxnSpPr>
          <p:cNvPr id="30" name="Google Shape;30;p3"/>
          <p:cNvCxnSpPr/>
          <p:nvPr/>
        </p:nvCxnSpPr>
        <p:spPr>
          <a:xfrm>
            <a:off x="8325853" y="2947737"/>
            <a:ext cx="584735" cy="1169469"/>
          </a:xfrm>
          <a:prstGeom prst="straightConnector1">
            <a:avLst/>
          </a:prstGeom>
          <a:noFill/>
          <a:ln cap="flat" cmpd="sng" w="44450">
            <a:solidFill>
              <a:srgbClr val="E8743B"/>
            </a:solidFill>
            <a:prstDash val="solid"/>
            <a:round/>
            <a:headEnd len="sm" w="sm" type="none"/>
            <a:tailEnd len="sm" w="sm" type="none"/>
          </a:ln>
        </p:spPr>
      </p:cxnSp>
      <p:cxnSp>
        <p:nvCxnSpPr>
          <p:cNvPr id="31" name="Google Shape;31;p3"/>
          <p:cNvCxnSpPr/>
          <p:nvPr/>
        </p:nvCxnSpPr>
        <p:spPr>
          <a:xfrm>
            <a:off x="8325853" y="2947737"/>
            <a:ext cx="1819175" cy="649705"/>
          </a:xfrm>
          <a:prstGeom prst="straightConnector1">
            <a:avLst/>
          </a:prstGeom>
          <a:noFill/>
          <a:ln cap="flat" cmpd="sng" w="44450">
            <a:solidFill>
              <a:srgbClr val="E8743B"/>
            </a:solidFill>
            <a:prstDash val="solid"/>
            <a:round/>
            <a:headEnd len="sm" w="sm" type="none"/>
            <a:tailEnd len="sm" w="sm" type="none"/>
          </a:ln>
        </p:spPr>
      </p:cxnSp>
      <p:sp>
        <p:nvSpPr>
          <p:cNvPr id="32" name="Google Shape;32;p3"/>
          <p:cNvSpPr/>
          <p:nvPr/>
        </p:nvSpPr>
        <p:spPr>
          <a:xfrm>
            <a:off x="7585189" y="1947191"/>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a:off x="8624717" y="1557368"/>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a:off x="10573833" y="1687309"/>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a:off x="10833715" y="4416071"/>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a:off x="7975012" y="4805894"/>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a:off x="9664245" y="4935835"/>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a:off x="8065971" y="2687855"/>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3"/>
          <p:cNvSpPr/>
          <p:nvPr/>
        </p:nvSpPr>
        <p:spPr>
          <a:xfrm>
            <a:off x="9495322" y="2038149"/>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p:cNvSpPr/>
          <p:nvPr/>
        </p:nvSpPr>
        <p:spPr>
          <a:xfrm>
            <a:off x="9885145" y="3337560"/>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p:cNvSpPr/>
          <p:nvPr/>
        </p:nvSpPr>
        <p:spPr>
          <a:xfrm>
            <a:off x="8650705" y="3857324"/>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p:cNvSpPr/>
          <p:nvPr/>
        </p:nvSpPr>
        <p:spPr>
          <a:xfrm>
            <a:off x="8182917" y="2804802"/>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3"/>
          <p:cNvSpPr/>
          <p:nvPr/>
        </p:nvSpPr>
        <p:spPr>
          <a:xfrm>
            <a:off x="9612269" y="2155096"/>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3"/>
          <p:cNvSpPr/>
          <p:nvPr/>
        </p:nvSpPr>
        <p:spPr>
          <a:xfrm>
            <a:off x="10002092" y="3454507"/>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3"/>
          <p:cNvSpPr/>
          <p:nvPr/>
        </p:nvSpPr>
        <p:spPr>
          <a:xfrm>
            <a:off x="8767652" y="3974271"/>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3"/>
          <p:cNvSpPr txBox="1"/>
          <p:nvPr/>
        </p:nvSpPr>
        <p:spPr>
          <a:xfrm>
            <a:off x="612648" y="1828800"/>
            <a:ext cx="64008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400"/>
              <a:buFont typeface="Arial"/>
              <a:buNone/>
            </a:pPr>
            <a:r>
              <a:rPr b="1" i="0" lang="en-US" sz="1400" u="none" cap="none" strike="noStrike">
                <a:solidFill>
                  <a:srgbClr val="E8743B"/>
                </a:solidFill>
                <a:latin typeface="Arial"/>
                <a:ea typeface="Arial"/>
                <a:cs typeface="Arial"/>
                <a:sym typeface="Arial"/>
              </a:rPr>
              <a:t>GROUP 8 · DATA SCIENCE CAPSTONE</a:t>
            </a:r>
            <a:endParaRPr b="0" i="0" sz="1400" u="none" cap="none" strike="noStrike">
              <a:solidFill>
                <a:schemeClr val="dk1"/>
              </a:solidFill>
              <a:latin typeface="Calibri"/>
              <a:ea typeface="Calibri"/>
              <a:cs typeface="Calibri"/>
              <a:sym typeface="Calibri"/>
            </a:endParaRPr>
          </a:p>
        </p:txBody>
      </p:sp>
      <p:sp>
        <p:nvSpPr>
          <p:cNvPr id="47" name="Google Shape;47;p3"/>
          <p:cNvSpPr txBox="1"/>
          <p:nvPr/>
        </p:nvSpPr>
        <p:spPr>
          <a:xfrm>
            <a:off x="612648" y="2286000"/>
            <a:ext cx="6400800" cy="18288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F5F3EE"/>
              </a:buClr>
              <a:buSzPts val="6000"/>
              <a:buFont typeface="Arial"/>
              <a:buNone/>
            </a:pPr>
            <a:r>
              <a:rPr b="1" i="0" lang="en-US" sz="6000" u="none" cap="none" strike="noStrike">
                <a:solidFill>
                  <a:srgbClr val="F5F3EE"/>
                </a:solidFill>
                <a:latin typeface="Arial"/>
                <a:ea typeface="Arial"/>
                <a:cs typeface="Arial"/>
                <a:sym typeface="Arial"/>
              </a:rPr>
              <a:t>MAKĀMIN</a:t>
            </a:r>
            <a:endParaRPr b="0" i="0" sz="6000" u="none" cap="none" strike="noStrike">
              <a:solidFill>
                <a:schemeClr val="dk1"/>
              </a:solidFill>
              <a:latin typeface="Calibri"/>
              <a:ea typeface="Calibri"/>
              <a:cs typeface="Calibri"/>
              <a:sym typeface="Calibri"/>
            </a:endParaRPr>
          </a:p>
          <a:p>
            <a:pPr indent="0" lvl="0" marL="0" marR="0" rtl="0" algn="l">
              <a:lnSpc>
                <a:spcPct val="90000"/>
              </a:lnSpc>
              <a:spcBef>
                <a:spcPts val="0"/>
              </a:spcBef>
              <a:spcAft>
                <a:spcPts val="0"/>
              </a:spcAft>
              <a:buClr>
                <a:srgbClr val="E8743B"/>
              </a:buClr>
              <a:buSzPts val="6000"/>
              <a:buFont typeface="Arial"/>
              <a:buNone/>
            </a:pPr>
            <a:r>
              <a:rPr b="1" i="0" lang="en-US" sz="6000" u="none" cap="none" strike="noStrike">
                <a:solidFill>
                  <a:srgbClr val="E8743B"/>
                </a:solidFill>
                <a:latin typeface="Arial"/>
                <a:ea typeface="Arial"/>
                <a:cs typeface="Arial"/>
                <a:sym typeface="Arial"/>
              </a:rPr>
              <a:t>مكامن</a:t>
            </a:r>
            <a:endParaRPr b="0" i="0" sz="6000" u="none" cap="none" strike="noStrike">
              <a:solidFill>
                <a:schemeClr val="dk1"/>
              </a:solidFill>
              <a:latin typeface="Calibri"/>
              <a:ea typeface="Calibri"/>
              <a:cs typeface="Calibri"/>
              <a:sym typeface="Calibri"/>
            </a:endParaRPr>
          </a:p>
        </p:txBody>
      </p:sp>
      <p:sp>
        <p:nvSpPr>
          <p:cNvPr id="48" name="Google Shape;48;p3"/>
          <p:cNvSpPr txBox="1"/>
          <p:nvPr/>
        </p:nvSpPr>
        <p:spPr>
          <a:xfrm>
            <a:off x="612648" y="4251960"/>
            <a:ext cx="58521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2000"/>
              <a:buFont typeface="Arial"/>
              <a:buNone/>
            </a:pPr>
            <a:r>
              <a:rPr b="0" i="0" lang="en-US" sz="2000" u="none" cap="none" strike="noStrike">
                <a:solidFill>
                  <a:srgbClr val="C3CCDA"/>
                </a:solidFill>
                <a:latin typeface="Arial"/>
                <a:ea typeface="Arial"/>
                <a:cs typeface="Arial"/>
                <a:sym typeface="Arial"/>
              </a:rPr>
              <a:t>Financial fraud detection with network analysis: do relationships between transactions help us catch fraud?</a:t>
            </a:r>
            <a:endParaRPr b="0" i="0" sz="2000" u="none" cap="none" strike="noStrike">
              <a:solidFill>
                <a:schemeClr val="dk1"/>
              </a:solidFill>
              <a:latin typeface="Calibri"/>
              <a:ea typeface="Calibri"/>
              <a:cs typeface="Calibri"/>
              <a:sym typeface="Calibri"/>
            </a:endParaRPr>
          </a:p>
        </p:txBody>
      </p:sp>
      <p:sp>
        <p:nvSpPr>
          <p:cNvPr id="49" name="Google Shape;49;p3"/>
          <p:cNvSpPr txBox="1"/>
          <p:nvPr/>
        </p:nvSpPr>
        <p:spPr>
          <a:xfrm>
            <a:off x="612648" y="5989320"/>
            <a:ext cx="8229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400"/>
              <a:buFont typeface="Arial"/>
              <a:buNone/>
            </a:pPr>
            <a:r>
              <a:rPr b="0" i="0" lang="en-US" sz="1400" u="none" cap="none" strike="noStrike">
                <a:solidFill>
                  <a:srgbClr val="C3CCDA"/>
                </a:solidFill>
                <a:latin typeface="Arial"/>
                <a:ea typeface="Arial"/>
                <a:cs typeface="Arial"/>
                <a:sym typeface="Arial"/>
              </a:rPr>
              <a:t>Nada Aljaafari · Lujain Alqarni · Alia AlGhamdi · Remas Almutairi</a:t>
            </a:r>
            <a:endParaRPr b="0" i="0" sz="1400" u="none" cap="none" strike="noStrike">
              <a:solidFill>
                <a:schemeClr val="dk1"/>
              </a:solidFill>
              <a:latin typeface="Calibri"/>
              <a:ea typeface="Calibri"/>
              <a:cs typeface="Calibri"/>
              <a:sym typeface="Calibri"/>
            </a:endParaRPr>
          </a:p>
        </p:txBody>
      </p:sp>
      <p:sp>
        <p:nvSpPr>
          <p:cNvPr id="50" name="Google Shape;50;p3"/>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3"/>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3"/>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Alia AlGhamdi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6"/>
                                        </p:tgtEl>
                                        <p:attrNameLst>
                                          <p:attrName>style.visibility</p:attrName>
                                        </p:attrNameLst>
                                      </p:cBhvr>
                                      <p:to>
                                        <p:strVal val="visible"/>
                                      </p:to>
                                    </p:set>
                                    <p:animEffect filter="fade" transition="in">
                                      <p:cBhvr>
                                        <p:cTn dur="500"/>
                                        <p:tgtEl>
                                          <p:spTgt spid="16"/>
                                        </p:tgtEl>
                                      </p:cBhvr>
                                    </p:animEffect>
                                  </p:childTnLst>
                                </p:cTn>
                              </p:par>
                              <p:par>
                                <p:cTn fill="hold" nodeType="withEffect" presetClass="entr" presetID="10" presetSubtype="0">
                                  <p:stCondLst>
                                    <p:cond delay="110"/>
                                  </p:stCondLst>
                                  <p:childTnLst>
                                    <p:set>
                                      <p:cBhvr>
                                        <p:cTn dur="1" fill="hold">
                                          <p:stCondLst>
                                            <p:cond delay="0"/>
                                          </p:stCondLst>
                                        </p:cTn>
                                        <p:tgtEl>
                                          <p:spTgt spid="17"/>
                                        </p:tgtEl>
                                        <p:attrNameLst>
                                          <p:attrName>style.visibility</p:attrName>
                                        </p:attrNameLst>
                                      </p:cBhvr>
                                      <p:to>
                                        <p:strVal val="visible"/>
                                      </p:to>
                                    </p:set>
                                    <p:animEffect filter="fade" transition="in">
                                      <p:cBhvr>
                                        <p:cTn dur="500"/>
                                        <p:tgtEl>
                                          <p:spTgt spid="17"/>
                                        </p:tgtEl>
                                      </p:cBhvr>
                                    </p:animEffect>
                                  </p:childTnLst>
                                </p:cTn>
                              </p:par>
                              <p:par>
                                <p:cTn fill="hold" nodeType="withEffect" presetClass="entr" presetID="10" presetSubtype="0">
                                  <p:stCondLst>
                                    <p:cond delay="220"/>
                                  </p:stCondLst>
                                  <p:childTnLst>
                                    <p:set>
                                      <p:cBhvr>
                                        <p:cTn dur="1" fill="hold">
                                          <p:stCondLst>
                                            <p:cond delay="0"/>
                                          </p:stCondLst>
                                        </p:cTn>
                                        <p:tgtEl>
                                          <p:spTgt spid="18"/>
                                        </p:tgtEl>
                                        <p:attrNameLst>
                                          <p:attrName>style.visibility</p:attrName>
                                        </p:attrNameLst>
                                      </p:cBhvr>
                                      <p:to>
                                        <p:strVal val="visible"/>
                                      </p:to>
                                    </p:set>
                                    <p:animEffect filter="fade" transition="in">
                                      <p:cBhvr>
                                        <p:cTn dur="500"/>
                                        <p:tgtEl>
                                          <p:spTgt spid="18"/>
                                        </p:tgtEl>
                                      </p:cBhvr>
                                    </p:animEffect>
                                  </p:childTnLst>
                                </p:cTn>
                              </p:par>
                              <p:par>
                                <p:cTn fill="hold" nodeType="withEffect" presetClass="entr" presetID="10" presetSubtype="0">
                                  <p:stCondLst>
                                    <p:cond delay="330"/>
                                  </p:stCondLst>
                                  <p:childTnLst>
                                    <p:set>
                                      <p:cBhvr>
                                        <p:cTn dur="1" fill="hold">
                                          <p:stCondLst>
                                            <p:cond delay="0"/>
                                          </p:stCondLst>
                                        </p:cTn>
                                        <p:tgtEl>
                                          <p:spTgt spid="19"/>
                                        </p:tgtEl>
                                        <p:attrNameLst>
                                          <p:attrName>style.visibility</p:attrName>
                                        </p:attrNameLst>
                                      </p:cBhvr>
                                      <p:to>
                                        <p:strVal val="visible"/>
                                      </p:to>
                                    </p:set>
                                    <p:animEffect filter="fade" transition="in">
                                      <p:cBhvr>
                                        <p:cTn dur="500"/>
                                        <p:tgtEl>
                                          <p:spTgt spid="19"/>
                                        </p:tgtEl>
                                      </p:cBhvr>
                                    </p:animEffect>
                                  </p:childTnLst>
                                </p:cTn>
                              </p:par>
                              <p:par>
                                <p:cTn fill="hold" nodeType="withEffect" presetClass="entr" presetID="10" presetSubtype="0">
                                  <p:stCondLst>
                                    <p:cond delay="440"/>
                                  </p:stCondLst>
                                  <p:childTnLst>
                                    <p:set>
                                      <p:cBhvr>
                                        <p:cTn dur="1" fill="hold">
                                          <p:stCondLst>
                                            <p:cond delay="0"/>
                                          </p:stCondLst>
                                        </p:cTn>
                                        <p:tgtEl>
                                          <p:spTgt spid="20"/>
                                        </p:tgtEl>
                                        <p:attrNameLst>
                                          <p:attrName>style.visibility</p:attrName>
                                        </p:attrNameLst>
                                      </p:cBhvr>
                                      <p:to>
                                        <p:strVal val="visible"/>
                                      </p:to>
                                    </p:set>
                                    <p:animEffect filter="fade" transition="in">
                                      <p:cBhvr>
                                        <p:cTn dur="500"/>
                                        <p:tgtEl>
                                          <p:spTgt spid="20"/>
                                        </p:tgtEl>
                                      </p:cBhvr>
                                    </p:animEffect>
                                  </p:childTnLst>
                                </p:cTn>
                              </p:par>
                              <p:par>
                                <p:cTn fill="hold" nodeType="withEffect" presetClass="entr" presetID="10" presetSubtype="0">
                                  <p:stCondLst>
                                    <p:cond delay="550"/>
                                  </p:stCondLst>
                                  <p:childTnLst>
                                    <p:set>
                                      <p:cBhvr>
                                        <p:cTn dur="1" fill="hold">
                                          <p:stCondLst>
                                            <p:cond delay="0"/>
                                          </p:stCondLst>
                                        </p:cTn>
                                        <p:tgtEl>
                                          <p:spTgt spid="21"/>
                                        </p:tgtEl>
                                        <p:attrNameLst>
                                          <p:attrName>style.visibility</p:attrName>
                                        </p:attrNameLst>
                                      </p:cBhvr>
                                      <p:to>
                                        <p:strVal val="visible"/>
                                      </p:to>
                                    </p:set>
                                    <p:animEffect filter="fade" transition="in">
                                      <p:cBhvr>
                                        <p:cTn dur="500"/>
                                        <p:tgtEl>
                                          <p:spTgt spid="21"/>
                                        </p:tgtEl>
                                      </p:cBhvr>
                                    </p:animEffect>
                                  </p:childTnLst>
                                </p:cTn>
                              </p:par>
                              <p:par>
                                <p:cTn fill="hold" nodeType="withEffect" presetClass="entr" presetID="10" presetSubtype="0">
                                  <p:stCondLst>
                                    <p:cond delay="660"/>
                                  </p:stCondLst>
                                  <p:childTnLst>
                                    <p:set>
                                      <p:cBhvr>
                                        <p:cTn dur="1" fill="hold">
                                          <p:stCondLst>
                                            <p:cond delay="0"/>
                                          </p:stCondLst>
                                        </p:cTn>
                                        <p:tgtEl>
                                          <p:spTgt spid="22"/>
                                        </p:tgtEl>
                                        <p:attrNameLst>
                                          <p:attrName>style.visibility</p:attrName>
                                        </p:attrNameLst>
                                      </p:cBhvr>
                                      <p:to>
                                        <p:strVal val="visible"/>
                                      </p:to>
                                    </p:set>
                                    <p:animEffect filter="fade" transition="in">
                                      <p:cBhvr>
                                        <p:cTn dur="500"/>
                                        <p:tgtEl>
                                          <p:spTgt spid="22"/>
                                        </p:tgtEl>
                                      </p:cBhvr>
                                    </p:animEffect>
                                  </p:childTnLst>
                                </p:cTn>
                              </p:par>
                              <p:par>
                                <p:cTn fill="hold" nodeType="withEffect" presetClass="entr" presetID="10" presetSubtype="0">
                                  <p:stCondLst>
                                    <p:cond delay="770"/>
                                  </p:stCondLst>
                                  <p:childTnLst>
                                    <p:set>
                                      <p:cBhvr>
                                        <p:cTn dur="1" fill="hold">
                                          <p:stCondLst>
                                            <p:cond delay="0"/>
                                          </p:stCondLst>
                                        </p:cTn>
                                        <p:tgtEl>
                                          <p:spTgt spid="23"/>
                                        </p:tgtEl>
                                        <p:attrNameLst>
                                          <p:attrName>style.visibility</p:attrName>
                                        </p:attrNameLst>
                                      </p:cBhvr>
                                      <p:to>
                                        <p:strVal val="visible"/>
                                      </p:to>
                                    </p:set>
                                    <p:animEffect filter="fade" transition="in">
                                      <p:cBhvr>
                                        <p:cTn dur="500"/>
                                        <p:tgtEl>
                                          <p:spTgt spid="23"/>
                                        </p:tgtEl>
                                      </p:cBhvr>
                                    </p:animEffect>
                                  </p:childTnLst>
                                </p:cTn>
                              </p:par>
                              <p:par>
                                <p:cTn fill="hold" nodeType="withEffect" presetClass="entr" presetID="10" presetSubtype="0">
                                  <p:stCondLst>
                                    <p:cond delay="880"/>
                                  </p:stCondLst>
                                  <p:childTnLst>
                                    <p:set>
                                      <p:cBhvr>
                                        <p:cTn dur="1" fill="hold">
                                          <p:stCondLst>
                                            <p:cond delay="0"/>
                                          </p:stCondLst>
                                        </p:cTn>
                                        <p:tgtEl>
                                          <p:spTgt spid="24"/>
                                        </p:tgtEl>
                                        <p:attrNameLst>
                                          <p:attrName>style.visibility</p:attrName>
                                        </p:attrNameLst>
                                      </p:cBhvr>
                                      <p:to>
                                        <p:strVal val="visible"/>
                                      </p:to>
                                    </p:set>
                                    <p:animEffect filter="fade" transition="in">
                                      <p:cBhvr>
                                        <p:cTn dur="500"/>
                                        <p:tgtEl>
                                          <p:spTgt spid="24"/>
                                        </p:tgtEl>
                                      </p:cBhvr>
                                    </p:animEffect>
                                  </p:childTnLst>
                                </p:cTn>
                              </p:par>
                              <p:par>
                                <p:cTn fill="hold" nodeType="withEffect" presetClass="entr" presetID="10" presetSubtype="0">
                                  <p:stCondLst>
                                    <p:cond delay="990"/>
                                  </p:stCondLst>
                                  <p:childTnLst>
                                    <p:set>
                                      <p:cBhvr>
                                        <p:cTn dur="1" fill="hold">
                                          <p:stCondLst>
                                            <p:cond delay="0"/>
                                          </p:stCondLst>
                                        </p:cTn>
                                        <p:tgtEl>
                                          <p:spTgt spid="25"/>
                                        </p:tgtEl>
                                        <p:attrNameLst>
                                          <p:attrName>style.visibility</p:attrName>
                                        </p:attrNameLst>
                                      </p:cBhvr>
                                      <p:to>
                                        <p:strVal val="visible"/>
                                      </p:to>
                                    </p:set>
                                    <p:animEffect filter="fade" transition="in">
                                      <p:cBhvr>
                                        <p:cTn dur="500"/>
                                        <p:tgtEl>
                                          <p:spTgt spid="25"/>
                                        </p:tgtEl>
                                      </p:cBhvr>
                                    </p:animEffect>
                                  </p:childTnLst>
                                </p:cTn>
                              </p:par>
                              <p:par>
                                <p:cTn fill="hold" nodeType="withEffect" presetClass="entr" presetID="10" presetSubtype="0">
                                  <p:stCondLst>
                                    <p:cond delay="1100"/>
                                  </p:stCondLst>
                                  <p:childTnLst>
                                    <p:set>
                                      <p:cBhvr>
                                        <p:cTn dur="1" fill="hold">
                                          <p:stCondLst>
                                            <p:cond delay="0"/>
                                          </p:stCondLst>
                                        </p:cTn>
                                        <p:tgtEl>
                                          <p:spTgt spid="26"/>
                                        </p:tgtEl>
                                        <p:attrNameLst>
                                          <p:attrName>style.visibility</p:attrName>
                                        </p:attrNameLst>
                                      </p:cBhvr>
                                      <p:to>
                                        <p:strVal val="visible"/>
                                      </p:to>
                                    </p:set>
                                    <p:animEffect filter="fade" transition="in">
                                      <p:cBhvr>
                                        <p:cTn dur="500"/>
                                        <p:tgtEl>
                                          <p:spTgt spid="26"/>
                                        </p:tgtEl>
                                      </p:cBhvr>
                                    </p:animEffect>
                                  </p:childTnLst>
                                </p:cTn>
                              </p:par>
                              <p:par>
                                <p:cTn fill="hold" nodeType="withEffect" presetClass="entr" presetID="10" presetSubtype="0">
                                  <p:stCondLst>
                                    <p:cond delay="150"/>
                                  </p:stCondLst>
                                  <p:childTnLst>
                                    <p:set>
                                      <p:cBhvr>
                                        <p:cTn dur="1" fill="hold">
                                          <p:stCondLst>
                                            <p:cond delay="0"/>
                                          </p:stCondLst>
                                        </p:cTn>
                                        <p:tgtEl>
                                          <p:spTgt spid="32"/>
                                        </p:tgtEl>
                                        <p:attrNameLst>
                                          <p:attrName>style.visibility</p:attrName>
                                        </p:attrNameLst>
                                      </p:cBhvr>
                                      <p:to>
                                        <p:strVal val="visible"/>
                                      </p:to>
                                    </p:set>
                                    <p:animEffect filter="fade" transition="in">
                                      <p:cBhvr>
                                        <p:cTn dur="400"/>
                                        <p:tgtEl>
                                          <p:spTgt spid="32"/>
                                        </p:tgtEl>
                                      </p:cBhvr>
                                    </p:animEffect>
                                  </p:childTnLst>
                                </p:cTn>
                              </p:par>
                              <p:par>
                                <p:cTn fill="hold" nodeType="withEffect" presetClass="entr" presetID="10" presetSubtype="0">
                                  <p:stCondLst>
                                    <p:cond delay="300"/>
                                  </p:stCondLst>
                                  <p:childTnLst>
                                    <p:set>
                                      <p:cBhvr>
                                        <p:cTn dur="1" fill="hold">
                                          <p:stCondLst>
                                            <p:cond delay="0"/>
                                          </p:stCondLst>
                                        </p:cTn>
                                        <p:tgtEl>
                                          <p:spTgt spid="33"/>
                                        </p:tgtEl>
                                        <p:attrNameLst>
                                          <p:attrName>style.visibility</p:attrName>
                                        </p:attrNameLst>
                                      </p:cBhvr>
                                      <p:to>
                                        <p:strVal val="visible"/>
                                      </p:to>
                                    </p:set>
                                    <p:animEffect filter="fade" transition="in">
                                      <p:cBhvr>
                                        <p:cTn dur="400"/>
                                        <p:tgtEl>
                                          <p:spTgt spid="33"/>
                                        </p:tgtEl>
                                      </p:cBhvr>
                                    </p:animEffect>
                                  </p:childTnLst>
                                </p:cTn>
                              </p:par>
                              <p:par>
                                <p:cTn fill="hold" nodeType="withEffect" presetClass="entr" presetID="10" presetSubtype="0">
                                  <p:stCondLst>
                                    <p:cond delay="450"/>
                                  </p:stCondLst>
                                  <p:childTnLst>
                                    <p:set>
                                      <p:cBhvr>
                                        <p:cTn dur="1" fill="hold">
                                          <p:stCondLst>
                                            <p:cond delay="0"/>
                                          </p:stCondLst>
                                        </p:cTn>
                                        <p:tgtEl>
                                          <p:spTgt spid="34"/>
                                        </p:tgtEl>
                                        <p:attrNameLst>
                                          <p:attrName>style.visibility</p:attrName>
                                        </p:attrNameLst>
                                      </p:cBhvr>
                                      <p:to>
                                        <p:strVal val="visible"/>
                                      </p:to>
                                    </p:set>
                                    <p:animEffect filter="fade" transition="in">
                                      <p:cBhvr>
                                        <p:cTn dur="400"/>
                                        <p:tgtEl>
                                          <p:spTgt spid="34"/>
                                        </p:tgtEl>
                                      </p:cBhvr>
                                    </p:animEffect>
                                  </p:childTnLst>
                                </p:cTn>
                              </p:par>
                              <p:par>
                                <p:cTn fill="hold" nodeType="withEffect" presetClass="entr" presetID="10" presetSubtype="0">
                                  <p:stCondLst>
                                    <p:cond delay="600"/>
                                  </p:stCondLst>
                                  <p:childTnLst>
                                    <p:set>
                                      <p:cBhvr>
                                        <p:cTn dur="1" fill="hold">
                                          <p:stCondLst>
                                            <p:cond delay="0"/>
                                          </p:stCondLst>
                                        </p:cTn>
                                        <p:tgtEl>
                                          <p:spTgt spid="35"/>
                                        </p:tgtEl>
                                        <p:attrNameLst>
                                          <p:attrName>style.visibility</p:attrName>
                                        </p:attrNameLst>
                                      </p:cBhvr>
                                      <p:to>
                                        <p:strVal val="visible"/>
                                      </p:to>
                                    </p:set>
                                    <p:animEffect filter="fade" transition="in">
                                      <p:cBhvr>
                                        <p:cTn dur="400"/>
                                        <p:tgtEl>
                                          <p:spTgt spid="35"/>
                                        </p:tgtEl>
                                      </p:cBhvr>
                                    </p:animEffect>
                                  </p:childTnLst>
                                </p:cTn>
                              </p:par>
                              <p:par>
                                <p:cTn fill="hold" nodeType="withEffect" presetClass="entr" presetID="10" presetSubtype="0">
                                  <p:stCondLst>
                                    <p:cond delay="750"/>
                                  </p:stCondLst>
                                  <p:childTnLst>
                                    <p:set>
                                      <p:cBhvr>
                                        <p:cTn dur="1" fill="hold">
                                          <p:stCondLst>
                                            <p:cond delay="0"/>
                                          </p:stCondLst>
                                        </p:cTn>
                                        <p:tgtEl>
                                          <p:spTgt spid="36"/>
                                        </p:tgtEl>
                                        <p:attrNameLst>
                                          <p:attrName>style.visibility</p:attrName>
                                        </p:attrNameLst>
                                      </p:cBhvr>
                                      <p:to>
                                        <p:strVal val="visible"/>
                                      </p:to>
                                    </p:set>
                                    <p:animEffect filter="fade" transition="in">
                                      <p:cBhvr>
                                        <p:cTn dur="400"/>
                                        <p:tgtEl>
                                          <p:spTgt spid="36"/>
                                        </p:tgtEl>
                                      </p:cBhvr>
                                    </p:animEffect>
                                  </p:childTnLst>
                                </p:cTn>
                              </p:par>
                              <p:par>
                                <p:cTn fill="hold" nodeType="withEffect" presetClass="entr" presetID="10" presetSubtype="0">
                                  <p:stCondLst>
                                    <p:cond delay="900"/>
                                  </p:stCondLst>
                                  <p:childTnLst>
                                    <p:set>
                                      <p:cBhvr>
                                        <p:cTn dur="1" fill="hold">
                                          <p:stCondLst>
                                            <p:cond delay="0"/>
                                          </p:stCondLst>
                                        </p:cTn>
                                        <p:tgtEl>
                                          <p:spTgt spid="37"/>
                                        </p:tgtEl>
                                        <p:attrNameLst>
                                          <p:attrName>style.visibility</p:attrName>
                                        </p:attrNameLst>
                                      </p:cBhvr>
                                      <p:to>
                                        <p:strVal val="visible"/>
                                      </p:to>
                                    </p:set>
                                    <p:animEffect filter="fade" transition="in">
                                      <p:cBhvr>
                                        <p:cTn dur="400"/>
                                        <p:tgtEl>
                                          <p:spTgt spid="37"/>
                                        </p:tgtEl>
                                      </p:cBhvr>
                                    </p:animEffect>
                                  </p:childTnLst>
                                </p:cTn>
                              </p:par>
                              <p:par>
                                <p:cTn fill="hold" nodeType="withEffect" presetClass="entr" presetID="10" presetSubtype="0">
                                  <p:stCondLst>
                                    <p:cond delay="1400"/>
                                  </p:stCondLst>
                                  <p:childTnLst>
                                    <p:set>
                                      <p:cBhvr>
                                        <p:cTn dur="1" fill="hold">
                                          <p:stCondLst>
                                            <p:cond delay="0"/>
                                          </p:stCondLst>
                                        </p:cTn>
                                        <p:tgtEl>
                                          <p:spTgt spid="27"/>
                                        </p:tgtEl>
                                        <p:attrNameLst>
                                          <p:attrName>style.visibility</p:attrName>
                                        </p:attrNameLst>
                                      </p:cBhvr>
                                      <p:to>
                                        <p:strVal val="visible"/>
                                      </p:to>
                                    </p:set>
                                    <p:animEffect filter="fade" transition="in">
                                      <p:cBhvr>
                                        <p:cTn dur="450"/>
                                        <p:tgtEl>
                                          <p:spTgt spid="27"/>
                                        </p:tgtEl>
                                      </p:cBhvr>
                                    </p:animEffect>
                                  </p:childTnLst>
                                </p:cTn>
                              </p:par>
                              <p:par>
                                <p:cTn fill="hold" nodeType="withEffect" presetClass="entr" presetID="10" presetSubtype="0">
                                  <p:stCondLst>
                                    <p:cond delay="1580"/>
                                  </p:stCondLst>
                                  <p:childTnLst>
                                    <p:set>
                                      <p:cBhvr>
                                        <p:cTn dur="1" fill="hold">
                                          <p:stCondLst>
                                            <p:cond delay="0"/>
                                          </p:stCondLst>
                                        </p:cTn>
                                        <p:tgtEl>
                                          <p:spTgt spid="28"/>
                                        </p:tgtEl>
                                        <p:attrNameLst>
                                          <p:attrName>style.visibility</p:attrName>
                                        </p:attrNameLst>
                                      </p:cBhvr>
                                      <p:to>
                                        <p:strVal val="visible"/>
                                      </p:to>
                                    </p:set>
                                    <p:animEffect filter="fade" transition="in">
                                      <p:cBhvr>
                                        <p:cTn dur="450"/>
                                        <p:tgtEl>
                                          <p:spTgt spid="28"/>
                                        </p:tgtEl>
                                      </p:cBhvr>
                                    </p:animEffect>
                                  </p:childTnLst>
                                </p:cTn>
                              </p:par>
                              <p:par>
                                <p:cTn fill="hold" nodeType="withEffect" presetClass="entr" presetID="10" presetSubtype="0">
                                  <p:stCondLst>
                                    <p:cond delay="1760"/>
                                  </p:stCondLst>
                                  <p:childTnLst>
                                    <p:set>
                                      <p:cBhvr>
                                        <p:cTn dur="1" fill="hold">
                                          <p:stCondLst>
                                            <p:cond delay="0"/>
                                          </p:stCondLst>
                                        </p:cTn>
                                        <p:tgtEl>
                                          <p:spTgt spid="29"/>
                                        </p:tgtEl>
                                        <p:attrNameLst>
                                          <p:attrName>style.visibility</p:attrName>
                                        </p:attrNameLst>
                                      </p:cBhvr>
                                      <p:to>
                                        <p:strVal val="visible"/>
                                      </p:to>
                                    </p:set>
                                    <p:animEffect filter="fade" transition="in">
                                      <p:cBhvr>
                                        <p:cTn dur="450"/>
                                        <p:tgtEl>
                                          <p:spTgt spid="29"/>
                                        </p:tgtEl>
                                      </p:cBhvr>
                                    </p:animEffect>
                                  </p:childTnLst>
                                </p:cTn>
                              </p:par>
                              <p:par>
                                <p:cTn fill="hold" nodeType="withEffect" presetClass="entr" presetID="10" presetSubtype="0">
                                  <p:stCondLst>
                                    <p:cond delay="1940"/>
                                  </p:stCondLst>
                                  <p:childTnLst>
                                    <p:set>
                                      <p:cBhvr>
                                        <p:cTn dur="1" fill="hold">
                                          <p:stCondLst>
                                            <p:cond delay="0"/>
                                          </p:stCondLst>
                                        </p:cTn>
                                        <p:tgtEl>
                                          <p:spTgt spid="30"/>
                                        </p:tgtEl>
                                        <p:attrNameLst>
                                          <p:attrName>style.visibility</p:attrName>
                                        </p:attrNameLst>
                                      </p:cBhvr>
                                      <p:to>
                                        <p:strVal val="visible"/>
                                      </p:to>
                                    </p:set>
                                    <p:animEffect filter="fade" transition="in">
                                      <p:cBhvr>
                                        <p:cTn dur="450"/>
                                        <p:tgtEl>
                                          <p:spTgt spid="30"/>
                                        </p:tgtEl>
                                      </p:cBhvr>
                                    </p:animEffect>
                                  </p:childTnLst>
                                </p:cTn>
                              </p:par>
                              <p:par>
                                <p:cTn fill="hold" nodeType="withEffect" presetClass="entr" presetID="10" presetSubtype="0">
                                  <p:stCondLst>
                                    <p:cond delay="2120"/>
                                  </p:stCondLst>
                                  <p:childTnLst>
                                    <p:set>
                                      <p:cBhvr>
                                        <p:cTn dur="1" fill="hold">
                                          <p:stCondLst>
                                            <p:cond delay="0"/>
                                          </p:stCondLst>
                                        </p:cTn>
                                        <p:tgtEl>
                                          <p:spTgt spid="31"/>
                                        </p:tgtEl>
                                        <p:attrNameLst>
                                          <p:attrName>style.visibility</p:attrName>
                                        </p:attrNameLst>
                                      </p:cBhvr>
                                      <p:to>
                                        <p:strVal val="visible"/>
                                      </p:to>
                                    </p:set>
                                    <p:animEffect filter="fade" transition="in">
                                      <p:cBhvr>
                                        <p:cTn dur="450"/>
                                        <p:tgtEl>
                                          <p:spTgt spid="31"/>
                                        </p:tgtEl>
                                      </p:cBhvr>
                                    </p:animEffect>
                                  </p:childTnLst>
                                </p:cTn>
                              </p:par>
                              <p:par>
                                <p:cTn fill="hold" nodeType="withEffect" presetClass="entr" presetID="10" presetSubtype="0">
                                  <p:stCondLst>
                                    <p:cond delay="1500"/>
                                  </p:stCondLst>
                                  <p:childTnLst>
                                    <p:set>
                                      <p:cBhvr>
                                        <p:cTn dur="1" fill="hold">
                                          <p:stCondLst>
                                            <p:cond delay="0"/>
                                          </p:stCondLst>
                                        </p:cTn>
                                        <p:tgtEl>
                                          <p:spTgt spid="42"/>
                                        </p:tgtEl>
                                        <p:attrNameLst>
                                          <p:attrName>style.visibility</p:attrName>
                                        </p:attrNameLst>
                                      </p:cBhvr>
                                      <p:to>
                                        <p:strVal val="visible"/>
                                      </p:to>
                                    </p:set>
                                    <p:animEffect filter="fade" transition="in">
                                      <p:cBhvr>
                                        <p:cTn dur="400"/>
                                        <p:tgtEl>
                                          <p:spTgt spid="42"/>
                                        </p:tgtEl>
                                      </p:cBhvr>
                                    </p:animEffect>
                                  </p:childTnLst>
                                </p:cTn>
                              </p:par>
                              <p:par>
                                <p:cTn fill="hold" nodeType="withEffect" presetClass="entr" presetID="10" presetSubtype="0">
                                  <p:stCondLst>
                                    <p:cond delay="1680"/>
                                  </p:stCondLst>
                                  <p:childTnLst>
                                    <p:set>
                                      <p:cBhvr>
                                        <p:cTn dur="1" fill="hold">
                                          <p:stCondLst>
                                            <p:cond delay="0"/>
                                          </p:stCondLst>
                                        </p:cTn>
                                        <p:tgtEl>
                                          <p:spTgt spid="43"/>
                                        </p:tgtEl>
                                        <p:attrNameLst>
                                          <p:attrName>style.visibility</p:attrName>
                                        </p:attrNameLst>
                                      </p:cBhvr>
                                      <p:to>
                                        <p:strVal val="visible"/>
                                      </p:to>
                                    </p:set>
                                    <p:animEffect filter="fade" transition="in">
                                      <p:cBhvr>
                                        <p:cTn dur="400"/>
                                        <p:tgtEl>
                                          <p:spTgt spid="43"/>
                                        </p:tgtEl>
                                      </p:cBhvr>
                                    </p:animEffect>
                                  </p:childTnLst>
                                </p:cTn>
                              </p:par>
                              <p:par>
                                <p:cTn fill="hold" nodeType="withEffect" presetClass="entr" presetID="10" presetSubtype="0">
                                  <p:stCondLst>
                                    <p:cond delay="1860"/>
                                  </p:stCondLst>
                                  <p:childTnLst>
                                    <p:set>
                                      <p:cBhvr>
                                        <p:cTn dur="1" fill="hold">
                                          <p:stCondLst>
                                            <p:cond delay="0"/>
                                          </p:stCondLst>
                                        </p:cTn>
                                        <p:tgtEl>
                                          <p:spTgt spid="44"/>
                                        </p:tgtEl>
                                        <p:attrNameLst>
                                          <p:attrName>style.visibility</p:attrName>
                                        </p:attrNameLst>
                                      </p:cBhvr>
                                      <p:to>
                                        <p:strVal val="visible"/>
                                      </p:to>
                                    </p:set>
                                    <p:animEffect filter="fade" transition="in">
                                      <p:cBhvr>
                                        <p:cTn dur="400"/>
                                        <p:tgtEl>
                                          <p:spTgt spid="44"/>
                                        </p:tgtEl>
                                      </p:cBhvr>
                                    </p:animEffect>
                                  </p:childTnLst>
                                </p:cTn>
                              </p:par>
                              <p:par>
                                <p:cTn fill="hold" nodeType="withEffect" presetClass="entr" presetID="10" presetSubtype="0">
                                  <p:stCondLst>
                                    <p:cond delay="2040"/>
                                  </p:stCondLst>
                                  <p:childTnLst>
                                    <p:set>
                                      <p:cBhvr>
                                        <p:cTn dur="1" fill="hold">
                                          <p:stCondLst>
                                            <p:cond delay="0"/>
                                          </p:stCondLst>
                                        </p:cTn>
                                        <p:tgtEl>
                                          <p:spTgt spid="45"/>
                                        </p:tgtEl>
                                        <p:attrNameLst>
                                          <p:attrName>style.visibility</p:attrName>
                                        </p:attrNameLst>
                                      </p:cBhvr>
                                      <p:to>
                                        <p:strVal val="visible"/>
                                      </p:to>
                                    </p:set>
                                    <p:animEffect filter="fade" transition="in">
                                      <p:cBhvr>
                                        <p:cTn dur="400"/>
                                        <p:tgtEl>
                                          <p:spTgt spid="45"/>
                                        </p:tgtEl>
                                      </p:cBhvr>
                                    </p:animEffect>
                                  </p:childTnLst>
                                </p:cTn>
                              </p:par>
                              <p:par>
                                <p:cTn fill="hold" nodeType="withEffect" presetClass="entr" presetID="10" presetSubtype="0">
                                  <p:stCondLst>
                                    <p:cond delay="2300"/>
                                  </p:stCondLst>
                                  <p:childTnLst>
                                    <p:set>
                                      <p:cBhvr>
                                        <p:cTn dur="1" fill="hold">
                                          <p:stCondLst>
                                            <p:cond delay="0"/>
                                          </p:stCondLst>
                                        </p:cTn>
                                        <p:tgtEl>
                                          <p:spTgt spid="38"/>
                                        </p:tgtEl>
                                        <p:attrNameLst>
                                          <p:attrName>style.visibility</p:attrName>
                                        </p:attrNameLst>
                                      </p:cBhvr>
                                      <p:to>
                                        <p:strVal val="visible"/>
                                      </p:to>
                                    </p:set>
                                    <p:animEffect filter="fade" transition="in">
                                      <p:cBhvr>
                                        <p:cTn dur="500"/>
                                        <p:tgtEl>
                                          <p:spTgt spid="38"/>
                                        </p:tgtEl>
                                      </p:cBhvr>
                                    </p:animEffect>
                                  </p:childTnLst>
                                </p:cTn>
                              </p:par>
                              <p:par>
                                <p:cTn fill="hold" nodeType="withEffect" presetClass="entr" presetID="10" presetSubtype="0">
                                  <p:stCondLst>
                                    <p:cond delay="2420"/>
                                  </p:stCondLst>
                                  <p:childTnLst>
                                    <p:set>
                                      <p:cBhvr>
                                        <p:cTn dur="1" fill="hold">
                                          <p:stCondLst>
                                            <p:cond delay="0"/>
                                          </p:stCondLst>
                                        </p:cTn>
                                        <p:tgtEl>
                                          <p:spTgt spid="39"/>
                                        </p:tgtEl>
                                        <p:attrNameLst>
                                          <p:attrName>style.visibility</p:attrName>
                                        </p:attrNameLst>
                                      </p:cBhvr>
                                      <p:to>
                                        <p:strVal val="visible"/>
                                      </p:to>
                                    </p:set>
                                    <p:animEffect filter="fade" transition="in">
                                      <p:cBhvr>
                                        <p:cTn dur="500"/>
                                        <p:tgtEl>
                                          <p:spTgt spid="39"/>
                                        </p:tgtEl>
                                      </p:cBhvr>
                                    </p:animEffect>
                                  </p:childTnLst>
                                </p:cTn>
                              </p:par>
                              <p:par>
                                <p:cTn fill="hold" nodeType="withEffect" presetClass="entr" presetID="10" presetSubtype="0">
                                  <p:stCondLst>
                                    <p:cond delay="2540"/>
                                  </p:stCondLst>
                                  <p:childTnLst>
                                    <p:set>
                                      <p:cBhvr>
                                        <p:cTn dur="1" fill="hold">
                                          <p:stCondLst>
                                            <p:cond delay="0"/>
                                          </p:stCondLst>
                                        </p:cTn>
                                        <p:tgtEl>
                                          <p:spTgt spid="40"/>
                                        </p:tgtEl>
                                        <p:attrNameLst>
                                          <p:attrName>style.visibility</p:attrName>
                                        </p:attrNameLst>
                                      </p:cBhvr>
                                      <p:to>
                                        <p:strVal val="visible"/>
                                      </p:to>
                                    </p:set>
                                    <p:animEffect filter="fade" transition="in">
                                      <p:cBhvr>
                                        <p:cTn dur="500"/>
                                        <p:tgtEl>
                                          <p:spTgt spid="40"/>
                                        </p:tgtEl>
                                      </p:cBhvr>
                                    </p:animEffect>
                                  </p:childTnLst>
                                </p:cTn>
                              </p:par>
                              <p:par>
                                <p:cTn fill="hold" nodeType="withEffect" presetClass="entr" presetID="10" presetSubtype="0">
                                  <p:stCondLst>
                                    <p:cond delay="2660"/>
                                  </p:stCondLst>
                                  <p:childTnLst>
                                    <p:set>
                                      <p:cBhvr>
                                        <p:cTn dur="1" fill="hold">
                                          <p:stCondLst>
                                            <p:cond delay="0"/>
                                          </p:stCondLst>
                                        </p:cTn>
                                        <p:tgtEl>
                                          <p:spTgt spid="41"/>
                                        </p:tgtEl>
                                        <p:attrNameLst>
                                          <p:attrName>style.visibility</p:attrName>
                                        </p:attrNameLst>
                                      </p:cBhvr>
                                      <p:to>
                                        <p:strVal val="visible"/>
                                      </p:to>
                                    </p:set>
                                    <p:animEffect filter="fade" transition="in">
                                      <p:cBhvr>
                                        <p:cTn dur="500"/>
                                        <p:tgtEl>
                                          <p:spTgt spid="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57" name="Shape 57"/>
        <p:cNvGrpSpPr/>
        <p:nvPr/>
      </p:nvGrpSpPr>
      <p:grpSpPr>
        <a:xfrm>
          <a:off x="0" y="0"/>
          <a:ext cx="0" cy="0"/>
          <a:chOff x="0" y="0"/>
          <a:chExt cx="0" cy="0"/>
        </a:xfrm>
      </p:grpSpPr>
      <p:sp>
        <p:nvSpPr>
          <p:cNvPr id="58" name="Google Shape;58;p4"/>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OUR TEAM</a:t>
            </a:r>
            <a:endParaRPr b="0" i="0" sz="1200" u="none" cap="none" strike="noStrike">
              <a:solidFill>
                <a:schemeClr val="dk1"/>
              </a:solidFill>
              <a:latin typeface="Calibri"/>
              <a:ea typeface="Calibri"/>
              <a:cs typeface="Calibri"/>
              <a:sym typeface="Calibri"/>
            </a:endParaRPr>
          </a:p>
        </p:txBody>
      </p:sp>
      <p:sp>
        <p:nvSpPr>
          <p:cNvPr id="59" name="Google Shape;59;p4"/>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Who presents what</a:t>
            </a:r>
            <a:endParaRPr b="0" i="0" sz="3200" u="none" cap="none" strike="noStrike">
              <a:solidFill>
                <a:schemeClr val="dk1"/>
              </a:solidFill>
              <a:latin typeface="Calibri"/>
              <a:ea typeface="Calibri"/>
              <a:cs typeface="Calibri"/>
              <a:sym typeface="Calibri"/>
            </a:endParaRPr>
          </a:p>
        </p:txBody>
      </p:sp>
      <p:sp>
        <p:nvSpPr>
          <p:cNvPr id="60" name="Google Shape;60;p4"/>
          <p:cNvSpPr/>
          <p:nvPr/>
        </p:nvSpPr>
        <p:spPr>
          <a:xfrm>
            <a:off x="612648" y="1783080"/>
            <a:ext cx="2606040" cy="4114800"/>
          </a:xfrm>
          <a:prstGeom prst="roundRect">
            <a:avLst>
              <a:gd fmla="val 4211"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a:off x="886968" y="2057400"/>
            <a:ext cx="685800" cy="685800"/>
          </a:xfrm>
          <a:prstGeom prst="ellipse">
            <a:avLst/>
          </a:prstGeom>
          <a:solidFill>
            <a:srgbClr val="3B6FD4"/>
          </a:solidFill>
          <a:ln cap="flat" cmpd="sng" w="12700">
            <a:solidFill>
              <a:srgbClr val="3B6F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txBox="1"/>
          <p:nvPr/>
        </p:nvSpPr>
        <p:spPr>
          <a:xfrm>
            <a:off x="886968" y="2057400"/>
            <a:ext cx="685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F3EE"/>
              </a:buClr>
              <a:buSzPts val="1800"/>
              <a:buFont typeface="Arial"/>
              <a:buNone/>
            </a:pPr>
            <a:r>
              <a:rPr b="1" i="0" lang="en-US" sz="1800" u="none" cap="none" strike="noStrike">
                <a:solidFill>
                  <a:srgbClr val="F5F3EE"/>
                </a:solidFill>
                <a:latin typeface="Arial"/>
                <a:ea typeface="Arial"/>
                <a:cs typeface="Arial"/>
                <a:sym typeface="Arial"/>
              </a:rPr>
              <a:t>AA</a:t>
            </a:r>
            <a:endParaRPr b="0" i="0" sz="1800" u="none" cap="none" strike="noStrike">
              <a:solidFill>
                <a:schemeClr val="dk1"/>
              </a:solidFill>
              <a:latin typeface="Calibri"/>
              <a:ea typeface="Calibri"/>
              <a:cs typeface="Calibri"/>
              <a:sym typeface="Calibri"/>
            </a:endParaRPr>
          </a:p>
        </p:txBody>
      </p:sp>
      <p:sp>
        <p:nvSpPr>
          <p:cNvPr id="63" name="Google Shape;63;p4"/>
          <p:cNvSpPr txBox="1"/>
          <p:nvPr/>
        </p:nvSpPr>
        <p:spPr>
          <a:xfrm>
            <a:off x="886968" y="2926080"/>
            <a:ext cx="21488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Alia AlGhamdi</a:t>
            </a:r>
            <a:endParaRPr b="0" i="0" sz="1800" u="none" cap="none" strike="noStrike">
              <a:solidFill>
                <a:schemeClr val="dk1"/>
              </a:solidFill>
              <a:latin typeface="Calibri"/>
              <a:ea typeface="Calibri"/>
              <a:cs typeface="Calibri"/>
              <a:sym typeface="Calibri"/>
            </a:endParaRPr>
          </a:p>
        </p:txBody>
      </p:sp>
      <p:sp>
        <p:nvSpPr>
          <p:cNvPr id="64" name="Google Shape;64;p4"/>
          <p:cNvSpPr txBox="1"/>
          <p:nvPr/>
        </p:nvSpPr>
        <p:spPr>
          <a:xfrm>
            <a:off x="886968" y="3355848"/>
            <a:ext cx="21488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1100"/>
              <a:buFont typeface="Arial"/>
              <a:buNone/>
            </a:pPr>
            <a:r>
              <a:rPr b="1" i="0" lang="en-US" sz="1100" u="none" cap="none" strike="noStrike">
                <a:solidFill>
                  <a:srgbClr val="B04A16"/>
                </a:solidFill>
                <a:latin typeface="Arial"/>
                <a:ea typeface="Arial"/>
                <a:cs typeface="Arial"/>
                <a:sym typeface="Arial"/>
              </a:rPr>
              <a:t>OPENING</a:t>
            </a:r>
            <a:endParaRPr b="0" i="0" sz="1100" u="none" cap="none" strike="noStrike">
              <a:solidFill>
                <a:schemeClr val="dk1"/>
              </a:solidFill>
              <a:latin typeface="Calibri"/>
              <a:ea typeface="Calibri"/>
              <a:cs typeface="Calibri"/>
              <a:sym typeface="Calibri"/>
            </a:endParaRPr>
          </a:p>
        </p:txBody>
      </p:sp>
      <p:sp>
        <p:nvSpPr>
          <p:cNvPr id="65" name="Google Shape;65;p4"/>
          <p:cNvSpPr txBox="1"/>
          <p:nvPr/>
        </p:nvSpPr>
        <p:spPr>
          <a:xfrm>
            <a:off x="886968" y="3886200"/>
            <a:ext cx="2148840"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Problem, data and what the EDA showed</a:t>
            </a:r>
            <a:endParaRPr b="0" i="0" sz="1400" u="none" cap="none" strike="noStrike">
              <a:solidFill>
                <a:schemeClr val="dk1"/>
              </a:solidFill>
              <a:latin typeface="Calibri"/>
              <a:ea typeface="Calibri"/>
              <a:cs typeface="Calibri"/>
              <a:sym typeface="Calibri"/>
            </a:endParaRPr>
          </a:p>
        </p:txBody>
      </p:sp>
      <p:sp>
        <p:nvSpPr>
          <p:cNvPr id="66" name="Google Shape;66;p4"/>
          <p:cNvSpPr txBox="1"/>
          <p:nvPr/>
        </p:nvSpPr>
        <p:spPr>
          <a:xfrm>
            <a:off x="886968" y="5303520"/>
            <a:ext cx="21488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6778"/>
              </a:buClr>
              <a:buSzPts val="1200"/>
              <a:buFont typeface="Arial"/>
              <a:buNone/>
            </a:pPr>
            <a:r>
              <a:rPr b="1" i="0" lang="en-US" sz="1200" u="none" cap="none" strike="noStrike">
                <a:solidFill>
                  <a:srgbClr val="5E6778"/>
                </a:solidFill>
                <a:latin typeface="Arial"/>
                <a:ea typeface="Arial"/>
                <a:cs typeface="Arial"/>
                <a:sym typeface="Arial"/>
              </a:rPr>
              <a:t>Slides 1–5</a:t>
            </a:r>
            <a:endParaRPr b="0" i="0" sz="1200" u="none" cap="none" strike="noStrike">
              <a:solidFill>
                <a:schemeClr val="dk1"/>
              </a:solidFill>
              <a:latin typeface="Calibri"/>
              <a:ea typeface="Calibri"/>
              <a:cs typeface="Calibri"/>
              <a:sym typeface="Calibri"/>
            </a:endParaRPr>
          </a:p>
        </p:txBody>
      </p:sp>
      <p:sp>
        <p:nvSpPr>
          <p:cNvPr id="67" name="Google Shape;67;p4"/>
          <p:cNvSpPr/>
          <p:nvPr/>
        </p:nvSpPr>
        <p:spPr>
          <a:xfrm>
            <a:off x="3401568" y="1783080"/>
            <a:ext cx="2606040" cy="4114800"/>
          </a:xfrm>
          <a:prstGeom prst="roundRect">
            <a:avLst>
              <a:gd fmla="val 4211"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3675888" y="2057400"/>
            <a:ext cx="685800" cy="685800"/>
          </a:xfrm>
          <a:prstGeom prst="ellipse">
            <a:avLst/>
          </a:prstGeom>
          <a:solidFill>
            <a:srgbClr val="3B6FD4"/>
          </a:solidFill>
          <a:ln cap="flat" cmpd="sng" w="12700">
            <a:solidFill>
              <a:srgbClr val="3B6F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txBox="1"/>
          <p:nvPr/>
        </p:nvSpPr>
        <p:spPr>
          <a:xfrm>
            <a:off x="3675888" y="2057400"/>
            <a:ext cx="685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F3EE"/>
              </a:buClr>
              <a:buSzPts val="1800"/>
              <a:buFont typeface="Arial"/>
              <a:buNone/>
            </a:pPr>
            <a:r>
              <a:rPr b="1" i="0" lang="en-US" sz="1800" u="none" cap="none" strike="noStrike">
                <a:solidFill>
                  <a:srgbClr val="F5F3EE"/>
                </a:solidFill>
                <a:latin typeface="Arial"/>
                <a:ea typeface="Arial"/>
                <a:cs typeface="Arial"/>
                <a:sym typeface="Arial"/>
              </a:rPr>
              <a:t>RA</a:t>
            </a:r>
            <a:endParaRPr b="0" i="0" sz="1800" u="none" cap="none" strike="noStrike">
              <a:solidFill>
                <a:schemeClr val="dk1"/>
              </a:solidFill>
              <a:latin typeface="Calibri"/>
              <a:ea typeface="Calibri"/>
              <a:cs typeface="Calibri"/>
              <a:sym typeface="Calibri"/>
            </a:endParaRPr>
          </a:p>
        </p:txBody>
      </p:sp>
      <p:sp>
        <p:nvSpPr>
          <p:cNvPr id="70" name="Google Shape;70;p4"/>
          <p:cNvSpPr txBox="1"/>
          <p:nvPr/>
        </p:nvSpPr>
        <p:spPr>
          <a:xfrm>
            <a:off x="3675888" y="2926080"/>
            <a:ext cx="21488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Remas Almutairi</a:t>
            </a:r>
            <a:endParaRPr b="0" i="0" sz="1800" u="none" cap="none" strike="noStrike">
              <a:solidFill>
                <a:schemeClr val="dk1"/>
              </a:solidFill>
              <a:latin typeface="Calibri"/>
              <a:ea typeface="Calibri"/>
              <a:cs typeface="Calibri"/>
              <a:sym typeface="Calibri"/>
            </a:endParaRPr>
          </a:p>
        </p:txBody>
      </p:sp>
      <p:sp>
        <p:nvSpPr>
          <p:cNvPr id="71" name="Google Shape;71;p4"/>
          <p:cNvSpPr txBox="1"/>
          <p:nvPr/>
        </p:nvSpPr>
        <p:spPr>
          <a:xfrm>
            <a:off x="3675888" y="3355848"/>
            <a:ext cx="21488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1100"/>
              <a:buFont typeface="Arial"/>
              <a:buNone/>
            </a:pPr>
            <a:r>
              <a:rPr b="1" i="0" lang="en-US" sz="1100" u="none" cap="none" strike="noStrike">
                <a:solidFill>
                  <a:srgbClr val="B04A16"/>
                </a:solidFill>
                <a:latin typeface="Arial"/>
                <a:ea typeface="Arial"/>
                <a:cs typeface="Arial"/>
                <a:sym typeface="Arial"/>
              </a:rPr>
              <a:t>METHOD AND RESULTS CHECK</a:t>
            </a:r>
            <a:endParaRPr b="0" i="0" sz="1100" u="none" cap="none" strike="noStrike">
              <a:solidFill>
                <a:schemeClr val="dk1"/>
              </a:solidFill>
              <a:latin typeface="Calibri"/>
              <a:ea typeface="Calibri"/>
              <a:cs typeface="Calibri"/>
              <a:sym typeface="Calibri"/>
            </a:endParaRPr>
          </a:p>
        </p:txBody>
      </p:sp>
      <p:sp>
        <p:nvSpPr>
          <p:cNvPr id="72" name="Google Shape;72;p4"/>
          <p:cNvSpPr txBox="1"/>
          <p:nvPr/>
        </p:nvSpPr>
        <p:spPr>
          <a:xfrm>
            <a:off x="3675888" y="3886200"/>
            <a:ext cx="2148840"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Approach, fraud network, features · reliability, limits, conclusion</a:t>
            </a:r>
            <a:endParaRPr b="0" i="0" sz="1400" u="none" cap="none" strike="noStrike">
              <a:solidFill>
                <a:schemeClr val="dk1"/>
              </a:solidFill>
              <a:latin typeface="Calibri"/>
              <a:ea typeface="Calibri"/>
              <a:cs typeface="Calibri"/>
              <a:sym typeface="Calibri"/>
            </a:endParaRPr>
          </a:p>
        </p:txBody>
      </p:sp>
      <p:sp>
        <p:nvSpPr>
          <p:cNvPr id="73" name="Google Shape;73;p4"/>
          <p:cNvSpPr txBox="1"/>
          <p:nvPr/>
        </p:nvSpPr>
        <p:spPr>
          <a:xfrm>
            <a:off x="3675888" y="5303520"/>
            <a:ext cx="21488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6778"/>
              </a:buClr>
              <a:buSzPts val="1200"/>
              <a:buFont typeface="Arial"/>
              <a:buNone/>
            </a:pPr>
            <a:r>
              <a:rPr b="1" i="0" lang="en-US" sz="1200" u="none" cap="none" strike="noStrike">
                <a:solidFill>
                  <a:srgbClr val="5E6778"/>
                </a:solidFill>
                <a:latin typeface="Arial"/>
                <a:ea typeface="Arial"/>
                <a:cs typeface="Arial"/>
                <a:sym typeface="Arial"/>
              </a:rPr>
              <a:t>Slides 6–8, 16–18</a:t>
            </a:r>
            <a:endParaRPr b="0" i="0" sz="1200" u="none" cap="none" strike="noStrike">
              <a:solidFill>
                <a:schemeClr val="dk1"/>
              </a:solidFill>
              <a:latin typeface="Calibri"/>
              <a:ea typeface="Calibri"/>
              <a:cs typeface="Calibri"/>
              <a:sym typeface="Calibri"/>
            </a:endParaRPr>
          </a:p>
        </p:txBody>
      </p:sp>
      <p:sp>
        <p:nvSpPr>
          <p:cNvPr id="74" name="Google Shape;74;p4"/>
          <p:cNvSpPr/>
          <p:nvPr/>
        </p:nvSpPr>
        <p:spPr>
          <a:xfrm>
            <a:off x="6190488" y="1783080"/>
            <a:ext cx="2606040" cy="4114800"/>
          </a:xfrm>
          <a:prstGeom prst="roundRect">
            <a:avLst>
              <a:gd fmla="val 4211"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6464808" y="2057400"/>
            <a:ext cx="685800" cy="68580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6464808" y="2057400"/>
            <a:ext cx="685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F3EE"/>
              </a:buClr>
              <a:buSzPts val="1800"/>
              <a:buFont typeface="Arial"/>
              <a:buNone/>
            </a:pPr>
            <a:r>
              <a:rPr b="1" i="0" lang="en-US" sz="1800" u="none" cap="none" strike="noStrike">
                <a:solidFill>
                  <a:srgbClr val="F5F3EE"/>
                </a:solidFill>
                <a:latin typeface="Arial"/>
                <a:ea typeface="Arial"/>
                <a:cs typeface="Arial"/>
                <a:sym typeface="Arial"/>
              </a:rPr>
              <a:t>NA</a:t>
            </a:r>
            <a:endParaRPr b="0" i="0" sz="1800" u="none" cap="none" strike="noStrike">
              <a:solidFill>
                <a:schemeClr val="dk1"/>
              </a:solidFill>
              <a:latin typeface="Calibri"/>
              <a:ea typeface="Calibri"/>
              <a:cs typeface="Calibri"/>
              <a:sym typeface="Calibri"/>
            </a:endParaRPr>
          </a:p>
        </p:txBody>
      </p:sp>
      <p:sp>
        <p:nvSpPr>
          <p:cNvPr id="77" name="Google Shape;77;p4"/>
          <p:cNvSpPr txBox="1"/>
          <p:nvPr/>
        </p:nvSpPr>
        <p:spPr>
          <a:xfrm>
            <a:off x="6464808" y="2926080"/>
            <a:ext cx="21488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Nada Aljaafari</a:t>
            </a:r>
            <a:endParaRPr b="0" i="0" sz="1800" u="none" cap="none" strike="noStrike">
              <a:solidFill>
                <a:schemeClr val="dk1"/>
              </a:solidFill>
              <a:latin typeface="Calibri"/>
              <a:ea typeface="Calibri"/>
              <a:cs typeface="Calibri"/>
              <a:sym typeface="Calibri"/>
            </a:endParaRPr>
          </a:p>
        </p:txBody>
      </p:sp>
      <p:sp>
        <p:nvSpPr>
          <p:cNvPr id="78" name="Google Shape;78;p4"/>
          <p:cNvSpPr txBox="1"/>
          <p:nvPr/>
        </p:nvSpPr>
        <p:spPr>
          <a:xfrm>
            <a:off x="6464808" y="3355848"/>
            <a:ext cx="21488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1100"/>
              <a:buFont typeface="Arial"/>
              <a:buNone/>
            </a:pPr>
            <a:r>
              <a:rPr b="1" i="0" lang="en-US" sz="1100" u="none" cap="none" strike="noStrike">
                <a:solidFill>
                  <a:srgbClr val="B04A16"/>
                </a:solidFill>
                <a:latin typeface="Arial"/>
                <a:ea typeface="Arial"/>
                <a:cs typeface="Arial"/>
                <a:sym typeface="Arial"/>
              </a:rPr>
              <a:t>MODELS</a:t>
            </a:r>
            <a:endParaRPr b="0" i="0" sz="1100" u="none" cap="none" strike="noStrike">
              <a:solidFill>
                <a:schemeClr val="dk1"/>
              </a:solidFill>
              <a:latin typeface="Calibri"/>
              <a:ea typeface="Calibri"/>
              <a:cs typeface="Calibri"/>
              <a:sym typeface="Calibri"/>
            </a:endParaRPr>
          </a:p>
        </p:txBody>
      </p:sp>
      <p:sp>
        <p:nvSpPr>
          <p:cNvPr id="79" name="Google Shape;79;p4"/>
          <p:cNvSpPr txBox="1"/>
          <p:nvPr/>
        </p:nvSpPr>
        <p:spPr>
          <a:xfrm>
            <a:off x="6464808" y="3886200"/>
            <a:ext cx="2148840"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XGBoost vs ANN, final model, threshold, SHAP</a:t>
            </a:r>
            <a:endParaRPr b="0" i="0" sz="1400" u="none" cap="none" strike="noStrike">
              <a:solidFill>
                <a:schemeClr val="dk1"/>
              </a:solidFill>
              <a:latin typeface="Calibri"/>
              <a:ea typeface="Calibri"/>
              <a:cs typeface="Calibri"/>
              <a:sym typeface="Calibri"/>
            </a:endParaRPr>
          </a:p>
        </p:txBody>
      </p:sp>
      <p:sp>
        <p:nvSpPr>
          <p:cNvPr id="80" name="Google Shape;80;p4"/>
          <p:cNvSpPr txBox="1"/>
          <p:nvPr/>
        </p:nvSpPr>
        <p:spPr>
          <a:xfrm>
            <a:off x="6464808" y="5303520"/>
            <a:ext cx="21488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6778"/>
              </a:buClr>
              <a:buSzPts val="1200"/>
              <a:buFont typeface="Arial"/>
              <a:buNone/>
            </a:pPr>
            <a:r>
              <a:rPr b="1" i="0" lang="en-US" sz="1200" u="none" cap="none" strike="noStrike">
                <a:solidFill>
                  <a:srgbClr val="5E6778"/>
                </a:solidFill>
                <a:latin typeface="Arial"/>
                <a:ea typeface="Arial"/>
                <a:cs typeface="Arial"/>
                <a:sym typeface="Arial"/>
              </a:rPr>
              <a:t>Slides 9–13</a:t>
            </a:r>
            <a:endParaRPr b="0" i="0" sz="1200" u="none" cap="none" strike="noStrike">
              <a:solidFill>
                <a:schemeClr val="dk1"/>
              </a:solidFill>
              <a:latin typeface="Calibri"/>
              <a:ea typeface="Calibri"/>
              <a:cs typeface="Calibri"/>
              <a:sym typeface="Calibri"/>
            </a:endParaRPr>
          </a:p>
        </p:txBody>
      </p:sp>
      <p:sp>
        <p:nvSpPr>
          <p:cNvPr id="81" name="Google Shape;81;p4"/>
          <p:cNvSpPr/>
          <p:nvPr/>
        </p:nvSpPr>
        <p:spPr>
          <a:xfrm>
            <a:off x="8979408" y="1783080"/>
            <a:ext cx="2606040" cy="4114800"/>
          </a:xfrm>
          <a:prstGeom prst="roundRect">
            <a:avLst>
              <a:gd fmla="val 4211"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9253728" y="2057400"/>
            <a:ext cx="685800" cy="68580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4"/>
          <p:cNvSpPr txBox="1"/>
          <p:nvPr/>
        </p:nvSpPr>
        <p:spPr>
          <a:xfrm>
            <a:off x="9253728" y="2057400"/>
            <a:ext cx="685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F3EE"/>
              </a:buClr>
              <a:buSzPts val="1800"/>
              <a:buFont typeface="Arial"/>
              <a:buNone/>
            </a:pPr>
            <a:r>
              <a:rPr b="1" i="0" lang="en-US" sz="1800" u="none" cap="none" strike="noStrike">
                <a:solidFill>
                  <a:srgbClr val="F5F3EE"/>
                </a:solidFill>
                <a:latin typeface="Arial"/>
                <a:ea typeface="Arial"/>
                <a:cs typeface="Arial"/>
                <a:sym typeface="Arial"/>
              </a:rPr>
              <a:t>LA</a:t>
            </a:r>
            <a:endParaRPr b="0" i="0" sz="1800" u="none" cap="none" strike="noStrike">
              <a:solidFill>
                <a:schemeClr val="dk1"/>
              </a:solidFill>
              <a:latin typeface="Calibri"/>
              <a:ea typeface="Calibri"/>
              <a:cs typeface="Calibri"/>
              <a:sym typeface="Calibri"/>
            </a:endParaRPr>
          </a:p>
        </p:txBody>
      </p:sp>
      <p:sp>
        <p:nvSpPr>
          <p:cNvPr id="84" name="Google Shape;84;p4"/>
          <p:cNvSpPr txBox="1"/>
          <p:nvPr/>
        </p:nvSpPr>
        <p:spPr>
          <a:xfrm>
            <a:off x="9253728" y="2926080"/>
            <a:ext cx="21488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Lujain Alqarni</a:t>
            </a:r>
            <a:endParaRPr b="0" i="0" sz="1800" u="none" cap="none" strike="noStrike">
              <a:solidFill>
                <a:schemeClr val="dk1"/>
              </a:solidFill>
              <a:latin typeface="Calibri"/>
              <a:ea typeface="Calibri"/>
              <a:cs typeface="Calibri"/>
              <a:sym typeface="Calibri"/>
            </a:endParaRPr>
          </a:p>
        </p:txBody>
      </p:sp>
      <p:sp>
        <p:nvSpPr>
          <p:cNvPr id="85" name="Google Shape;85;p4"/>
          <p:cNvSpPr txBox="1"/>
          <p:nvPr/>
        </p:nvSpPr>
        <p:spPr>
          <a:xfrm>
            <a:off x="9253728" y="3355848"/>
            <a:ext cx="21488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1100"/>
              <a:buFont typeface="Arial"/>
              <a:buNone/>
            </a:pPr>
            <a:r>
              <a:rPr b="1" i="0" lang="en-US" sz="1100" u="none" cap="none" strike="noStrike">
                <a:solidFill>
                  <a:srgbClr val="B04A16"/>
                </a:solidFill>
                <a:latin typeface="Arial"/>
                <a:ea typeface="Arial"/>
                <a:cs typeface="Arial"/>
                <a:sym typeface="Arial"/>
              </a:rPr>
              <a:t>DASHBOARD</a:t>
            </a:r>
            <a:endParaRPr b="0" i="0" sz="1100" u="none" cap="none" strike="noStrike">
              <a:solidFill>
                <a:schemeClr val="dk1"/>
              </a:solidFill>
              <a:latin typeface="Calibri"/>
              <a:ea typeface="Calibri"/>
              <a:cs typeface="Calibri"/>
              <a:sym typeface="Calibri"/>
            </a:endParaRPr>
          </a:p>
        </p:txBody>
      </p:sp>
      <p:sp>
        <p:nvSpPr>
          <p:cNvPr id="86" name="Google Shape;86;p4"/>
          <p:cNvSpPr txBox="1"/>
          <p:nvPr/>
        </p:nvSpPr>
        <p:spPr>
          <a:xfrm>
            <a:off x="9253728" y="3886200"/>
            <a:ext cx="2148840"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MAKĀMIN walkthrough and live demo</a:t>
            </a:r>
            <a:endParaRPr b="0" i="0" sz="1400" u="none" cap="none" strike="noStrike">
              <a:solidFill>
                <a:schemeClr val="dk1"/>
              </a:solidFill>
              <a:latin typeface="Calibri"/>
              <a:ea typeface="Calibri"/>
              <a:cs typeface="Calibri"/>
              <a:sym typeface="Calibri"/>
            </a:endParaRPr>
          </a:p>
        </p:txBody>
      </p:sp>
      <p:sp>
        <p:nvSpPr>
          <p:cNvPr id="87" name="Google Shape;87;p4"/>
          <p:cNvSpPr txBox="1"/>
          <p:nvPr/>
        </p:nvSpPr>
        <p:spPr>
          <a:xfrm>
            <a:off x="9253728" y="5303520"/>
            <a:ext cx="21488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E6778"/>
              </a:buClr>
              <a:buSzPts val="1200"/>
              <a:buFont typeface="Arial"/>
              <a:buNone/>
            </a:pPr>
            <a:r>
              <a:rPr b="1" i="0" lang="en-US" sz="1200" u="none" cap="none" strike="noStrike">
                <a:solidFill>
                  <a:srgbClr val="5E6778"/>
                </a:solidFill>
                <a:latin typeface="Arial"/>
                <a:ea typeface="Arial"/>
                <a:cs typeface="Arial"/>
                <a:sym typeface="Arial"/>
              </a:rPr>
              <a:t>Slides 14–15</a:t>
            </a:r>
            <a:endParaRPr b="0" i="0" sz="1200" u="none" cap="none" strike="noStrike">
              <a:solidFill>
                <a:schemeClr val="dk1"/>
              </a:solidFill>
              <a:latin typeface="Calibri"/>
              <a:ea typeface="Calibri"/>
              <a:cs typeface="Calibri"/>
              <a:sym typeface="Calibri"/>
            </a:endParaRPr>
          </a:p>
        </p:txBody>
      </p:sp>
      <p:sp>
        <p:nvSpPr>
          <p:cNvPr id="88" name="Google Shape;88;p4"/>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Questions at the end: everyone</a:t>
            </a:r>
            <a:endParaRPr b="0" i="0" sz="1100" u="none" cap="none" strike="noStrike">
              <a:solidFill>
                <a:schemeClr val="dk1"/>
              </a:solidFill>
              <a:latin typeface="Calibri"/>
              <a:ea typeface="Calibri"/>
              <a:cs typeface="Calibri"/>
              <a:sym typeface="Calibri"/>
            </a:endParaRPr>
          </a:p>
        </p:txBody>
      </p:sp>
      <p:sp>
        <p:nvSpPr>
          <p:cNvPr id="89" name="Google Shape;89;p4"/>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2</a:t>
            </a:r>
            <a:endParaRPr b="0" i="0" sz="1100" u="none" cap="none" strike="noStrike">
              <a:solidFill>
                <a:schemeClr val="dk1"/>
              </a:solidFill>
              <a:latin typeface="Calibri"/>
              <a:ea typeface="Calibri"/>
              <a:cs typeface="Calibri"/>
              <a:sym typeface="Calibri"/>
            </a:endParaRPr>
          </a:p>
        </p:txBody>
      </p:sp>
      <p:sp>
        <p:nvSpPr>
          <p:cNvPr id="90" name="Google Shape;90;p4"/>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4"/>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4"/>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Alia AlGhamdi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
                                        </p:tgtEl>
                                        <p:attrNameLst>
                                          <p:attrName>style.visibility</p:attrName>
                                        </p:attrNameLst>
                                      </p:cBhvr>
                                      <p:to>
                                        <p:strVal val="visible"/>
                                      </p:to>
                                    </p:set>
                                    <p:animEffect filter="fade" transition="in">
                                      <p:cBhvr>
                                        <p:cTn dur="600"/>
                                        <p:tgtEl>
                                          <p:spTgt spid="60"/>
                                        </p:tgtEl>
                                      </p:cBhvr>
                                    </p:animEffect>
                                  </p:childTnLst>
                                </p:cTn>
                              </p:par>
                              <p:par>
                                <p:cTn fill="hold" nodeType="withEffect" presetClass="entr" presetID="10" presetSubtype="0">
                                  <p:stCondLst>
                                    <p:cond delay="0"/>
                                  </p:stCondLst>
                                  <p:childTnLst>
                                    <p:set>
                                      <p:cBhvr>
                                        <p:cTn dur="1" fill="hold">
                                          <p:stCondLst>
                                            <p:cond delay="0"/>
                                          </p:stCondLst>
                                        </p:cTn>
                                        <p:tgtEl>
                                          <p:spTgt spid="61"/>
                                        </p:tgtEl>
                                        <p:attrNameLst>
                                          <p:attrName>style.visibility</p:attrName>
                                        </p:attrNameLst>
                                      </p:cBhvr>
                                      <p:to>
                                        <p:strVal val="visible"/>
                                      </p:to>
                                    </p:set>
                                    <p:animEffect filter="fade" transition="in">
                                      <p:cBhvr>
                                        <p:cTn dur="600"/>
                                        <p:tgtEl>
                                          <p:spTgt spid="61"/>
                                        </p:tgtEl>
                                      </p:cBhvr>
                                    </p:animEffect>
                                  </p:childTnLst>
                                </p:cTn>
                              </p:par>
                              <p:par>
                                <p:cTn fill="hold" nodeType="withEffect" presetClass="entr" presetID="10" presetSubtype="0">
                                  <p:stCondLst>
                                    <p:cond delay="0"/>
                                  </p:stCondLst>
                                  <p:childTnLst>
                                    <p:set>
                                      <p:cBhvr>
                                        <p:cTn dur="1" fill="hold">
                                          <p:stCondLst>
                                            <p:cond delay="0"/>
                                          </p:stCondLst>
                                        </p:cTn>
                                        <p:tgtEl>
                                          <p:spTgt spid="62"/>
                                        </p:tgtEl>
                                        <p:attrNameLst>
                                          <p:attrName>style.visibility</p:attrName>
                                        </p:attrNameLst>
                                      </p:cBhvr>
                                      <p:to>
                                        <p:strVal val="visible"/>
                                      </p:to>
                                    </p:set>
                                    <p:animEffect filter="fade" transition="in">
                                      <p:cBhvr>
                                        <p:cTn dur="600"/>
                                        <p:tgtEl>
                                          <p:spTgt spid="62"/>
                                        </p:tgtEl>
                                      </p:cBhvr>
                                    </p:animEffect>
                                  </p:childTnLst>
                                </p:cTn>
                              </p:par>
                              <p:par>
                                <p:cTn fill="hold" nodeType="withEffect" presetClass="entr" presetID="10" presetSubtype="0">
                                  <p:stCondLst>
                                    <p:cond delay="0"/>
                                  </p:stCondLst>
                                  <p:childTnLst>
                                    <p:set>
                                      <p:cBhvr>
                                        <p:cTn dur="1" fill="hold">
                                          <p:stCondLst>
                                            <p:cond delay="0"/>
                                          </p:stCondLst>
                                        </p:cTn>
                                        <p:tgtEl>
                                          <p:spTgt spid="63"/>
                                        </p:tgtEl>
                                        <p:attrNameLst>
                                          <p:attrName>style.visibility</p:attrName>
                                        </p:attrNameLst>
                                      </p:cBhvr>
                                      <p:to>
                                        <p:strVal val="visible"/>
                                      </p:to>
                                    </p:set>
                                    <p:animEffect filter="fade" transition="in">
                                      <p:cBhvr>
                                        <p:cTn dur="600"/>
                                        <p:tgtEl>
                                          <p:spTgt spid="63"/>
                                        </p:tgtEl>
                                      </p:cBhvr>
                                    </p:animEffect>
                                  </p:childTnLst>
                                </p:cTn>
                              </p:par>
                              <p:par>
                                <p:cTn fill="hold" nodeType="withEffect" presetClass="entr" presetID="10" presetSubtype="0">
                                  <p:stCondLst>
                                    <p:cond delay="0"/>
                                  </p:stCondLst>
                                  <p:childTnLst>
                                    <p:set>
                                      <p:cBhvr>
                                        <p:cTn dur="1" fill="hold">
                                          <p:stCondLst>
                                            <p:cond delay="0"/>
                                          </p:stCondLst>
                                        </p:cTn>
                                        <p:tgtEl>
                                          <p:spTgt spid="64"/>
                                        </p:tgtEl>
                                        <p:attrNameLst>
                                          <p:attrName>style.visibility</p:attrName>
                                        </p:attrNameLst>
                                      </p:cBhvr>
                                      <p:to>
                                        <p:strVal val="visible"/>
                                      </p:to>
                                    </p:set>
                                    <p:animEffect filter="fade" transition="in">
                                      <p:cBhvr>
                                        <p:cTn dur="600"/>
                                        <p:tgtEl>
                                          <p:spTgt spid="64"/>
                                        </p:tgtEl>
                                      </p:cBhvr>
                                    </p:animEffect>
                                  </p:childTnLst>
                                </p:cTn>
                              </p:par>
                              <p:par>
                                <p:cTn fill="hold" nodeType="withEffect" presetClass="entr" presetID="10" presetSubtype="0">
                                  <p:stCondLst>
                                    <p:cond delay="0"/>
                                  </p:stCondLst>
                                  <p:childTnLst>
                                    <p:set>
                                      <p:cBhvr>
                                        <p:cTn dur="1" fill="hold">
                                          <p:stCondLst>
                                            <p:cond delay="0"/>
                                          </p:stCondLst>
                                        </p:cTn>
                                        <p:tgtEl>
                                          <p:spTgt spid="65"/>
                                        </p:tgtEl>
                                        <p:attrNameLst>
                                          <p:attrName>style.visibility</p:attrName>
                                        </p:attrNameLst>
                                      </p:cBhvr>
                                      <p:to>
                                        <p:strVal val="visible"/>
                                      </p:to>
                                    </p:set>
                                    <p:animEffect filter="fade" transition="in">
                                      <p:cBhvr>
                                        <p:cTn dur="600"/>
                                        <p:tgtEl>
                                          <p:spTgt spid="65"/>
                                        </p:tgtEl>
                                      </p:cBhvr>
                                    </p:animEffect>
                                  </p:childTnLst>
                                </p:cTn>
                              </p:par>
                              <p:par>
                                <p:cTn fill="hold" nodeType="withEffect" presetClass="entr" presetID="10" presetSubtype="0">
                                  <p:stCondLst>
                                    <p:cond delay="0"/>
                                  </p:stCondLst>
                                  <p:childTnLst>
                                    <p:set>
                                      <p:cBhvr>
                                        <p:cTn dur="1" fill="hold">
                                          <p:stCondLst>
                                            <p:cond delay="0"/>
                                          </p:stCondLst>
                                        </p:cTn>
                                        <p:tgtEl>
                                          <p:spTgt spid="66"/>
                                        </p:tgtEl>
                                        <p:attrNameLst>
                                          <p:attrName>style.visibility</p:attrName>
                                        </p:attrNameLst>
                                      </p:cBhvr>
                                      <p:to>
                                        <p:strVal val="visible"/>
                                      </p:to>
                                    </p:set>
                                    <p:animEffect filter="fade" transition="in">
                                      <p:cBhvr>
                                        <p:cTn dur="600"/>
                                        <p:tgtEl>
                                          <p:spTgt spid="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7"/>
                                        </p:tgtEl>
                                        <p:attrNameLst>
                                          <p:attrName>style.visibility</p:attrName>
                                        </p:attrNameLst>
                                      </p:cBhvr>
                                      <p:to>
                                        <p:strVal val="visible"/>
                                      </p:to>
                                    </p:set>
                                    <p:animEffect filter="fade" transition="in">
                                      <p:cBhvr>
                                        <p:cTn dur="600"/>
                                        <p:tgtEl>
                                          <p:spTgt spid="67"/>
                                        </p:tgtEl>
                                      </p:cBhvr>
                                    </p:animEffect>
                                  </p:childTnLst>
                                </p:cTn>
                              </p:par>
                              <p:par>
                                <p:cTn fill="hold" nodeType="withEffect" presetClass="entr" presetID="10" presetSubtype="0">
                                  <p:stCondLst>
                                    <p:cond delay="0"/>
                                  </p:stCondLst>
                                  <p:childTnLst>
                                    <p:set>
                                      <p:cBhvr>
                                        <p:cTn dur="1" fill="hold">
                                          <p:stCondLst>
                                            <p:cond delay="0"/>
                                          </p:stCondLst>
                                        </p:cTn>
                                        <p:tgtEl>
                                          <p:spTgt spid="68"/>
                                        </p:tgtEl>
                                        <p:attrNameLst>
                                          <p:attrName>style.visibility</p:attrName>
                                        </p:attrNameLst>
                                      </p:cBhvr>
                                      <p:to>
                                        <p:strVal val="visible"/>
                                      </p:to>
                                    </p:set>
                                    <p:animEffect filter="fade" transition="in">
                                      <p:cBhvr>
                                        <p:cTn dur="600"/>
                                        <p:tgtEl>
                                          <p:spTgt spid="68"/>
                                        </p:tgtEl>
                                      </p:cBhvr>
                                    </p:animEffect>
                                  </p:childTnLst>
                                </p:cTn>
                              </p:par>
                              <p:par>
                                <p:cTn fill="hold" nodeType="withEffect" presetClass="entr" presetID="10" presetSubtype="0">
                                  <p:stCondLst>
                                    <p:cond delay="0"/>
                                  </p:stCondLst>
                                  <p:childTnLst>
                                    <p:set>
                                      <p:cBhvr>
                                        <p:cTn dur="1" fill="hold">
                                          <p:stCondLst>
                                            <p:cond delay="0"/>
                                          </p:stCondLst>
                                        </p:cTn>
                                        <p:tgtEl>
                                          <p:spTgt spid="69"/>
                                        </p:tgtEl>
                                        <p:attrNameLst>
                                          <p:attrName>style.visibility</p:attrName>
                                        </p:attrNameLst>
                                      </p:cBhvr>
                                      <p:to>
                                        <p:strVal val="visible"/>
                                      </p:to>
                                    </p:set>
                                    <p:animEffect filter="fade" transition="in">
                                      <p:cBhvr>
                                        <p:cTn dur="600"/>
                                        <p:tgtEl>
                                          <p:spTgt spid="69"/>
                                        </p:tgtEl>
                                      </p:cBhvr>
                                    </p:animEffect>
                                  </p:childTnLst>
                                </p:cTn>
                              </p:par>
                              <p:par>
                                <p:cTn fill="hold" nodeType="withEffect" presetClass="entr" presetID="10" presetSubtype="0">
                                  <p:stCondLst>
                                    <p:cond delay="0"/>
                                  </p:stCondLst>
                                  <p:childTnLst>
                                    <p:set>
                                      <p:cBhvr>
                                        <p:cTn dur="1" fill="hold">
                                          <p:stCondLst>
                                            <p:cond delay="0"/>
                                          </p:stCondLst>
                                        </p:cTn>
                                        <p:tgtEl>
                                          <p:spTgt spid="70"/>
                                        </p:tgtEl>
                                        <p:attrNameLst>
                                          <p:attrName>style.visibility</p:attrName>
                                        </p:attrNameLst>
                                      </p:cBhvr>
                                      <p:to>
                                        <p:strVal val="visible"/>
                                      </p:to>
                                    </p:set>
                                    <p:animEffect filter="fade" transition="in">
                                      <p:cBhvr>
                                        <p:cTn dur="600"/>
                                        <p:tgtEl>
                                          <p:spTgt spid="70"/>
                                        </p:tgtEl>
                                      </p:cBhvr>
                                    </p:animEffect>
                                  </p:childTnLst>
                                </p:cTn>
                              </p:par>
                              <p:par>
                                <p:cTn fill="hold" nodeType="withEffect" presetClass="entr" presetID="10" presetSubtype="0">
                                  <p:stCondLst>
                                    <p:cond delay="0"/>
                                  </p:stCondLst>
                                  <p:childTnLst>
                                    <p:set>
                                      <p:cBhvr>
                                        <p:cTn dur="1" fill="hold">
                                          <p:stCondLst>
                                            <p:cond delay="0"/>
                                          </p:stCondLst>
                                        </p:cTn>
                                        <p:tgtEl>
                                          <p:spTgt spid="71"/>
                                        </p:tgtEl>
                                        <p:attrNameLst>
                                          <p:attrName>style.visibility</p:attrName>
                                        </p:attrNameLst>
                                      </p:cBhvr>
                                      <p:to>
                                        <p:strVal val="visible"/>
                                      </p:to>
                                    </p:set>
                                    <p:animEffect filter="fade" transition="in">
                                      <p:cBhvr>
                                        <p:cTn dur="600"/>
                                        <p:tgtEl>
                                          <p:spTgt spid="71"/>
                                        </p:tgtEl>
                                      </p:cBhvr>
                                    </p:animEffect>
                                  </p:childTnLst>
                                </p:cTn>
                              </p:par>
                              <p:par>
                                <p:cTn fill="hold" nodeType="withEffect" presetClass="entr" presetID="10" presetSubtype="0">
                                  <p:stCondLst>
                                    <p:cond delay="0"/>
                                  </p:stCondLst>
                                  <p:childTnLst>
                                    <p:set>
                                      <p:cBhvr>
                                        <p:cTn dur="1" fill="hold">
                                          <p:stCondLst>
                                            <p:cond delay="0"/>
                                          </p:stCondLst>
                                        </p:cTn>
                                        <p:tgtEl>
                                          <p:spTgt spid="72"/>
                                        </p:tgtEl>
                                        <p:attrNameLst>
                                          <p:attrName>style.visibility</p:attrName>
                                        </p:attrNameLst>
                                      </p:cBhvr>
                                      <p:to>
                                        <p:strVal val="visible"/>
                                      </p:to>
                                    </p:set>
                                    <p:animEffect filter="fade" transition="in">
                                      <p:cBhvr>
                                        <p:cTn dur="600"/>
                                        <p:tgtEl>
                                          <p:spTgt spid="72"/>
                                        </p:tgtEl>
                                      </p:cBhvr>
                                    </p:animEffect>
                                  </p:childTnLst>
                                </p:cTn>
                              </p:par>
                              <p:par>
                                <p:cTn fill="hold" nodeType="withEffect" presetClass="entr" presetID="10" presetSubtype="0">
                                  <p:stCondLst>
                                    <p:cond delay="0"/>
                                  </p:stCondLst>
                                  <p:childTnLst>
                                    <p:set>
                                      <p:cBhvr>
                                        <p:cTn dur="1" fill="hold">
                                          <p:stCondLst>
                                            <p:cond delay="0"/>
                                          </p:stCondLst>
                                        </p:cTn>
                                        <p:tgtEl>
                                          <p:spTgt spid="73"/>
                                        </p:tgtEl>
                                        <p:attrNameLst>
                                          <p:attrName>style.visibility</p:attrName>
                                        </p:attrNameLst>
                                      </p:cBhvr>
                                      <p:to>
                                        <p:strVal val="visible"/>
                                      </p:to>
                                    </p:set>
                                    <p:animEffect filter="fade" transition="in">
                                      <p:cBhvr>
                                        <p:cTn dur="600"/>
                                        <p:tgtEl>
                                          <p:spTgt spid="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600"/>
                                        <p:tgtEl>
                                          <p:spTgt spid="74"/>
                                        </p:tgtEl>
                                      </p:cBhvr>
                                    </p:animEffect>
                                  </p:childTnLst>
                                </p:cTn>
                              </p:par>
                              <p:par>
                                <p:cTn fill="hold" nodeType="withEffect" presetClass="entr" presetID="10" presetSubtype="0">
                                  <p:stCondLst>
                                    <p:cond delay="0"/>
                                  </p:stCondLst>
                                  <p:childTnLst>
                                    <p:set>
                                      <p:cBhvr>
                                        <p:cTn dur="1" fill="hold">
                                          <p:stCondLst>
                                            <p:cond delay="0"/>
                                          </p:stCondLst>
                                        </p:cTn>
                                        <p:tgtEl>
                                          <p:spTgt spid="75"/>
                                        </p:tgtEl>
                                        <p:attrNameLst>
                                          <p:attrName>style.visibility</p:attrName>
                                        </p:attrNameLst>
                                      </p:cBhvr>
                                      <p:to>
                                        <p:strVal val="visible"/>
                                      </p:to>
                                    </p:set>
                                    <p:animEffect filter="fade" transition="in">
                                      <p:cBhvr>
                                        <p:cTn dur="600"/>
                                        <p:tgtEl>
                                          <p:spTgt spid="75"/>
                                        </p:tgtEl>
                                      </p:cBhvr>
                                    </p:animEffect>
                                  </p:childTnLst>
                                </p:cTn>
                              </p:par>
                              <p:par>
                                <p:cTn fill="hold" nodeType="withEffect" presetClass="entr" presetID="10" presetSubtype="0">
                                  <p:stCondLst>
                                    <p:cond delay="0"/>
                                  </p:stCondLst>
                                  <p:childTnLst>
                                    <p:set>
                                      <p:cBhvr>
                                        <p:cTn dur="1" fill="hold">
                                          <p:stCondLst>
                                            <p:cond delay="0"/>
                                          </p:stCondLst>
                                        </p:cTn>
                                        <p:tgtEl>
                                          <p:spTgt spid="76"/>
                                        </p:tgtEl>
                                        <p:attrNameLst>
                                          <p:attrName>style.visibility</p:attrName>
                                        </p:attrNameLst>
                                      </p:cBhvr>
                                      <p:to>
                                        <p:strVal val="visible"/>
                                      </p:to>
                                    </p:set>
                                    <p:animEffect filter="fade" transition="in">
                                      <p:cBhvr>
                                        <p:cTn dur="600"/>
                                        <p:tgtEl>
                                          <p:spTgt spid="76"/>
                                        </p:tgtEl>
                                      </p:cBhvr>
                                    </p:animEffect>
                                  </p:childTnLst>
                                </p:cTn>
                              </p:par>
                              <p:par>
                                <p:cTn fill="hold" nodeType="withEffect" presetClass="entr" presetID="10" presetSubtype="0">
                                  <p:stCondLst>
                                    <p:cond delay="0"/>
                                  </p:stCondLst>
                                  <p:childTnLst>
                                    <p:set>
                                      <p:cBhvr>
                                        <p:cTn dur="1" fill="hold">
                                          <p:stCondLst>
                                            <p:cond delay="0"/>
                                          </p:stCondLst>
                                        </p:cTn>
                                        <p:tgtEl>
                                          <p:spTgt spid="77"/>
                                        </p:tgtEl>
                                        <p:attrNameLst>
                                          <p:attrName>style.visibility</p:attrName>
                                        </p:attrNameLst>
                                      </p:cBhvr>
                                      <p:to>
                                        <p:strVal val="visible"/>
                                      </p:to>
                                    </p:set>
                                    <p:animEffect filter="fade" transition="in">
                                      <p:cBhvr>
                                        <p:cTn dur="600"/>
                                        <p:tgtEl>
                                          <p:spTgt spid="77"/>
                                        </p:tgtEl>
                                      </p:cBhvr>
                                    </p:animEffect>
                                  </p:childTnLst>
                                </p:cTn>
                              </p:par>
                              <p:par>
                                <p:cTn fill="hold" nodeType="withEffect" presetClass="entr" presetID="10" presetSubtype="0">
                                  <p:stCondLst>
                                    <p:cond delay="0"/>
                                  </p:stCondLst>
                                  <p:childTnLst>
                                    <p:set>
                                      <p:cBhvr>
                                        <p:cTn dur="1" fill="hold">
                                          <p:stCondLst>
                                            <p:cond delay="0"/>
                                          </p:stCondLst>
                                        </p:cTn>
                                        <p:tgtEl>
                                          <p:spTgt spid="78"/>
                                        </p:tgtEl>
                                        <p:attrNameLst>
                                          <p:attrName>style.visibility</p:attrName>
                                        </p:attrNameLst>
                                      </p:cBhvr>
                                      <p:to>
                                        <p:strVal val="visible"/>
                                      </p:to>
                                    </p:set>
                                    <p:animEffect filter="fade" transition="in">
                                      <p:cBhvr>
                                        <p:cTn dur="600"/>
                                        <p:tgtEl>
                                          <p:spTgt spid="78"/>
                                        </p:tgtEl>
                                      </p:cBhvr>
                                    </p:animEffect>
                                  </p:childTnLst>
                                </p:cTn>
                              </p:par>
                              <p:par>
                                <p:cTn fill="hold" nodeType="withEffect" presetClass="entr" presetID="10" presetSubtype="0">
                                  <p:stCondLst>
                                    <p:cond delay="0"/>
                                  </p:stCondLst>
                                  <p:childTnLst>
                                    <p:set>
                                      <p:cBhvr>
                                        <p:cTn dur="1" fill="hold">
                                          <p:stCondLst>
                                            <p:cond delay="0"/>
                                          </p:stCondLst>
                                        </p:cTn>
                                        <p:tgtEl>
                                          <p:spTgt spid="79"/>
                                        </p:tgtEl>
                                        <p:attrNameLst>
                                          <p:attrName>style.visibility</p:attrName>
                                        </p:attrNameLst>
                                      </p:cBhvr>
                                      <p:to>
                                        <p:strVal val="visible"/>
                                      </p:to>
                                    </p:set>
                                    <p:animEffect filter="fade" transition="in">
                                      <p:cBhvr>
                                        <p:cTn dur="600"/>
                                        <p:tgtEl>
                                          <p:spTgt spid="79"/>
                                        </p:tgtEl>
                                      </p:cBhvr>
                                    </p:animEffect>
                                  </p:childTnLst>
                                </p:cTn>
                              </p:par>
                              <p:par>
                                <p:cTn fill="hold" nodeType="withEffect" presetClass="entr" presetID="10" presetSubtype="0">
                                  <p:stCondLst>
                                    <p:cond delay="0"/>
                                  </p:stCondLst>
                                  <p:childTnLst>
                                    <p:set>
                                      <p:cBhvr>
                                        <p:cTn dur="1" fill="hold">
                                          <p:stCondLst>
                                            <p:cond delay="0"/>
                                          </p:stCondLst>
                                        </p:cTn>
                                        <p:tgtEl>
                                          <p:spTgt spid="80"/>
                                        </p:tgtEl>
                                        <p:attrNameLst>
                                          <p:attrName>style.visibility</p:attrName>
                                        </p:attrNameLst>
                                      </p:cBhvr>
                                      <p:to>
                                        <p:strVal val="visible"/>
                                      </p:to>
                                    </p:set>
                                    <p:animEffect filter="fade" transition="in">
                                      <p:cBhvr>
                                        <p:cTn dur="600"/>
                                        <p:tgtEl>
                                          <p:spTgt spid="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
                                        </p:tgtEl>
                                        <p:attrNameLst>
                                          <p:attrName>style.visibility</p:attrName>
                                        </p:attrNameLst>
                                      </p:cBhvr>
                                      <p:to>
                                        <p:strVal val="visible"/>
                                      </p:to>
                                    </p:set>
                                    <p:animEffect filter="fade" transition="in">
                                      <p:cBhvr>
                                        <p:cTn dur="600"/>
                                        <p:tgtEl>
                                          <p:spTgt spid="81"/>
                                        </p:tgtEl>
                                      </p:cBhvr>
                                    </p:animEffect>
                                  </p:childTnLst>
                                </p:cTn>
                              </p:par>
                              <p:par>
                                <p:cTn fill="hold" nodeType="withEffect" presetClass="entr" presetID="10" presetSubtype="0">
                                  <p:stCondLst>
                                    <p:cond delay="0"/>
                                  </p:stCondLst>
                                  <p:childTnLst>
                                    <p:set>
                                      <p:cBhvr>
                                        <p:cTn dur="1" fill="hold">
                                          <p:stCondLst>
                                            <p:cond delay="0"/>
                                          </p:stCondLst>
                                        </p:cTn>
                                        <p:tgtEl>
                                          <p:spTgt spid="82"/>
                                        </p:tgtEl>
                                        <p:attrNameLst>
                                          <p:attrName>style.visibility</p:attrName>
                                        </p:attrNameLst>
                                      </p:cBhvr>
                                      <p:to>
                                        <p:strVal val="visible"/>
                                      </p:to>
                                    </p:set>
                                    <p:animEffect filter="fade" transition="in">
                                      <p:cBhvr>
                                        <p:cTn dur="600"/>
                                        <p:tgtEl>
                                          <p:spTgt spid="82"/>
                                        </p:tgtEl>
                                      </p:cBhvr>
                                    </p:animEffect>
                                  </p:childTnLst>
                                </p:cTn>
                              </p:par>
                              <p:par>
                                <p:cTn fill="hold" nodeType="withEffect" presetClass="entr" presetID="10" presetSubtype="0">
                                  <p:stCondLst>
                                    <p:cond delay="0"/>
                                  </p:stCondLst>
                                  <p:childTnLst>
                                    <p:set>
                                      <p:cBhvr>
                                        <p:cTn dur="1" fill="hold">
                                          <p:stCondLst>
                                            <p:cond delay="0"/>
                                          </p:stCondLst>
                                        </p:cTn>
                                        <p:tgtEl>
                                          <p:spTgt spid="83"/>
                                        </p:tgtEl>
                                        <p:attrNameLst>
                                          <p:attrName>style.visibility</p:attrName>
                                        </p:attrNameLst>
                                      </p:cBhvr>
                                      <p:to>
                                        <p:strVal val="visible"/>
                                      </p:to>
                                    </p:set>
                                    <p:animEffect filter="fade" transition="in">
                                      <p:cBhvr>
                                        <p:cTn dur="600"/>
                                        <p:tgtEl>
                                          <p:spTgt spid="83"/>
                                        </p:tgtEl>
                                      </p:cBhvr>
                                    </p:animEffect>
                                  </p:childTnLst>
                                </p:cTn>
                              </p:par>
                              <p:par>
                                <p:cTn fill="hold" nodeType="withEffect" presetClass="entr" presetID="10" presetSubtype="0">
                                  <p:stCondLst>
                                    <p:cond delay="0"/>
                                  </p:stCondLst>
                                  <p:childTnLst>
                                    <p:set>
                                      <p:cBhvr>
                                        <p:cTn dur="1" fill="hold">
                                          <p:stCondLst>
                                            <p:cond delay="0"/>
                                          </p:stCondLst>
                                        </p:cTn>
                                        <p:tgtEl>
                                          <p:spTgt spid="84"/>
                                        </p:tgtEl>
                                        <p:attrNameLst>
                                          <p:attrName>style.visibility</p:attrName>
                                        </p:attrNameLst>
                                      </p:cBhvr>
                                      <p:to>
                                        <p:strVal val="visible"/>
                                      </p:to>
                                    </p:set>
                                    <p:animEffect filter="fade" transition="in">
                                      <p:cBhvr>
                                        <p:cTn dur="600"/>
                                        <p:tgtEl>
                                          <p:spTgt spid="84"/>
                                        </p:tgtEl>
                                      </p:cBhvr>
                                    </p:animEffect>
                                  </p:childTnLst>
                                </p:cTn>
                              </p:par>
                              <p:par>
                                <p:cTn fill="hold" nodeType="withEffect" presetClass="entr" presetID="10" presetSubtype="0">
                                  <p:stCondLst>
                                    <p:cond delay="0"/>
                                  </p:stCondLst>
                                  <p:childTnLst>
                                    <p:set>
                                      <p:cBhvr>
                                        <p:cTn dur="1" fill="hold">
                                          <p:stCondLst>
                                            <p:cond delay="0"/>
                                          </p:stCondLst>
                                        </p:cTn>
                                        <p:tgtEl>
                                          <p:spTgt spid="85"/>
                                        </p:tgtEl>
                                        <p:attrNameLst>
                                          <p:attrName>style.visibility</p:attrName>
                                        </p:attrNameLst>
                                      </p:cBhvr>
                                      <p:to>
                                        <p:strVal val="visible"/>
                                      </p:to>
                                    </p:set>
                                    <p:animEffect filter="fade" transition="in">
                                      <p:cBhvr>
                                        <p:cTn dur="600"/>
                                        <p:tgtEl>
                                          <p:spTgt spid="85"/>
                                        </p:tgtEl>
                                      </p:cBhvr>
                                    </p:animEffect>
                                  </p:childTnLst>
                                </p:cTn>
                              </p:par>
                              <p:par>
                                <p:cTn fill="hold" nodeType="withEffect" presetClass="entr" presetID="10" presetSubtype="0">
                                  <p:stCondLst>
                                    <p:cond delay="0"/>
                                  </p:stCondLst>
                                  <p:childTnLst>
                                    <p:set>
                                      <p:cBhvr>
                                        <p:cTn dur="1" fill="hold">
                                          <p:stCondLst>
                                            <p:cond delay="0"/>
                                          </p:stCondLst>
                                        </p:cTn>
                                        <p:tgtEl>
                                          <p:spTgt spid="86"/>
                                        </p:tgtEl>
                                        <p:attrNameLst>
                                          <p:attrName>style.visibility</p:attrName>
                                        </p:attrNameLst>
                                      </p:cBhvr>
                                      <p:to>
                                        <p:strVal val="visible"/>
                                      </p:to>
                                    </p:set>
                                    <p:animEffect filter="fade" transition="in">
                                      <p:cBhvr>
                                        <p:cTn dur="600"/>
                                        <p:tgtEl>
                                          <p:spTgt spid="86"/>
                                        </p:tgtEl>
                                      </p:cBhvr>
                                    </p:animEffect>
                                  </p:childTnLst>
                                </p:cTn>
                              </p:par>
                              <p:par>
                                <p:cTn fill="hold" nodeType="withEffect" presetClass="entr" presetID="10" presetSubtype="0">
                                  <p:stCondLst>
                                    <p:cond delay="0"/>
                                  </p:stCondLst>
                                  <p:childTnLst>
                                    <p:set>
                                      <p:cBhvr>
                                        <p:cTn dur="1" fill="hold">
                                          <p:stCondLst>
                                            <p:cond delay="0"/>
                                          </p:stCondLst>
                                        </p:cTn>
                                        <p:tgtEl>
                                          <p:spTgt spid="87"/>
                                        </p:tgtEl>
                                        <p:attrNameLst>
                                          <p:attrName>style.visibility</p:attrName>
                                        </p:attrNameLst>
                                      </p:cBhvr>
                                      <p:to>
                                        <p:strVal val="visible"/>
                                      </p:to>
                                    </p:set>
                                    <p:animEffect filter="fade" transition="in">
                                      <p:cBhvr>
                                        <p:cTn dur="600"/>
                                        <p:tgtEl>
                                          <p:spTgt spid="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97" name="Shape 97"/>
        <p:cNvGrpSpPr/>
        <p:nvPr/>
      </p:nvGrpSpPr>
      <p:grpSpPr>
        <a:xfrm>
          <a:off x="0" y="0"/>
          <a:ext cx="0" cy="0"/>
          <a:chOff x="0" y="0"/>
          <a:chExt cx="0" cy="0"/>
        </a:xfrm>
      </p:grpSpPr>
      <p:sp>
        <p:nvSpPr>
          <p:cNvPr id="98" name="Google Shape;98;p5"/>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1 · PROBLEM</a:t>
            </a:r>
            <a:endParaRPr b="0" i="0" sz="1200" u="none" cap="none" strike="noStrike">
              <a:solidFill>
                <a:schemeClr val="dk1"/>
              </a:solidFill>
              <a:latin typeface="Calibri"/>
              <a:ea typeface="Calibri"/>
              <a:cs typeface="Calibri"/>
              <a:sym typeface="Calibri"/>
            </a:endParaRPr>
          </a:p>
        </p:txBody>
      </p:sp>
      <p:sp>
        <p:nvSpPr>
          <p:cNvPr id="99" name="Google Shape;99;p5"/>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Fraud often hides in groups</a:t>
            </a:r>
            <a:endParaRPr b="0" i="0" sz="3200" u="none" cap="none" strike="noStrike">
              <a:solidFill>
                <a:schemeClr val="dk1"/>
              </a:solidFill>
              <a:latin typeface="Calibri"/>
              <a:ea typeface="Calibri"/>
              <a:cs typeface="Calibri"/>
              <a:sym typeface="Calibri"/>
            </a:endParaRPr>
          </a:p>
        </p:txBody>
      </p:sp>
      <p:sp>
        <p:nvSpPr>
          <p:cNvPr id="100" name="Google Shape;100;p5"/>
          <p:cNvSpPr txBox="1"/>
          <p:nvPr/>
        </p:nvSpPr>
        <p:spPr>
          <a:xfrm>
            <a:off x="612648" y="1691640"/>
            <a:ext cx="6949440" cy="1188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2638"/>
              </a:buClr>
              <a:buSzPts val="1900"/>
              <a:buFont typeface="Arial"/>
              <a:buNone/>
            </a:pPr>
            <a:r>
              <a:rPr b="0" i="0" lang="en-US" sz="1900" u="none" cap="none" strike="noStrike">
                <a:solidFill>
                  <a:srgbClr val="1E2638"/>
                </a:solidFill>
                <a:latin typeface="Arial"/>
                <a:ea typeface="Arial"/>
                <a:cs typeface="Arial"/>
                <a:sym typeface="Arial"/>
              </a:rPr>
              <a:t>A fraudster may reuse one card, address or device many times. Each transaction can look normal on its own, but together they form a pattern.</a:t>
            </a:r>
            <a:endParaRPr b="0" i="0" sz="1900" u="none" cap="none" strike="noStrike">
              <a:solidFill>
                <a:schemeClr val="dk1"/>
              </a:solidFill>
              <a:latin typeface="Calibri"/>
              <a:ea typeface="Calibri"/>
              <a:cs typeface="Calibri"/>
              <a:sym typeface="Calibri"/>
            </a:endParaRPr>
          </a:p>
        </p:txBody>
      </p:sp>
      <p:pic>
        <p:nvPicPr>
          <p:cNvPr descr="Illustration: credit card with a fraud alert, linked to other transactions" id="101" name="Google Shape;101;p5"/>
          <p:cNvPicPr preferRelativeResize="0"/>
          <p:nvPr/>
        </p:nvPicPr>
        <p:blipFill rotWithShape="1">
          <a:blip r:embed="rId3">
            <a:alphaModFix/>
          </a:blip>
          <a:srcRect b="0" l="0" r="0" t="0"/>
          <a:stretch/>
        </p:blipFill>
        <p:spPr>
          <a:xfrm>
            <a:off x="8321040" y="1097280"/>
            <a:ext cx="3264408" cy="2039112"/>
          </a:xfrm>
          <a:prstGeom prst="rect">
            <a:avLst/>
          </a:prstGeom>
          <a:noFill/>
          <a:ln>
            <a:noFill/>
          </a:ln>
        </p:spPr>
      </p:pic>
      <p:sp>
        <p:nvSpPr>
          <p:cNvPr id="102" name="Google Shape;102;p5"/>
          <p:cNvSpPr/>
          <p:nvPr/>
        </p:nvSpPr>
        <p:spPr>
          <a:xfrm>
            <a:off x="612648" y="3429000"/>
            <a:ext cx="3529584" cy="2560320"/>
          </a:xfrm>
          <a:prstGeom prst="roundRect">
            <a:avLst>
              <a:gd fmla="val 4286"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txBox="1"/>
          <p:nvPr/>
        </p:nvSpPr>
        <p:spPr>
          <a:xfrm>
            <a:off x="886968" y="3657600"/>
            <a:ext cx="2980944"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700"/>
              <a:buFont typeface="Arial"/>
              <a:buNone/>
            </a:pPr>
            <a:r>
              <a:rPr b="1" i="0" lang="en-US" sz="1700" u="none" cap="none" strike="noStrike">
                <a:solidFill>
                  <a:srgbClr val="111A2E"/>
                </a:solidFill>
                <a:latin typeface="Arial"/>
                <a:ea typeface="Arial"/>
                <a:cs typeface="Arial"/>
                <a:sym typeface="Arial"/>
              </a:rPr>
              <a:t>Our question</a:t>
            </a:r>
            <a:endParaRPr b="0" i="0" sz="1700" u="none" cap="none" strike="noStrike">
              <a:solidFill>
                <a:schemeClr val="dk1"/>
              </a:solidFill>
              <a:latin typeface="Calibri"/>
              <a:ea typeface="Calibri"/>
              <a:cs typeface="Calibri"/>
              <a:sym typeface="Calibri"/>
            </a:endParaRPr>
          </a:p>
        </p:txBody>
      </p:sp>
      <p:sp>
        <p:nvSpPr>
          <p:cNvPr id="104" name="Google Shape;104;p5"/>
          <p:cNvSpPr txBox="1"/>
          <p:nvPr/>
        </p:nvSpPr>
        <p:spPr>
          <a:xfrm>
            <a:off x="886968" y="4114800"/>
            <a:ext cx="2980944" cy="17373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Do relationships between transactions improve fraud detection compared with transaction-level machine learning?</a:t>
            </a:r>
            <a:endParaRPr b="0" i="0" sz="1400" u="none" cap="none" strike="noStrike">
              <a:solidFill>
                <a:schemeClr val="dk1"/>
              </a:solidFill>
              <a:latin typeface="Calibri"/>
              <a:ea typeface="Calibri"/>
              <a:cs typeface="Calibri"/>
              <a:sym typeface="Calibri"/>
            </a:endParaRPr>
          </a:p>
        </p:txBody>
      </p:sp>
      <p:sp>
        <p:nvSpPr>
          <p:cNvPr id="105" name="Google Shape;105;p5"/>
          <p:cNvSpPr/>
          <p:nvPr/>
        </p:nvSpPr>
        <p:spPr>
          <a:xfrm>
            <a:off x="4334256" y="3429000"/>
            <a:ext cx="3529584" cy="2560320"/>
          </a:xfrm>
          <a:prstGeom prst="roundRect">
            <a:avLst>
              <a:gd fmla="val 4286"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txBox="1"/>
          <p:nvPr/>
        </p:nvSpPr>
        <p:spPr>
          <a:xfrm>
            <a:off x="4608576" y="3657600"/>
            <a:ext cx="2980944"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700"/>
              <a:buFont typeface="Arial"/>
              <a:buNone/>
            </a:pPr>
            <a:r>
              <a:rPr b="1" i="0" lang="en-US" sz="1700" u="none" cap="none" strike="noStrike">
                <a:solidFill>
                  <a:srgbClr val="111A2E"/>
                </a:solidFill>
                <a:latin typeface="Arial"/>
                <a:ea typeface="Arial"/>
                <a:cs typeface="Arial"/>
                <a:sym typeface="Arial"/>
              </a:rPr>
              <a:t>Our hypothesis</a:t>
            </a:r>
            <a:endParaRPr b="0" i="0" sz="1700" u="none" cap="none" strike="noStrike">
              <a:solidFill>
                <a:schemeClr val="dk1"/>
              </a:solidFill>
              <a:latin typeface="Calibri"/>
              <a:ea typeface="Calibri"/>
              <a:cs typeface="Calibri"/>
              <a:sym typeface="Calibri"/>
            </a:endParaRPr>
          </a:p>
        </p:txBody>
      </p:sp>
      <p:sp>
        <p:nvSpPr>
          <p:cNvPr id="107" name="Google Shape;107;p5"/>
          <p:cNvSpPr txBox="1"/>
          <p:nvPr/>
        </p:nvSpPr>
        <p:spPr>
          <a:xfrm>
            <a:off x="4608576" y="4114800"/>
            <a:ext cx="2980944" cy="17373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Relationship features will reveal coordinated fraud that single-transaction features miss.</a:t>
            </a:r>
            <a:endParaRPr b="0" i="0" sz="1400" u="none" cap="none" strike="noStrike">
              <a:solidFill>
                <a:schemeClr val="dk1"/>
              </a:solidFill>
              <a:latin typeface="Calibri"/>
              <a:ea typeface="Calibri"/>
              <a:cs typeface="Calibri"/>
              <a:sym typeface="Calibri"/>
            </a:endParaRPr>
          </a:p>
        </p:txBody>
      </p:sp>
      <p:sp>
        <p:nvSpPr>
          <p:cNvPr id="108" name="Google Shape;108;p5"/>
          <p:cNvSpPr/>
          <p:nvPr/>
        </p:nvSpPr>
        <p:spPr>
          <a:xfrm>
            <a:off x="8055864" y="3429000"/>
            <a:ext cx="3529584" cy="2560320"/>
          </a:xfrm>
          <a:prstGeom prst="roundRect">
            <a:avLst>
              <a:gd fmla="val 4286"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5"/>
          <p:cNvSpPr txBox="1"/>
          <p:nvPr/>
        </p:nvSpPr>
        <p:spPr>
          <a:xfrm>
            <a:off x="8330184" y="3657600"/>
            <a:ext cx="2980944"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700"/>
              <a:buFont typeface="Arial"/>
              <a:buNone/>
            </a:pPr>
            <a:r>
              <a:rPr b="1" i="0" lang="en-US" sz="1700" u="none" cap="none" strike="noStrike">
                <a:solidFill>
                  <a:srgbClr val="111A2E"/>
                </a:solidFill>
                <a:latin typeface="Arial"/>
                <a:ea typeface="Arial"/>
                <a:cs typeface="Arial"/>
                <a:sym typeface="Arial"/>
              </a:rPr>
              <a:t>Change from proposal</a:t>
            </a:r>
            <a:endParaRPr b="0" i="0" sz="1700" u="none" cap="none" strike="noStrike">
              <a:solidFill>
                <a:schemeClr val="dk1"/>
              </a:solidFill>
              <a:latin typeface="Calibri"/>
              <a:ea typeface="Calibri"/>
              <a:cs typeface="Calibri"/>
              <a:sym typeface="Calibri"/>
            </a:endParaRPr>
          </a:p>
        </p:txBody>
      </p:sp>
      <p:sp>
        <p:nvSpPr>
          <p:cNvPr id="110" name="Google Shape;110;p5"/>
          <p:cNvSpPr txBox="1"/>
          <p:nvPr/>
        </p:nvSpPr>
        <p:spPr>
          <a:xfrm>
            <a:off x="8330184" y="4114800"/>
            <a:ext cx="2980944" cy="17373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We tried GraphSAGE and RGCN, but neither beat XGBoost, so we compare XGBoost with a neural network (ANN).</a:t>
            </a:r>
            <a:endParaRPr b="0" i="0" sz="1400" u="none" cap="none" strike="noStrike">
              <a:solidFill>
                <a:schemeClr val="dk1"/>
              </a:solidFill>
              <a:latin typeface="Calibri"/>
              <a:ea typeface="Calibri"/>
              <a:cs typeface="Calibri"/>
              <a:sym typeface="Calibri"/>
            </a:endParaRPr>
          </a:p>
        </p:txBody>
      </p:sp>
      <p:sp>
        <p:nvSpPr>
          <p:cNvPr id="111" name="Google Shape;111;p5"/>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112" name="Google Shape;112;p5"/>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3</a:t>
            </a:r>
            <a:endParaRPr b="0" i="0" sz="1100" u="none" cap="none" strike="noStrike">
              <a:solidFill>
                <a:schemeClr val="dk1"/>
              </a:solidFill>
              <a:latin typeface="Calibri"/>
              <a:ea typeface="Calibri"/>
              <a:cs typeface="Calibri"/>
              <a:sym typeface="Calibri"/>
            </a:endParaRPr>
          </a:p>
        </p:txBody>
      </p:sp>
      <p:sp>
        <p:nvSpPr>
          <p:cNvPr id="113" name="Google Shape;113;p5"/>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Alia AlGhamdi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120" name="Shape 120"/>
        <p:cNvGrpSpPr/>
        <p:nvPr/>
      </p:nvGrpSpPr>
      <p:grpSpPr>
        <a:xfrm>
          <a:off x="0" y="0"/>
          <a:ext cx="0" cy="0"/>
          <a:chOff x="0" y="0"/>
          <a:chExt cx="0" cy="0"/>
        </a:xfrm>
      </p:grpSpPr>
      <p:sp>
        <p:nvSpPr>
          <p:cNvPr id="121" name="Google Shape;121;p6"/>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2 · DATA</a:t>
            </a:r>
            <a:endParaRPr b="0" i="0" sz="1200" u="none" cap="none" strike="noStrike">
              <a:solidFill>
                <a:schemeClr val="dk1"/>
              </a:solidFill>
              <a:latin typeface="Calibri"/>
              <a:ea typeface="Calibri"/>
              <a:cs typeface="Calibri"/>
              <a:sym typeface="Calibri"/>
            </a:endParaRPr>
          </a:p>
        </p:txBody>
      </p:sp>
      <p:sp>
        <p:nvSpPr>
          <p:cNvPr id="122" name="Google Shape;122;p6"/>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IEEE-CIS: real e-commerce transactions from Vesta</a:t>
            </a:r>
            <a:endParaRPr b="0" i="0" sz="3200" u="none" cap="none" strike="noStrike">
              <a:solidFill>
                <a:schemeClr val="dk1"/>
              </a:solidFill>
              <a:latin typeface="Calibri"/>
              <a:ea typeface="Calibri"/>
              <a:cs typeface="Calibri"/>
              <a:sym typeface="Calibri"/>
            </a:endParaRPr>
          </a:p>
        </p:txBody>
      </p:sp>
      <p:cxnSp>
        <p:nvCxnSpPr>
          <p:cNvPr id="123" name="Google Shape;123;p6"/>
          <p:cNvCxnSpPr/>
          <p:nvPr/>
        </p:nvCxnSpPr>
        <p:spPr>
          <a:xfrm>
            <a:off x="612648" y="2148840"/>
            <a:ext cx="2514600" cy="0"/>
          </a:xfrm>
          <a:prstGeom prst="straightConnector1">
            <a:avLst/>
          </a:prstGeom>
          <a:noFill/>
          <a:ln cap="flat" cmpd="sng" w="31750">
            <a:solidFill>
              <a:srgbClr val="E8743B"/>
            </a:solidFill>
            <a:prstDash val="solid"/>
            <a:round/>
            <a:headEnd len="sm" w="sm" type="none"/>
            <a:tailEnd len="sm" w="sm" type="none"/>
          </a:ln>
        </p:spPr>
      </p:cxnSp>
      <p:sp>
        <p:nvSpPr>
          <p:cNvPr id="124" name="Google Shape;124;p6"/>
          <p:cNvSpPr txBox="1"/>
          <p:nvPr/>
        </p:nvSpPr>
        <p:spPr>
          <a:xfrm>
            <a:off x="612648" y="2331720"/>
            <a:ext cx="26517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4400"/>
              <a:buFont typeface="Arial"/>
              <a:buNone/>
            </a:pPr>
            <a:r>
              <a:rPr b="1" i="0" lang="en-US" sz="4400" u="none" cap="none" strike="noStrike">
                <a:solidFill>
                  <a:srgbClr val="F5F3EE"/>
                </a:solidFill>
                <a:latin typeface="Arial"/>
                <a:ea typeface="Arial"/>
                <a:cs typeface="Arial"/>
                <a:sym typeface="Arial"/>
              </a:rPr>
              <a:t>590,540</a:t>
            </a:r>
            <a:endParaRPr b="0" i="0" sz="4400" u="none" cap="none" strike="noStrike">
              <a:solidFill>
                <a:schemeClr val="dk1"/>
              </a:solidFill>
              <a:latin typeface="Calibri"/>
              <a:ea typeface="Calibri"/>
              <a:cs typeface="Calibri"/>
              <a:sym typeface="Calibri"/>
            </a:endParaRPr>
          </a:p>
        </p:txBody>
      </p:sp>
      <p:sp>
        <p:nvSpPr>
          <p:cNvPr id="125" name="Google Shape;125;p6"/>
          <p:cNvSpPr txBox="1"/>
          <p:nvPr/>
        </p:nvSpPr>
        <p:spPr>
          <a:xfrm>
            <a:off x="612648" y="3154680"/>
            <a:ext cx="2514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500"/>
              <a:buFont typeface="Arial"/>
              <a:buNone/>
            </a:pPr>
            <a:r>
              <a:rPr b="0" i="0" lang="en-US" sz="1500" u="none" cap="none" strike="noStrike">
                <a:solidFill>
                  <a:srgbClr val="C3CCDA"/>
                </a:solidFill>
                <a:latin typeface="Arial"/>
                <a:ea typeface="Arial"/>
                <a:cs typeface="Arial"/>
                <a:sym typeface="Arial"/>
              </a:rPr>
              <a:t>labelled transactions</a:t>
            </a:r>
            <a:endParaRPr b="0" i="0" sz="1500" u="none" cap="none" strike="noStrike">
              <a:solidFill>
                <a:schemeClr val="dk1"/>
              </a:solidFill>
              <a:latin typeface="Calibri"/>
              <a:ea typeface="Calibri"/>
              <a:cs typeface="Calibri"/>
              <a:sym typeface="Calibri"/>
            </a:endParaRPr>
          </a:p>
        </p:txBody>
      </p:sp>
      <p:cxnSp>
        <p:nvCxnSpPr>
          <p:cNvPr id="126" name="Google Shape;126;p6"/>
          <p:cNvCxnSpPr/>
          <p:nvPr/>
        </p:nvCxnSpPr>
        <p:spPr>
          <a:xfrm>
            <a:off x="3401568" y="2148840"/>
            <a:ext cx="2514600" cy="0"/>
          </a:xfrm>
          <a:prstGeom prst="straightConnector1">
            <a:avLst/>
          </a:prstGeom>
          <a:noFill/>
          <a:ln cap="flat" cmpd="sng" w="31750">
            <a:solidFill>
              <a:srgbClr val="E8743B"/>
            </a:solidFill>
            <a:prstDash val="solid"/>
            <a:round/>
            <a:headEnd len="sm" w="sm" type="none"/>
            <a:tailEnd len="sm" w="sm" type="none"/>
          </a:ln>
        </p:spPr>
      </p:cxnSp>
      <p:sp>
        <p:nvSpPr>
          <p:cNvPr id="127" name="Google Shape;127;p6"/>
          <p:cNvSpPr txBox="1"/>
          <p:nvPr/>
        </p:nvSpPr>
        <p:spPr>
          <a:xfrm>
            <a:off x="3401568" y="2331720"/>
            <a:ext cx="26517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4400"/>
              <a:buFont typeface="Arial"/>
              <a:buNone/>
            </a:pPr>
            <a:r>
              <a:rPr b="1" i="0" lang="en-US" sz="4400" u="none" cap="none" strike="noStrike">
                <a:solidFill>
                  <a:srgbClr val="F5F3EE"/>
                </a:solidFill>
                <a:latin typeface="Arial"/>
                <a:ea typeface="Arial"/>
                <a:cs typeface="Arial"/>
                <a:sym typeface="Arial"/>
              </a:rPr>
              <a:t>434</a:t>
            </a:r>
            <a:endParaRPr b="0" i="0" sz="4400" u="none" cap="none" strike="noStrike">
              <a:solidFill>
                <a:schemeClr val="dk1"/>
              </a:solidFill>
              <a:latin typeface="Calibri"/>
              <a:ea typeface="Calibri"/>
              <a:cs typeface="Calibri"/>
              <a:sym typeface="Calibri"/>
            </a:endParaRPr>
          </a:p>
        </p:txBody>
      </p:sp>
      <p:sp>
        <p:nvSpPr>
          <p:cNvPr id="128" name="Google Shape;128;p6"/>
          <p:cNvSpPr txBox="1"/>
          <p:nvPr/>
        </p:nvSpPr>
        <p:spPr>
          <a:xfrm>
            <a:off x="3401568" y="3154680"/>
            <a:ext cx="2514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500"/>
              <a:buFont typeface="Arial"/>
              <a:buNone/>
            </a:pPr>
            <a:r>
              <a:rPr b="0" i="0" lang="en-US" sz="1500" u="none" cap="none" strike="noStrike">
                <a:solidFill>
                  <a:srgbClr val="C3CCDA"/>
                </a:solidFill>
                <a:latin typeface="Arial"/>
                <a:ea typeface="Arial"/>
                <a:cs typeface="Arial"/>
                <a:sym typeface="Arial"/>
              </a:rPr>
              <a:t>columns after merging two tables</a:t>
            </a:r>
            <a:endParaRPr b="0" i="0" sz="1500" u="none" cap="none" strike="noStrike">
              <a:solidFill>
                <a:schemeClr val="dk1"/>
              </a:solidFill>
              <a:latin typeface="Calibri"/>
              <a:ea typeface="Calibri"/>
              <a:cs typeface="Calibri"/>
              <a:sym typeface="Calibri"/>
            </a:endParaRPr>
          </a:p>
        </p:txBody>
      </p:sp>
      <p:cxnSp>
        <p:nvCxnSpPr>
          <p:cNvPr id="129" name="Google Shape;129;p6"/>
          <p:cNvCxnSpPr/>
          <p:nvPr/>
        </p:nvCxnSpPr>
        <p:spPr>
          <a:xfrm>
            <a:off x="6190488" y="2148840"/>
            <a:ext cx="2514600" cy="0"/>
          </a:xfrm>
          <a:prstGeom prst="straightConnector1">
            <a:avLst/>
          </a:prstGeom>
          <a:noFill/>
          <a:ln cap="flat" cmpd="sng" w="31750">
            <a:solidFill>
              <a:srgbClr val="E8743B"/>
            </a:solidFill>
            <a:prstDash val="solid"/>
            <a:round/>
            <a:headEnd len="sm" w="sm" type="none"/>
            <a:tailEnd len="sm" w="sm" type="none"/>
          </a:ln>
        </p:spPr>
      </p:cxnSp>
      <p:sp>
        <p:nvSpPr>
          <p:cNvPr id="130" name="Google Shape;130;p6"/>
          <p:cNvSpPr txBox="1"/>
          <p:nvPr/>
        </p:nvSpPr>
        <p:spPr>
          <a:xfrm>
            <a:off x="6190488" y="2331720"/>
            <a:ext cx="26517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4400"/>
              <a:buFont typeface="Arial"/>
              <a:buNone/>
            </a:pPr>
            <a:r>
              <a:rPr b="1" i="0" lang="en-US" sz="4400" u="none" cap="none" strike="noStrike">
                <a:solidFill>
                  <a:srgbClr val="E8743B"/>
                </a:solidFill>
                <a:latin typeface="Arial"/>
                <a:ea typeface="Arial"/>
                <a:cs typeface="Arial"/>
                <a:sym typeface="Arial"/>
              </a:rPr>
              <a:t>3.5%</a:t>
            </a:r>
            <a:endParaRPr b="0" i="0" sz="4400" u="none" cap="none" strike="noStrike">
              <a:solidFill>
                <a:schemeClr val="dk1"/>
              </a:solidFill>
              <a:latin typeface="Calibri"/>
              <a:ea typeface="Calibri"/>
              <a:cs typeface="Calibri"/>
              <a:sym typeface="Calibri"/>
            </a:endParaRPr>
          </a:p>
        </p:txBody>
      </p:sp>
      <p:sp>
        <p:nvSpPr>
          <p:cNvPr id="131" name="Google Shape;131;p6"/>
          <p:cNvSpPr txBox="1"/>
          <p:nvPr/>
        </p:nvSpPr>
        <p:spPr>
          <a:xfrm>
            <a:off x="6190488" y="3154680"/>
            <a:ext cx="2514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500"/>
              <a:buFont typeface="Arial"/>
              <a:buNone/>
            </a:pPr>
            <a:r>
              <a:rPr b="0" i="0" lang="en-US" sz="1500" u="none" cap="none" strike="noStrike">
                <a:solidFill>
                  <a:srgbClr val="C3CCDA"/>
                </a:solidFill>
                <a:latin typeface="Arial"/>
                <a:ea typeface="Arial"/>
                <a:cs typeface="Arial"/>
                <a:sym typeface="Arial"/>
              </a:rPr>
              <a:t>are fraud (20,663 cases)</a:t>
            </a:r>
            <a:endParaRPr b="0" i="0" sz="1500" u="none" cap="none" strike="noStrike">
              <a:solidFill>
                <a:schemeClr val="dk1"/>
              </a:solidFill>
              <a:latin typeface="Calibri"/>
              <a:ea typeface="Calibri"/>
              <a:cs typeface="Calibri"/>
              <a:sym typeface="Calibri"/>
            </a:endParaRPr>
          </a:p>
        </p:txBody>
      </p:sp>
      <p:cxnSp>
        <p:nvCxnSpPr>
          <p:cNvPr id="132" name="Google Shape;132;p6"/>
          <p:cNvCxnSpPr/>
          <p:nvPr/>
        </p:nvCxnSpPr>
        <p:spPr>
          <a:xfrm>
            <a:off x="8979408" y="2148840"/>
            <a:ext cx="2514600" cy="0"/>
          </a:xfrm>
          <a:prstGeom prst="straightConnector1">
            <a:avLst/>
          </a:prstGeom>
          <a:noFill/>
          <a:ln cap="flat" cmpd="sng" w="31750">
            <a:solidFill>
              <a:srgbClr val="E8743B"/>
            </a:solidFill>
            <a:prstDash val="solid"/>
            <a:round/>
            <a:headEnd len="sm" w="sm" type="none"/>
            <a:tailEnd len="sm" w="sm" type="none"/>
          </a:ln>
        </p:spPr>
      </p:cxnSp>
      <p:sp>
        <p:nvSpPr>
          <p:cNvPr id="133" name="Google Shape;133;p6"/>
          <p:cNvSpPr txBox="1"/>
          <p:nvPr/>
        </p:nvSpPr>
        <p:spPr>
          <a:xfrm>
            <a:off x="8979408" y="2331720"/>
            <a:ext cx="26517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4400"/>
              <a:buFont typeface="Arial"/>
              <a:buNone/>
            </a:pPr>
            <a:r>
              <a:rPr b="1" i="0" lang="en-US" sz="4400" u="none" cap="none" strike="noStrike">
                <a:solidFill>
                  <a:srgbClr val="F5F3EE"/>
                </a:solidFill>
                <a:latin typeface="Arial"/>
                <a:ea typeface="Arial"/>
                <a:cs typeface="Arial"/>
                <a:sym typeface="Arial"/>
              </a:rPr>
              <a:t>76%</a:t>
            </a:r>
            <a:endParaRPr b="0" i="0" sz="4400" u="none" cap="none" strike="noStrike">
              <a:solidFill>
                <a:schemeClr val="dk1"/>
              </a:solidFill>
              <a:latin typeface="Calibri"/>
              <a:ea typeface="Calibri"/>
              <a:cs typeface="Calibri"/>
              <a:sym typeface="Calibri"/>
            </a:endParaRPr>
          </a:p>
        </p:txBody>
      </p:sp>
      <p:sp>
        <p:nvSpPr>
          <p:cNvPr id="134" name="Google Shape;134;p6"/>
          <p:cNvSpPr txBox="1"/>
          <p:nvPr/>
        </p:nvSpPr>
        <p:spPr>
          <a:xfrm>
            <a:off x="8979408" y="3154680"/>
            <a:ext cx="2514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500"/>
              <a:buFont typeface="Arial"/>
              <a:buNone/>
            </a:pPr>
            <a:r>
              <a:rPr b="0" i="0" lang="en-US" sz="1500" u="none" cap="none" strike="noStrike">
                <a:solidFill>
                  <a:srgbClr val="C3CCDA"/>
                </a:solidFill>
                <a:latin typeface="Arial"/>
                <a:ea typeface="Arial"/>
                <a:cs typeface="Arial"/>
                <a:sym typeface="Arial"/>
              </a:rPr>
              <a:t>have no identity record</a:t>
            </a:r>
            <a:endParaRPr b="0" i="0" sz="1500" u="none" cap="none" strike="noStrike">
              <a:solidFill>
                <a:schemeClr val="dk1"/>
              </a:solidFill>
              <a:latin typeface="Calibri"/>
              <a:ea typeface="Calibri"/>
              <a:cs typeface="Calibri"/>
              <a:sym typeface="Calibri"/>
            </a:endParaRPr>
          </a:p>
        </p:txBody>
      </p:sp>
      <p:sp>
        <p:nvSpPr>
          <p:cNvPr id="135" name="Google Shape;135;p6"/>
          <p:cNvSpPr txBox="1"/>
          <p:nvPr/>
        </p:nvSpPr>
        <p:spPr>
          <a:xfrm>
            <a:off x="612648" y="4343400"/>
            <a:ext cx="9601200" cy="11887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C3CCDA"/>
              </a:buClr>
              <a:buSzPts val="1600"/>
              <a:buFont typeface="Arial"/>
              <a:buNone/>
            </a:pPr>
            <a:r>
              <a:rPr b="0" i="0" lang="en-US" sz="1600" u="none" cap="none" strike="noStrike">
                <a:solidFill>
                  <a:srgbClr val="C3CCDA"/>
                </a:solidFill>
                <a:latin typeface="Arial"/>
                <a:ea typeface="Arial"/>
                <a:cs typeface="Arial"/>
                <a:sym typeface="Arial"/>
              </a:rPr>
              <a:t>Transaction table (394 columns: amount, product, card, address, email, anonymised C, D, M, V features) joined to the identity table (41 columns: device details) on </a:t>
            </a:r>
            <a:r>
              <a:rPr b="1" i="0" lang="en-US" sz="1600" u="none" cap="none" strike="noStrike">
                <a:solidFill>
                  <a:srgbClr val="F5F3EE"/>
                </a:solidFill>
                <a:latin typeface="Arial"/>
                <a:ea typeface="Arial"/>
                <a:cs typeface="Arial"/>
                <a:sym typeface="Arial"/>
              </a:rPr>
              <a:t>TransactionID</a:t>
            </a:r>
            <a:r>
              <a:rPr b="0" i="0" lang="en-US" sz="1600" u="none" cap="none" strike="noStrike">
                <a:solidFill>
                  <a:srgbClr val="C3CCDA"/>
                </a:solidFill>
                <a:latin typeface="Arial"/>
                <a:ea typeface="Arial"/>
                <a:cs typeface="Arial"/>
                <a:sym typeface="Arial"/>
              </a:rPr>
              <a:t>, with a left join so no transaction is lost.</a:t>
            </a:r>
            <a:endParaRPr b="0" i="0" sz="1600" u="none" cap="none" strike="noStrike">
              <a:solidFill>
                <a:schemeClr val="dk1"/>
              </a:solidFill>
              <a:latin typeface="Calibri"/>
              <a:ea typeface="Calibri"/>
              <a:cs typeface="Calibri"/>
              <a:sym typeface="Calibri"/>
            </a:endParaRPr>
          </a:p>
        </p:txBody>
      </p:sp>
      <p:sp>
        <p:nvSpPr>
          <p:cNvPr id="136" name="Google Shape;136;p6"/>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137" name="Google Shape;137;p6"/>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4</a:t>
            </a:r>
            <a:endParaRPr b="0" i="0" sz="1100" u="none" cap="none" strike="noStrike">
              <a:solidFill>
                <a:schemeClr val="dk1"/>
              </a:solidFill>
              <a:latin typeface="Calibri"/>
              <a:ea typeface="Calibri"/>
              <a:cs typeface="Calibri"/>
              <a:sym typeface="Calibri"/>
            </a:endParaRPr>
          </a:p>
        </p:txBody>
      </p:sp>
      <p:sp>
        <p:nvSpPr>
          <p:cNvPr id="138" name="Google Shape;138;p6"/>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6"/>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6"/>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Alia AlGhamdi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3"/>
                                        </p:tgtEl>
                                        <p:attrNameLst>
                                          <p:attrName>style.visibility</p:attrName>
                                        </p:attrNameLst>
                                      </p:cBhvr>
                                      <p:to>
                                        <p:strVal val="visible"/>
                                      </p:to>
                                    </p:set>
                                    <p:animEffect filter="fade" transition="in">
                                      <p:cBhvr>
                                        <p:cTn dur="600"/>
                                        <p:tgtEl>
                                          <p:spTgt spid="123"/>
                                        </p:tgtEl>
                                      </p:cBhvr>
                                    </p:animEffect>
                                  </p:childTnLst>
                                </p:cTn>
                              </p:par>
                              <p:par>
                                <p:cTn fill="hold" nodeType="withEffect" presetClass="entr" presetID="10" presetSubtype="0">
                                  <p:stCondLst>
                                    <p:cond delay="0"/>
                                  </p:stCondLst>
                                  <p:childTnLst>
                                    <p:set>
                                      <p:cBhvr>
                                        <p:cTn dur="1" fill="hold">
                                          <p:stCondLst>
                                            <p:cond delay="0"/>
                                          </p:stCondLst>
                                        </p:cTn>
                                        <p:tgtEl>
                                          <p:spTgt spid="124"/>
                                        </p:tgtEl>
                                        <p:attrNameLst>
                                          <p:attrName>style.visibility</p:attrName>
                                        </p:attrNameLst>
                                      </p:cBhvr>
                                      <p:to>
                                        <p:strVal val="visible"/>
                                      </p:to>
                                    </p:set>
                                    <p:animEffect filter="fade" transition="in">
                                      <p:cBhvr>
                                        <p:cTn dur="600"/>
                                        <p:tgtEl>
                                          <p:spTgt spid="124"/>
                                        </p:tgtEl>
                                      </p:cBhvr>
                                    </p:animEffect>
                                  </p:childTnLst>
                                </p:cTn>
                              </p:par>
                              <p:par>
                                <p:cTn fill="hold" nodeType="withEffect" presetClass="entr" presetID="10" presetSubtype="0">
                                  <p:stCondLst>
                                    <p:cond delay="0"/>
                                  </p:stCondLst>
                                  <p:childTnLst>
                                    <p:set>
                                      <p:cBhvr>
                                        <p:cTn dur="1" fill="hold">
                                          <p:stCondLst>
                                            <p:cond delay="0"/>
                                          </p:stCondLst>
                                        </p:cTn>
                                        <p:tgtEl>
                                          <p:spTgt spid="125"/>
                                        </p:tgtEl>
                                        <p:attrNameLst>
                                          <p:attrName>style.visibility</p:attrName>
                                        </p:attrNameLst>
                                      </p:cBhvr>
                                      <p:to>
                                        <p:strVal val="visible"/>
                                      </p:to>
                                    </p:set>
                                    <p:animEffect filter="fade" transition="in">
                                      <p:cBhvr>
                                        <p:cTn dur="600"/>
                                        <p:tgtEl>
                                          <p:spTgt spid="1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6"/>
                                        </p:tgtEl>
                                        <p:attrNameLst>
                                          <p:attrName>style.visibility</p:attrName>
                                        </p:attrNameLst>
                                      </p:cBhvr>
                                      <p:to>
                                        <p:strVal val="visible"/>
                                      </p:to>
                                    </p:set>
                                    <p:animEffect filter="fade" transition="in">
                                      <p:cBhvr>
                                        <p:cTn dur="600"/>
                                        <p:tgtEl>
                                          <p:spTgt spid="126"/>
                                        </p:tgtEl>
                                      </p:cBhvr>
                                    </p:animEffect>
                                  </p:childTnLst>
                                </p:cTn>
                              </p:par>
                              <p:par>
                                <p:cTn fill="hold" nodeType="withEffect" presetClass="entr" presetID="10" presetSubtype="0">
                                  <p:stCondLst>
                                    <p:cond delay="0"/>
                                  </p:stCondLst>
                                  <p:childTnLst>
                                    <p:set>
                                      <p:cBhvr>
                                        <p:cTn dur="1" fill="hold">
                                          <p:stCondLst>
                                            <p:cond delay="0"/>
                                          </p:stCondLst>
                                        </p:cTn>
                                        <p:tgtEl>
                                          <p:spTgt spid="127"/>
                                        </p:tgtEl>
                                        <p:attrNameLst>
                                          <p:attrName>style.visibility</p:attrName>
                                        </p:attrNameLst>
                                      </p:cBhvr>
                                      <p:to>
                                        <p:strVal val="visible"/>
                                      </p:to>
                                    </p:set>
                                    <p:animEffect filter="fade" transition="in">
                                      <p:cBhvr>
                                        <p:cTn dur="600"/>
                                        <p:tgtEl>
                                          <p:spTgt spid="127"/>
                                        </p:tgtEl>
                                      </p:cBhvr>
                                    </p:animEffect>
                                  </p:childTnLst>
                                </p:cTn>
                              </p:par>
                              <p:par>
                                <p:cTn fill="hold" nodeType="withEffect" presetClass="entr" presetID="10" presetSubtype="0">
                                  <p:stCondLst>
                                    <p:cond delay="0"/>
                                  </p:stCondLst>
                                  <p:childTnLst>
                                    <p:set>
                                      <p:cBhvr>
                                        <p:cTn dur="1" fill="hold">
                                          <p:stCondLst>
                                            <p:cond delay="0"/>
                                          </p:stCondLst>
                                        </p:cTn>
                                        <p:tgtEl>
                                          <p:spTgt spid="128"/>
                                        </p:tgtEl>
                                        <p:attrNameLst>
                                          <p:attrName>style.visibility</p:attrName>
                                        </p:attrNameLst>
                                      </p:cBhvr>
                                      <p:to>
                                        <p:strVal val="visible"/>
                                      </p:to>
                                    </p:set>
                                    <p:animEffect filter="fade" transition="in">
                                      <p:cBhvr>
                                        <p:cTn dur="600"/>
                                        <p:tgtEl>
                                          <p:spTgt spid="1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9"/>
                                        </p:tgtEl>
                                        <p:attrNameLst>
                                          <p:attrName>style.visibility</p:attrName>
                                        </p:attrNameLst>
                                      </p:cBhvr>
                                      <p:to>
                                        <p:strVal val="visible"/>
                                      </p:to>
                                    </p:set>
                                    <p:animEffect filter="fade" transition="in">
                                      <p:cBhvr>
                                        <p:cTn dur="600"/>
                                        <p:tgtEl>
                                          <p:spTgt spid="129"/>
                                        </p:tgtEl>
                                      </p:cBhvr>
                                    </p:animEffect>
                                  </p:childTnLst>
                                </p:cTn>
                              </p:par>
                              <p:par>
                                <p:cTn fill="hold" nodeType="withEffect" presetClass="entr" presetID="10" presetSubtype="0">
                                  <p:stCondLst>
                                    <p:cond delay="0"/>
                                  </p:stCondLst>
                                  <p:childTnLst>
                                    <p:set>
                                      <p:cBhvr>
                                        <p:cTn dur="1" fill="hold">
                                          <p:stCondLst>
                                            <p:cond delay="0"/>
                                          </p:stCondLst>
                                        </p:cTn>
                                        <p:tgtEl>
                                          <p:spTgt spid="130"/>
                                        </p:tgtEl>
                                        <p:attrNameLst>
                                          <p:attrName>style.visibility</p:attrName>
                                        </p:attrNameLst>
                                      </p:cBhvr>
                                      <p:to>
                                        <p:strVal val="visible"/>
                                      </p:to>
                                    </p:set>
                                    <p:animEffect filter="fade" transition="in">
                                      <p:cBhvr>
                                        <p:cTn dur="600"/>
                                        <p:tgtEl>
                                          <p:spTgt spid="130"/>
                                        </p:tgtEl>
                                      </p:cBhvr>
                                    </p:animEffect>
                                  </p:childTnLst>
                                </p:cTn>
                              </p:par>
                              <p:par>
                                <p:cTn fill="hold" nodeType="withEffect" presetClass="entr" presetID="10" presetSubtype="0">
                                  <p:stCondLst>
                                    <p:cond delay="0"/>
                                  </p:stCondLst>
                                  <p:childTnLst>
                                    <p:set>
                                      <p:cBhvr>
                                        <p:cTn dur="1" fill="hold">
                                          <p:stCondLst>
                                            <p:cond delay="0"/>
                                          </p:stCondLst>
                                        </p:cTn>
                                        <p:tgtEl>
                                          <p:spTgt spid="131"/>
                                        </p:tgtEl>
                                        <p:attrNameLst>
                                          <p:attrName>style.visibility</p:attrName>
                                        </p:attrNameLst>
                                      </p:cBhvr>
                                      <p:to>
                                        <p:strVal val="visible"/>
                                      </p:to>
                                    </p:set>
                                    <p:animEffect filter="fade" transition="in">
                                      <p:cBhvr>
                                        <p:cTn dur="600"/>
                                        <p:tgtEl>
                                          <p:spTgt spid="1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2"/>
                                        </p:tgtEl>
                                        <p:attrNameLst>
                                          <p:attrName>style.visibility</p:attrName>
                                        </p:attrNameLst>
                                      </p:cBhvr>
                                      <p:to>
                                        <p:strVal val="visible"/>
                                      </p:to>
                                    </p:set>
                                    <p:animEffect filter="fade" transition="in">
                                      <p:cBhvr>
                                        <p:cTn dur="600"/>
                                        <p:tgtEl>
                                          <p:spTgt spid="132"/>
                                        </p:tgtEl>
                                      </p:cBhvr>
                                    </p:animEffect>
                                  </p:childTnLst>
                                </p:cTn>
                              </p:par>
                              <p:par>
                                <p:cTn fill="hold" nodeType="with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600"/>
                                        <p:tgtEl>
                                          <p:spTgt spid="133"/>
                                        </p:tgtEl>
                                      </p:cBhvr>
                                    </p:animEffect>
                                  </p:childTnLst>
                                </p:cTn>
                              </p:par>
                              <p:par>
                                <p:cTn fill="hold" nodeType="withEffect" presetClass="entr" presetID="10" presetSubtype="0">
                                  <p:stCondLst>
                                    <p:cond delay="0"/>
                                  </p:stCondLst>
                                  <p:childTnLst>
                                    <p:set>
                                      <p:cBhvr>
                                        <p:cTn dur="1" fill="hold">
                                          <p:stCondLst>
                                            <p:cond delay="0"/>
                                          </p:stCondLst>
                                        </p:cTn>
                                        <p:tgtEl>
                                          <p:spTgt spid="134"/>
                                        </p:tgtEl>
                                        <p:attrNameLst>
                                          <p:attrName>style.visibility</p:attrName>
                                        </p:attrNameLst>
                                      </p:cBhvr>
                                      <p:to>
                                        <p:strVal val="visible"/>
                                      </p:to>
                                    </p:set>
                                    <p:animEffect filter="fade" transition="in">
                                      <p:cBhvr>
                                        <p:cTn dur="600"/>
                                        <p:tgtEl>
                                          <p:spTgt spid="1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45" name="Shape 145"/>
        <p:cNvGrpSpPr/>
        <p:nvPr/>
      </p:nvGrpSpPr>
      <p:grpSpPr>
        <a:xfrm>
          <a:off x="0" y="0"/>
          <a:ext cx="0" cy="0"/>
          <a:chOff x="0" y="0"/>
          <a:chExt cx="0" cy="0"/>
        </a:xfrm>
      </p:grpSpPr>
      <p:sp>
        <p:nvSpPr>
          <p:cNvPr id="146" name="Google Shape;146;p7"/>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3 · ANALYSIS</a:t>
            </a:r>
            <a:endParaRPr b="0" i="0" sz="1200" u="none" cap="none" strike="noStrike">
              <a:solidFill>
                <a:schemeClr val="dk1"/>
              </a:solidFill>
              <a:latin typeface="Calibri"/>
              <a:ea typeface="Calibri"/>
              <a:cs typeface="Calibri"/>
              <a:sym typeface="Calibri"/>
            </a:endParaRPr>
          </a:p>
        </p:txBody>
      </p:sp>
      <p:sp>
        <p:nvSpPr>
          <p:cNvPr id="147" name="Google Shape;147;p7"/>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Fraud rates vary 5× by product and device</a:t>
            </a:r>
            <a:endParaRPr b="0" i="0" sz="3200" u="none" cap="none" strike="noStrike">
              <a:solidFill>
                <a:schemeClr val="dk1"/>
              </a:solidFill>
              <a:latin typeface="Calibri"/>
              <a:ea typeface="Calibri"/>
              <a:cs typeface="Calibri"/>
              <a:sym typeface="Calibri"/>
            </a:endParaRPr>
          </a:p>
        </p:txBody>
      </p:sp>
      <p:pic>
        <p:nvPicPr>
          <p:cNvPr id="148" name="Google Shape;148;p7"/>
          <p:cNvPicPr preferRelativeResize="0"/>
          <p:nvPr/>
        </p:nvPicPr>
        <p:blipFill rotWithShape="1">
          <a:blip r:embed="rId3">
            <a:alphaModFix/>
          </a:blip>
          <a:srcRect b="0" l="0" r="0" t="0"/>
          <a:stretch/>
        </p:blipFill>
        <p:spPr>
          <a:xfrm>
            <a:off x="612648" y="1600200"/>
            <a:ext cx="10972800" cy="3931920"/>
          </a:xfrm>
          <a:prstGeom prst="rect">
            <a:avLst/>
          </a:prstGeom>
          <a:noFill/>
          <a:ln>
            <a:noFill/>
          </a:ln>
        </p:spPr>
      </p:pic>
      <p:sp>
        <p:nvSpPr>
          <p:cNvPr id="149" name="Google Shape;149;p7"/>
          <p:cNvSpPr txBox="1"/>
          <p:nvPr/>
        </p:nvSpPr>
        <p:spPr>
          <a:xfrm>
            <a:off x="612648" y="5669280"/>
            <a:ext cx="109728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Always predicting "not fraud" would score 96.5% accuracy, so we rank models by </a:t>
            </a:r>
            <a:r>
              <a:rPr b="1" i="0" lang="en-US" sz="1400" u="none" cap="none" strike="noStrike">
                <a:solidFill>
                  <a:srgbClr val="3F4A5C"/>
                </a:solidFill>
                <a:latin typeface="Arial"/>
                <a:ea typeface="Arial"/>
                <a:cs typeface="Arial"/>
                <a:sym typeface="Arial"/>
              </a:rPr>
              <a:t>Average Precision</a:t>
            </a:r>
            <a:r>
              <a:rPr b="0" i="0" lang="en-US" sz="1400" u="none" cap="none" strike="noStrike">
                <a:solidFill>
                  <a:srgbClr val="3F4A5C"/>
                </a:solidFill>
                <a:latin typeface="Arial"/>
                <a:ea typeface="Arial"/>
                <a:cs typeface="Arial"/>
                <a:sym typeface="Arial"/>
              </a:rPr>
              <a:t>, not accuracy.</a:t>
            </a:r>
            <a:endParaRPr b="0" i="0" sz="1400" u="none" cap="none" strike="noStrike">
              <a:solidFill>
                <a:schemeClr val="dk1"/>
              </a:solidFill>
              <a:latin typeface="Calibri"/>
              <a:ea typeface="Calibri"/>
              <a:cs typeface="Calibri"/>
              <a:sym typeface="Calibri"/>
            </a:endParaRPr>
          </a:p>
        </p:txBody>
      </p:sp>
      <p:sp>
        <p:nvSpPr>
          <p:cNvPr id="150" name="Google Shape;150;p7"/>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Fraud rate per group · 590,540 transactions</a:t>
            </a:r>
            <a:endParaRPr b="0" i="0" sz="1100" u="none" cap="none" strike="noStrike">
              <a:solidFill>
                <a:schemeClr val="dk1"/>
              </a:solidFill>
              <a:latin typeface="Calibri"/>
              <a:ea typeface="Calibri"/>
              <a:cs typeface="Calibri"/>
              <a:sym typeface="Calibri"/>
            </a:endParaRPr>
          </a:p>
        </p:txBody>
      </p:sp>
      <p:sp>
        <p:nvSpPr>
          <p:cNvPr id="151" name="Google Shape;151;p7"/>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5</a:t>
            </a:r>
            <a:endParaRPr b="0" i="0" sz="1100" u="none" cap="none" strike="noStrike">
              <a:solidFill>
                <a:schemeClr val="dk1"/>
              </a:solidFill>
              <a:latin typeface="Calibri"/>
              <a:ea typeface="Calibri"/>
              <a:cs typeface="Calibri"/>
              <a:sym typeface="Calibri"/>
            </a:endParaRPr>
          </a:p>
        </p:txBody>
      </p:sp>
      <p:sp>
        <p:nvSpPr>
          <p:cNvPr id="152" name="Google Shape;152;p7"/>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7"/>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7"/>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Alia AlGhamdi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900"/>
                                        <p:tgtEl>
                                          <p:spTgt spid="1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159" name="Shape 159"/>
        <p:cNvGrpSpPr/>
        <p:nvPr/>
      </p:nvGrpSpPr>
      <p:grpSpPr>
        <a:xfrm>
          <a:off x="0" y="0"/>
          <a:ext cx="0" cy="0"/>
          <a:chOff x="0" y="0"/>
          <a:chExt cx="0" cy="0"/>
        </a:xfrm>
      </p:grpSpPr>
      <p:sp>
        <p:nvSpPr>
          <p:cNvPr id="160" name="Google Shape;160;p8"/>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4 · APPROACH</a:t>
            </a:r>
            <a:endParaRPr b="0" i="0" sz="1200" u="none" cap="none" strike="noStrike">
              <a:solidFill>
                <a:schemeClr val="dk1"/>
              </a:solidFill>
              <a:latin typeface="Calibri"/>
              <a:ea typeface="Calibri"/>
              <a:cs typeface="Calibri"/>
              <a:sym typeface="Calibri"/>
            </a:endParaRPr>
          </a:p>
        </p:txBody>
      </p:sp>
      <p:sp>
        <p:nvSpPr>
          <p:cNvPr id="161" name="Google Shape;161;p8"/>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A pipeline built to avoid leakage</a:t>
            </a:r>
            <a:endParaRPr b="0" i="0" sz="3200" u="none" cap="none" strike="noStrike">
              <a:solidFill>
                <a:schemeClr val="dk1"/>
              </a:solidFill>
              <a:latin typeface="Calibri"/>
              <a:ea typeface="Calibri"/>
              <a:cs typeface="Calibri"/>
              <a:sym typeface="Calibri"/>
            </a:endParaRPr>
          </a:p>
        </p:txBody>
      </p:sp>
      <p:sp>
        <p:nvSpPr>
          <p:cNvPr id="162" name="Google Shape;162;p8"/>
          <p:cNvSpPr/>
          <p:nvPr/>
        </p:nvSpPr>
        <p:spPr>
          <a:xfrm>
            <a:off x="612648" y="178308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8"/>
          <p:cNvSpPr txBox="1"/>
          <p:nvPr/>
        </p:nvSpPr>
        <p:spPr>
          <a:xfrm>
            <a:off x="813816" y="196596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1</a:t>
            </a:r>
            <a:endParaRPr b="0" i="0" sz="1200" u="none" cap="none" strike="noStrike">
              <a:solidFill>
                <a:schemeClr val="dk1"/>
              </a:solidFill>
              <a:latin typeface="Calibri"/>
              <a:ea typeface="Calibri"/>
              <a:cs typeface="Calibri"/>
              <a:sym typeface="Calibri"/>
            </a:endParaRPr>
          </a:p>
        </p:txBody>
      </p:sp>
      <p:sp>
        <p:nvSpPr>
          <p:cNvPr id="164" name="Google Shape;164;p8"/>
          <p:cNvSpPr txBox="1"/>
          <p:nvPr/>
        </p:nvSpPr>
        <p:spPr>
          <a:xfrm>
            <a:off x="813816" y="225856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Time-based split</a:t>
            </a:r>
            <a:endParaRPr b="0" i="0" sz="1600" u="none" cap="none" strike="noStrike">
              <a:solidFill>
                <a:schemeClr val="dk1"/>
              </a:solidFill>
              <a:latin typeface="Calibri"/>
              <a:ea typeface="Calibri"/>
              <a:cs typeface="Calibri"/>
              <a:sym typeface="Calibri"/>
            </a:endParaRPr>
          </a:p>
        </p:txBody>
      </p:sp>
      <p:sp>
        <p:nvSpPr>
          <p:cNvPr id="165" name="Google Shape;165;p8"/>
          <p:cNvSpPr txBox="1"/>
          <p:nvPr/>
        </p:nvSpPr>
        <p:spPr>
          <a:xfrm>
            <a:off x="813816" y="280720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Oldest 80% train, newest 20% validate</a:t>
            </a:r>
            <a:endParaRPr b="0" i="0" sz="1200" u="none" cap="none" strike="noStrike">
              <a:solidFill>
                <a:schemeClr val="dk1"/>
              </a:solidFill>
              <a:latin typeface="Calibri"/>
              <a:ea typeface="Calibri"/>
              <a:cs typeface="Calibri"/>
              <a:sym typeface="Calibri"/>
            </a:endParaRPr>
          </a:p>
        </p:txBody>
      </p:sp>
      <p:sp>
        <p:nvSpPr>
          <p:cNvPr id="166" name="Google Shape;166;p8"/>
          <p:cNvSpPr/>
          <p:nvPr/>
        </p:nvSpPr>
        <p:spPr>
          <a:xfrm>
            <a:off x="2990088" y="2560320"/>
            <a:ext cx="274320" cy="228600"/>
          </a:xfrm>
          <a:prstGeom prst="rightArrow">
            <a:avLst>
              <a:gd fmla="val 50000" name="adj1"/>
              <a:gd fmla="val 50000" name="adj2"/>
            </a:avLst>
          </a:prstGeom>
          <a:solidFill>
            <a:srgbClr val="8C97AB"/>
          </a:solidFill>
          <a:ln cap="flat" cmpd="sng" w="12700">
            <a:solidFill>
              <a:srgbClr val="8C97A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8"/>
          <p:cNvSpPr/>
          <p:nvPr/>
        </p:nvSpPr>
        <p:spPr>
          <a:xfrm>
            <a:off x="3355848" y="178308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8"/>
          <p:cNvSpPr txBox="1"/>
          <p:nvPr/>
        </p:nvSpPr>
        <p:spPr>
          <a:xfrm>
            <a:off x="3557016" y="196596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2</a:t>
            </a:r>
            <a:endParaRPr b="0" i="0" sz="1200" u="none" cap="none" strike="noStrike">
              <a:solidFill>
                <a:schemeClr val="dk1"/>
              </a:solidFill>
              <a:latin typeface="Calibri"/>
              <a:ea typeface="Calibri"/>
              <a:cs typeface="Calibri"/>
              <a:sym typeface="Calibri"/>
            </a:endParaRPr>
          </a:p>
        </p:txBody>
      </p:sp>
      <p:sp>
        <p:nvSpPr>
          <p:cNvPr id="169" name="Google Shape;169;p8"/>
          <p:cNvSpPr txBox="1"/>
          <p:nvPr/>
        </p:nvSpPr>
        <p:spPr>
          <a:xfrm>
            <a:off x="3557016" y="225856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Preprocessing</a:t>
            </a:r>
            <a:endParaRPr b="0" i="0" sz="1600" u="none" cap="none" strike="noStrike">
              <a:solidFill>
                <a:schemeClr val="dk1"/>
              </a:solidFill>
              <a:latin typeface="Calibri"/>
              <a:ea typeface="Calibri"/>
              <a:cs typeface="Calibri"/>
              <a:sym typeface="Calibri"/>
            </a:endParaRPr>
          </a:p>
        </p:txBody>
      </p:sp>
      <p:sp>
        <p:nvSpPr>
          <p:cNvPr id="170" name="Google Shape;170;p8"/>
          <p:cNvSpPr txBox="1"/>
          <p:nvPr/>
        </p:nvSpPr>
        <p:spPr>
          <a:xfrm>
            <a:off x="3557016" y="280720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Learned from training data only</a:t>
            </a:r>
            <a:endParaRPr b="0" i="0" sz="1200" u="none" cap="none" strike="noStrike">
              <a:solidFill>
                <a:schemeClr val="dk1"/>
              </a:solidFill>
              <a:latin typeface="Calibri"/>
              <a:ea typeface="Calibri"/>
              <a:cs typeface="Calibri"/>
              <a:sym typeface="Calibri"/>
            </a:endParaRPr>
          </a:p>
        </p:txBody>
      </p:sp>
      <p:sp>
        <p:nvSpPr>
          <p:cNvPr id="171" name="Google Shape;171;p8"/>
          <p:cNvSpPr/>
          <p:nvPr/>
        </p:nvSpPr>
        <p:spPr>
          <a:xfrm>
            <a:off x="5733288" y="2560320"/>
            <a:ext cx="274320" cy="228600"/>
          </a:xfrm>
          <a:prstGeom prst="rightArrow">
            <a:avLst>
              <a:gd fmla="val 50000" name="adj1"/>
              <a:gd fmla="val 50000" name="adj2"/>
            </a:avLst>
          </a:prstGeom>
          <a:solidFill>
            <a:srgbClr val="8C97AB"/>
          </a:solidFill>
          <a:ln cap="flat" cmpd="sng" w="12700">
            <a:solidFill>
              <a:srgbClr val="8C97A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6099048" y="178308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8"/>
          <p:cNvSpPr txBox="1"/>
          <p:nvPr/>
        </p:nvSpPr>
        <p:spPr>
          <a:xfrm>
            <a:off x="6300216" y="196596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3</a:t>
            </a:r>
            <a:endParaRPr b="0" i="0" sz="1200" u="none" cap="none" strike="noStrike">
              <a:solidFill>
                <a:schemeClr val="dk1"/>
              </a:solidFill>
              <a:latin typeface="Calibri"/>
              <a:ea typeface="Calibri"/>
              <a:cs typeface="Calibri"/>
              <a:sym typeface="Calibri"/>
            </a:endParaRPr>
          </a:p>
        </p:txBody>
      </p:sp>
      <p:sp>
        <p:nvSpPr>
          <p:cNvPr id="174" name="Google Shape;174;p8"/>
          <p:cNvSpPr txBox="1"/>
          <p:nvPr/>
        </p:nvSpPr>
        <p:spPr>
          <a:xfrm>
            <a:off x="6300216" y="225856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Baseline XGBoost</a:t>
            </a:r>
            <a:endParaRPr b="0" i="0" sz="1600" u="none" cap="none" strike="noStrike">
              <a:solidFill>
                <a:schemeClr val="dk1"/>
              </a:solidFill>
              <a:latin typeface="Calibri"/>
              <a:ea typeface="Calibri"/>
              <a:cs typeface="Calibri"/>
              <a:sym typeface="Calibri"/>
            </a:endParaRPr>
          </a:p>
        </p:txBody>
      </p:sp>
      <p:sp>
        <p:nvSpPr>
          <p:cNvPr id="175" name="Google Shape;175;p8"/>
          <p:cNvSpPr txBox="1"/>
          <p:nvPr/>
        </p:nvSpPr>
        <p:spPr>
          <a:xfrm>
            <a:off x="6300216" y="280720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423 transaction features</a:t>
            </a:r>
            <a:endParaRPr b="0" i="0" sz="1200" u="none" cap="none" strike="noStrike">
              <a:solidFill>
                <a:schemeClr val="dk1"/>
              </a:solidFill>
              <a:latin typeface="Calibri"/>
              <a:ea typeface="Calibri"/>
              <a:cs typeface="Calibri"/>
              <a:sym typeface="Calibri"/>
            </a:endParaRPr>
          </a:p>
        </p:txBody>
      </p:sp>
      <p:sp>
        <p:nvSpPr>
          <p:cNvPr id="176" name="Google Shape;176;p8"/>
          <p:cNvSpPr/>
          <p:nvPr/>
        </p:nvSpPr>
        <p:spPr>
          <a:xfrm>
            <a:off x="8476488" y="2560320"/>
            <a:ext cx="274320" cy="228600"/>
          </a:xfrm>
          <a:prstGeom prst="rightArrow">
            <a:avLst>
              <a:gd fmla="val 50000" name="adj1"/>
              <a:gd fmla="val 50000" name="adj2"/>
            </a:avLst>
          </a:prstGeom>
          <a:solidFill>
            <a:srgbClr val="8C97AB"/>
          </a:solidFill>
          <a:ln cap="flat" cmpd="sng" w="12700">
            <a:solidFill>
              <a:srgbClr val="8C97A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8"/>
          <p:cNvSpPr/>
          <p:nvPr/>
        </p:nvSpPr>
        <p:spPr>
          <a:xfrm>
            <a:off x="8842248" y="178308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
          <p:cNvSpPr txBox="1"/>
          <p:nvPr/>
        </p:nvSpPr>
        <p:spPr>
          <a:xfrm>
            <a:off x="9043416" y="196596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4</a:t>
            </a:r>
            <a:endParaRPr b="0" i="0" sz="1200" u="none" cap="none" strike="noStrike">
              <a:solidFill>
                <a:schemeClr val="dk1"/>
              </a:solidFill>
              <a:latin typeface="Calibri"/>
              <a:ea typeface="Calibri"/>
              <a:cs typeface="Calibri"/>
              <a:sym typeface="Calibri"/>
            </a:endParaRPr>
          </a:p>
        </p:txBody>
      </p:sp>
      <p:sp>
        <p:nvSpPr>
          <p:cNvPr id="179" name="Google Shape;179;p8"/>
          <p:cNvSpPr txBox="1"/>
          <p:nvPr/>
        </p:nvSpPr>
        <p:spPr>
          <a:xfrm>
            <a:off x="9043416" y="225856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Fraud network</a:t>
            </a:r>
            <a:endParaRPr b="0" i="0" sz="1600" u="none" cap="none" strike="noStrike">
              <a:solidFill>
                <a:schemeClr val="dk1"/>
              </a:solidFill>
              <a:latin typeface="Calibri"/>
              <a:ea typeface="Calibri"/>
              <a:cs typeface="Calibri"/>
              <a:sym typeface="Calibri"/>
            </a:endParaRPr>
          </a:p>
        </p:txBody>
      </p:sp>
      <p:sp>
        <p:nvSpPr>
          <p:cNvPr id="180" name="Google Shape;180;p8"/>
          <p:cNvSpPr txBox="1"/>
          <p:nvPr/>
        </p:nvSpPr>
        <p:spPr>
          <a:xfrm>
            <a:off x="9043416" y="280720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Explore how fraud connects</a:t>
            </a:r>
            <a:endParaRPr b="0" i="0" sz="1200" u="none" cap="none" strike="noStrike">
              <a:solidFill>
                <a:schemeClr val="dk1"/>
              </a:solidFill>
              <a:latin typeface="Calibri"/>
              <a:ea typeface="Calibri"/>
              <a:cs typeface="Calibri"/>
              <a:sym typeface="Calibri"/>
            </a:endParaRPr>
          </a:p>
        </p:txBody>
      </p:sp>
      <p:sp>
        <p:nvSpPr>
          <p:cNvPr id="181" name="Google Shape;181;p8"/>
          <p:cNvSpPr/>
          <p:nvPr/>
        </p:nvSpPr>
        <p:spPr>
          <a:xfrm>
            <a:off x="612648" y="393192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8"/>
          <p:cNvSpPr txBox="1"/>
          <p:nvPr/>
        </p:nvSpPr>
        <p:spPr>
          <a:xfrm>
            <a:off x="813816" y="411480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5</a:t>
            </a:r>
            <a:endParaRPr b="0" i="0" sz="1200" u="none" cap="none" strike="noStrike">
              <a:solidFill>
                <a:schemeClr val="dk1"/>
              </a:solidFill>
              <a:latin typeface="Calibri"/>
              <a:ea typeface="Calibri"/>
              <a:cs typeface="Calibri"/>
              <a:sym typeface="Calibri"/>
            </a:endParaRPr>
          </a:p>
        </p:txBody>
      </p:sp>
      <p:sp>
        <p:nvSpPr>
          <p:cNvPr id="183" name="Google Shape;183;p8"/>
          <p:cNvSpPr txBox="1"/>
          <p:nvPr/>
        </p:nvSpPr>
        <p:spPr>
          <a:xfrm>
            <a:off x="813816" y="440740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Historical features</a:t>
            </a:r>
            <a:endParaRPr b="0" i="0" sz="1600" u="none" cap="none" strike="noStrike">
              <a:solidFill>
                <a:schemeClr val="dk1"/>
              </a:solidFill>
              <a:latin typeface="Calibri"/>
              <a:ea typeface="Calibri"/>
              <a:cs typeface="Calibri"/>
              <a:sym typeface="Calibri"/>
            </a:endParaRPr>
          </a:p>
        </p:txBody>
      </p:sp>
      <p:sp>
        <p:nvSpPr>
          <p:cNvPr id="184" name="Google Shape;184;p8"/>
          <p:cNvSpPr txBox="1"/>
          <p:nvPr/>
        </p:nvSpPr>
        <p:spPr>
          <a:xfrm>
            <a:off x="813816" y="495604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5 label-free 24-hour counts</a:t>
            </a:r>
            <a:endParaRPr b="0" i="0" sz="1200" u="none" cap="none" strike="noStrike">
              <a:solidFill>
                <a:schemeClr val="dk1"/>
              </a:solidFill>
              <a:latin typeface="Calibri"/>
              <a:ea typeface="Calibri"/>
              <a:cs typeface="Calibri"/>
              <a:sym typeface="Calibri"/>
            </a:endParaRPr>
          </a:p>
        </p:txBody>
      </p:sp>
      <p:sp>
        <p:nvSpPr>
          <p:cNvPr id="185" name="Google Shape;185;p8"/>
          <p:cNvSpPr/>
          <p:nvPr/>
        </p:nvSpPr>
        <p:spPr>
          <a:xfrm>
            <a:off x="2990088" y="4709160"/>
            <a:ext cx="274320" cy="228600"/>
          </a:xfrm>
          <a:prstGeom prst="rightArrow">
            <a:avLst>
              <a:gd fmla="val 50000" name="adj1"/>
              <a:gd fmla="val 50000" name="adj2"/>
            </a:avLst>
          </a:prstGeom>
          <a:solidFill>
            <a:srgbClr val="8C97AB"/>
          </a:solidFill>
          <a:ln cap="flat" cmpd="sng" w="12700">
            <a:solidFill>
              <a:srgbClr val="8C97A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8"/>
          <p:cNvSpPr/>
          <p:nvPr/>
        </p:nvSpPr>
        <p:spPr>
          <a:xfrm>
            <a:off x="3355848" y="3931920"/>
            <a:ext cx="2286000" cy="1783080"/>
          </a:xfrm>
          <a:prstGeom prst="roundRect">
            <a:avLst>
              <a:gd fmla="val 6154"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8"/>
          <p:cNvSpPr txBox="1"/>
          <p:nvPr/>
        </p:nvSpPr>
        <p:spPr>
          <a:xfrm>
            <a:off x="3557016" y="411480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6</a:t>
            </a:r>
            <a:endParaRPr b="0" i="0" sz="1200" u="none" cap="none" strike="noStrike">
              <a:solidFill>
                <a:schemeClr val="dk1"/>
              </a:solidFill>
              <a:latin typeface="Calibri"/>
              <a:ea typeface="Calibri"/>
              <a:cs typeface="Calibri"/>
              <a:sym typeface="Calibri"/>
            </a:endParaRPr>
          </a:p>
        </p:txBody>
      </p:sp>
      <p:sp>
        <p:nvSpPr>
          <p:cNvPr id="188" name="Google Shape;188;p8"/>
          <p:cNvSpPr txBox="1"/>
          <p:nvPr/>
        </p:nvSpPr>
        <p:spPr>
          <a:xfrm>
            <a:off x="3557016" y="440740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Compare 4 models</a:t>
            </a:r>
            <a:endParaRPr b="0" i="0" sz="1600" u="none" cap="none" strike="noStrike">
              <a:solidFill>
                <a:schemeClr val="dk1"/>
              </a:solidFill>
              <a:latin typeface="Calibri"/>
              <a:ea typeface="Calibri"/>
              <a:cs typeface="Calibri"/>
              <a:sym typeface="Calibri"/>
            </a:endParaRPr>
          </a:p>
        </p:txBody>
      </p:sp>
      <p:sp>
        <p:nvSpPr>
          <p:cNvPr id="189" name="Google Shape;189;p8"/>
          <p:cNvSpPr txBox="1"/>
          <p:nvPr/>
        </p:nvSpPr>
        <p:spPr>
          <a:xfrm>
            <a:off x="3557016" y="495604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XGBoost vs ANN, with and without</a:t>
            </a:r>
            <a:endParaRPr b="0" i="0" sz="1200" u="none" cap="none" strike="noStrike">
              <a:solidFill>
                <a:schemeClr val="dk1"/>
              </a:solidFill>
              <a:latin typeface="Calibri"/>
              <a:ea typeface="Calibri"/>
              <a:cs typeface="Calibri"/>
              <a:sym typeface="Calibri"/>
            </a:endParaRPr>
          </a:p>
        </p:txBody>
      </p:sp>
      <p:sp>
        <p:nvSpPr>
          <p:cNvPr id="190" name="Google Shape;190;p8"/>
          <p:cNvSpPr/>
          <p:nvPr/>
        </p:nvSpPr>
        <p:spPr>
          <a:xfrm>
            <a:off x="5733288" y="4709160"/>
            <a:ext cx="274320" cy="228600"/>
          </a:xfrm>
          <a:prstGeom prst="rightArrow">
            <a:avLst>
              <a:gd fmla="val 50000" name="adj1"/>
              <a:gd fmla="val 50000" name="adj2"/>
            </a:avLst>
          </a:prstGeom>
          <a:solidFill>
            <a:srgbClr val="8C97AB"/>
          </a:solidFill>
          <a:ln cap="flat" cmpd="sng" w="12700">
            <a:solidFill>
              <a:srgbClr val="8C97A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8"/>
          <p:cNvSpPr/>
          <p:nvPr/>
        </p:nvSpPr>
        <p:spPr>
          <a:xfrm>
            <a:off x="6099048" y="3931920"/>
            <a:ext cx="2286000" cy="1783080"/>
          </a:xfrm>
          <a:prstGeom prst="roundRect">
            <a:avLst>
              <a:gd fmla="val 6154" name="adj"/>
            </a:avLst>
          </a:prstGeom>
          <a:solidFill>
            <a:srgbClr val="1B2640"/>
          </a:solidFill>
          <a:ln cap="flat" cmpd="sng" w="254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8"/>
          <p:cNvSpPr txBox="1"/>
          <p:nvPr/>
        </p:nvSpPr>
        <p:spPr>
          <a:xfrm>
            <a:off x="6300216" y="4114800"/>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Step 7</a:t>
            </a:r>
            <a:endParaRPr b="0" i="0" sz="1200" u="none" cap="none" strike="noStrike">
              <a:solidFill>
                <a:schemeClr val="dk1"/>
              </a:solidFill>
              <a:latin typeface="Calibri"/>
              <a:ea typeface="Calibri"/>
              <a:cs typeface="Calibri"/>
              <a:sym typeface="Calibri"/>
            </a:endParaRPr>
          </a:p>
        </p:txBody>
      </p:sp>
      <p:sp>
        <p:nvSpPr>
          <p:cNvPr id="193" name="Google Shape;193;p8"/>
          <p:cNvSpPr txBox="1"/>
          <p:nvPr/>
        </p:nvSpPr>
        <p:spPr>
          <a:xfrm>
            <a:off x="6300216" y="4407408"/>
            <a:ext cx="188366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600"/>
              <a:buFont typeface="Arial"/>
              <a:buNone/>
            </a:pPr>
            <a:r>
              <a:rPr b="1" i="0" lang="en-US" sz="1600" u="none" cap="none" strike="noStrike">
                <a:solidFill>
                  <a:srgbClr val="F5F3EE"/>
                </a:solidFill>
                <a:latin typeface="Arial"/>
                <a:ea typeface="Arial"/>
                <a:cs typeface="Arial"/>
                <a:sym typeface="Arial"/>
              </a:rPr>
              <a:t>Final model</a:t>
            </a:r>
            <a:endParaRPr b="0" i="0" sz="1600" u="none" cap="none" strike="noStrike">
              <a:solidFill>
                <a:schemeClr val="dk1"/>
              </a:solidFill>
              <a:latin typeface="Calibri"/>
              <a:ea typeface="Calibri"/>
              <a:cs typeface="Calibri"/>
              <a:sym typeface="Calibri"/>
            </a:endParaRPr>
          </a:p>
        </p:txBody>
      </p:sp>
      <p:sp>
        <p:nvSpPr>
          <p:cNvPr id="194" name="Google Shape;194;p8"/>
          <p:cNvSpPr txBox="1"/>
          <p:nvPr/>
        </p:nvSpPr>
        <p:spPr>
          <a:xfrm>
            <a:off x="6300216" y="4956048"/>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200"/>
              <a:buFont typeface="Arial"/>
              <a:buNone/>
            </a:pPr>
            <a:r>
              <a:rPr b="0" i="0" lang="en-US" sz="1200" u="none" cap="none" strike="noStrike">
                <a:solidFill>
                  <a:srgbClr val="C3CCDA"/>
                </a:solidFill>
                <a:latin typeface="Arial"/>
                <a:ea typeface="Arial"/>
                <a:cs typeface="Arial"/>
                <a:sym typeface="Arial"/>
              </a:rPr>
              <a:t>Threshold choice and SHAP</a:t>
            </a:r>
            <a:endParaRPr b="0" i="0" sz="1200" u="none" cap="none" strike="noStrike">
              <a:solidFill>
                <a:schemeClr val="dk1"/>
              </a:solidFill>
              <a:latin typeface="Calibri"/>
              <a:ea typeface="Calibri"/>
              <a:cs typeface="Calibri"/>
              <a:sym typeface="Calibri"/>
            </a:endParaRPr>
          </a:p>
        </p:txBody>
      </p:sp>
      <p:sp>
        <p:nvSpPr>
          <p:cNvPr id="195" name="Google Shape;195;p8"/>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196" name="Google Shape;196;p8"/>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6</a:t>
            </a:r>
            <a:endParaRPr b="0" i="0" sz="1100" u="none" cap="none" strike="noStrike">
              <a:solidFill>
                <a:schemeClr val="dk1"/>
              </a:solidFill>
              <a:latin typeface="Calibri"/>
              <a:ea typeface="Calibri"/>
              <a:cs typeface="Calibri"/>
              <a:sym typeface="Calibri"/>
            </a:endParaRPr>
          </a:p>
        </p:txBody>
      </p:sp>
      <p:sp>
        <p:nvSpPr>
          <p:cNvPr id="197" name="Google Shape;197;p8"/>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Remas Almutairi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
                                        </p:tgtEl>
                                        <p:attrNameLst>
                                          <p:attrName>style.visibility</p:attrName>
                                        </p:attrNameLst>
                                      </p:cBhvr>
                                      <p:to>
                                        <p:strVal val="visible"/>
                                      </p:to>
                                    </p:set>
                                    <p:animEffect filter="fade" transition="in">
                                      <p:cBhvr>
                                        <p:cTn dur="600"/>
                                        <p:tgtEl>
                                          <p:spTgt spid="162"/>
                                        </p:tgtEl>
                                      </p:cBhvr>
                                    </p:animEffect>
                                  </p:childTnLst>
                                </p:cTn>
                              </p:par>
                              <p:par>
                                <p:cTn fill="hold" nodeType="withEffect" presetClass="entr" presetID="10" presetSubtype="0">
                                  <p:stCondLst>
                                    <p:cond delay="0"/>
                                  </p:stCondLst>
                                  <p:childTnLst>
                                    <p:set>
                                      <p:cBhvr>
                                        <p:cTn dur="1" fill="hold">
                                          <p:stCondLst>
                                            <p:cond delay="0"/>
                                          </p:stCondLst>
                                        </p:cTn>
                                        <p:tgtEl>
                                          <p:spTgt spid="163"/>
                                        </p:tgtEl>
                                        <p:attrNameLst>
                                          <p:attrName>style.visibility</p:attrName>
                                        </p:attrNameLst>
                                      </p:cBhvr>
                                      <p:to>
                                        <p:strVal val="visible"/>
                                      </p:to>
                                    </p:set>
                                    <p:animEffect filter="fade" transition="in">
                                      <p:cBhvr>
                                        <p:cTn dur="600"/>
                                        <p:tgtEl>
                                          <p:spTgt spid="163"/>
                                        </p:tgtEl>
                                      </p:cBhvr>
                                    </p:animEffect>
                                  </p:childTnLst>
                                </p:cTn>
                              </p:par>
                              <p:par>
                                <p:cTn fill="hold" nodeType="withEffect" presetClass="entr" presetID="10" presetSubtype="0">
                                  <p:stCondLst>
                                    <p:cond delay="0"/>
                                  </p:stCondLst>
                                  <p:childTnLst>
                                    <p:set>
                                      <p:cBhvr>
                                        <p:cTn dur="1" fill="hold">
                                          <p:stCondLst>
                                            <p:cond delay="0"/>
                                          </p:stCondLst>
                                        </p:cTn>
                                        <p:tgtEl>
                                          <p:spTgt spid="164"/>
                                        </p:tgtEl>
                                        <p:attrNameLst>
                                          <p:attrName>style.visibility</p:attrName>
                                        </p:attrNameLst>
                                      </p:cBhvr>
                                      <p:to>
                                        <p:strVal val="visible"/>
                                      </p:to>
                                    </p:set>
                                    <p:animEffect filter="fade" transition="in">
                                      <p:cBhvr>
                                        <p:cTn dur="600"/>
                                        <p:tgtEl>
                                          <p:spTgt spid="164"/>
                                        </p:tgtEl>
                                      </p:cBhvr>
                                    </p:animEffect>
                                  </p:childTnLst>
                                </p:cTn>
                              </p:par>
                              <p:par>
                                <p:cTn fill="hold" nodeType="withEffect" presetClass="entr" presetID="10" presetSubtype="0">
                                  <p:stCondLst>
                                    <p:cond delay="0"/>
                                  </p:stCondLst>
                                  <p:childTnLst>
                                    <p:set>
                                      <p:cBhvr>
                                        <p:cTn dur="1" fill="hold">
                                          <p:stCondLst>
                                            <p:cond delay="0"/>
                                          </p:stCondLst>
                                        </p:cTn>
                                        <p:tgtEl>
                                          <p:spTgt spid="165"/>
                                        </p:tgtEl>
                                        <p:attrNameLst>
                                          <p:attrName>style.visibility</p:attrName>
                                        </p:attrNameLst>
                                      </p:cBhvr>
                                      <p:to>
                                        <p:strVal val="visible"/>
                                      </p:to>
                                    </p:set>
                                    <p:animEffect filter="fade" transition="in">
                                      <p:cBhvr>
                                        <p:cTn dur="600"/>
                                        <p:tgtEl>
                                          <p:spTgt spid="1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
                                        </p:tgtEl>
                                        <p:attrNameLst>
                                          <p:attrName>style.visibility</p:attrName>
                                        </p:attrNameLst>
                                      </p:cBhvr>
                                      <p:to>
                                        <p:strVal val="visible"/>
                                      </p:to>
                                    </p:set>
                                    <p:animEffect filter="fade" transition="in">
                                      <p:cBhvr>
                                        <p:cTn dur="600"/>
                                        <p:tgtEl>
                                          <p:spTgt spid="167"/>
                                        </p:tgtEl>
                                      </p:cBhvr>
                                    </p:animEffect>
                                  </p:childTnLst>
                                </p:cTn>
                              </p:par>
                              <p:par>
                                <p:cTn fill="hold" nodeType="withEffect" presetClass="entr" presetID="10" presetSubtype="0">
                                  <p:stCondLst>
                                    <p:cond delay="0"/>
                                  </p:stCondLst>
                                  <p:childTnLst>
                                    <p:set>
                                      <p:cBhvr>
                                        <p:cTn dur="1" fill="hold">
                                          <p:stCondLst>
                                            <p:cond delay="0"/>
                                          </p:stCondLst>
                                        </p:cTn>
                                        <p:tgtEl>
                                          <p:spTgt spid="168"/>
                                        </p:tgtEl>
                                        <p:attrNameLst>
                                          <p:attrName>style.visibility</p:attrName>
                                        </p:attrNameLst>
                                      </p:cBhvr>
                                      <p:to>
                                        <p:strVal val="visible"/>
                                      </p:to>
                                    </p:set>
                                    <p:animEffect filter="fade" transition="in">
                                      <p:cBhvr>
                                        <p:cTn dur="600"/>
                                        <p:tgtEl>
                                          <p:spTgt spid="168"/>
                                        </p:tgtEl>
                                      </p:cBhvr>
                                    </p:animEffect>
                                  </p:childTnLst>
                                </p:cTn>
                              </p:par>
                              <p:par>
                                <p:cTn fill="hold" nodeType="withEffect" presetClass="entr" presetID="10" presetSubtype="0">
                                  <p:stCondLst>
                                    <p:cond delay="0"/>
                                  </p:stCondLst>
                                  <p:childTnLst>
                                    <p:set>
                                      <p:cBhvr>
                                        <p:cTn dur="1" fill="hold">
                                          <p:stCondLst>
                                            <p:cond delay="0"/>
                                          </p:stCondLst>
                                        </p:cTn>
                                        <p:tgtEl>
                                          <p:spTgt spid="169"/>
                                        </p:tgtEl>
                                        <p:attrNameLst>
                                          <p:attrName>style.visibility</p:attrName>
                                        </p:attrNameLst>
                                      </p:cBhvr>
                                      <p:to>
                                        <p:strVal val="visible"/>
                                      </p:to>
                                    </p:set>
                                    <p:animEffect filter="fade" transition="in">
                                      <p:cBhvr>
                                        <p:cTn dur="600"/>
                                        <p:tgtEl>
                                          <p:spTgt spid="169"/>
                                        </p:tgtEl>
                                      </p:cBhvr>
                                    </p:animEffect>
                                  </p:childTnLst>
                                </p:cTn>
                              </p:par>
                              <p:par>
                                <p:cTn fill="hold" nodeType="withEffect" presetClass="entr" presetID="10" presetSubtype="0">
                                  <p:stCondLst>
                                    <p:cond delay="0"/>
                                  </p:stCondLst>
                                  <p:childTnLst>
                                    <p:set>
                                      <p:cBhvr>
                                        <p:cTn dur="1" fill="hold">
                                          <p:stCondLst>
                                            <p:cond delay="0"/>
                                          </p:stCondLst>
                                        </p:cTn>
                                        <p:tgtEl>
                                          <p:spTgt spid="170"/>
                                        </p:tgtEl>
                                        <p:attrNameLst>
                                          <p:attrName>style.visibility</p:attrName>
                                        </p:attrNameLst>
                                      </p:cBhvr>
                                      <p:to>
                                        <p:strVal val="visible"/>
                                      </p:to>
                                    </p:set>
                                    <p:animEffect filter="fade" transition="in">
                                      <p:cBhvr>
                                        <p:cTn dur="600"/>
                                        <p:tgtEl>
                                          <p:spTgt spid="170"/>
                                        </p:tgtEl>
                                      </p:cBhvr>
                                    </p:animEffect>
                                  </p:childTnLst>
                                </p:cTn>
                              </p:par>
                              <p:par>
                                <p:cTn fill="hold" nodeType="withEffect" presetClass="entr" presetID="10" presetSubtype="0">
                                  <p:stCondLst>
                                    <p:cond delay="0"/>
                                  </p:stCondLst>
                                  <p:childTnLst>
                                    <p:set>
                                      <p:cBhvr>
                                        <p:cTn dur="1" fill="hold">
                                          <p:stCondLst>
                                            <p:cond delay="0"/>
                                          </p:stCondLst>
                                        </p:cTn>
                                        <p:tgtEl>
                                          <p:spTgt spid="166"/>
                                        </p:tgtEl>
                                        <p:attrNameLst>
                                          <p:attrName>style.visibility</p:attrName>
                                        </p:attrNameLst>
                                      </p:cBhvr>
                                      <p:to>
                                        <p:strVal val="visible"/>
                                      </p:to>
                                    </p:set>
                                    <p:animEffect filter="fade" transition="in">
                                      <p:cBhvr>
                                        <p:cTn dur="600"/>
                                        <p:tgtEl>
                                          <p:spTgt spid="1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
                                        </p:tgtEl>
                                        <p:attrNameLst>
                                          <p:attrName>style.visibility</p:attrName>
                                        </p:attrNameLst>
                                      </p:cBhvr>
                                      <p:to>
                                        <p:strVal val="visible"/>
                                      </p:to>
                                    </p:set>
                                    <p:animEffect filter="fade" transition="in">
                                      <p:cBhvr>
                                        <p:cTn dur="600"/>
                                        <p:tgtEl>
                                          <p:spTgt spid="172"/>
                                        </p:tgtEl>
                                      </p:cBhvr>
                                    </p:animEffect>
                                  </p:childTnLst>
                                </p:cTn>
                              </p:par>
                              <p:par>
                                <p:cTn fill="hold" nodeType="withEffect" presetClass="entr" presetID="10" presetSubtype="0">
                                  <p:stCondLst>
                                    <p:cond delay="0"/>
                                  </p:stCondLst>
                                  <p:childTnLst>
                                    <p:set>
                                      <p:cBhvr>
                                        <p:cTn dur="1" fill="hold">
                                          <p:stCondLst>
                                            <p:cond delay="0"/>
                                          </p:stCondLst>
                                        </p:cTn>
                                        <p:tgtEl>
                                          <p:spTgt spid="173"/>
                                        </p:tgtEl>
                                        <p:attrNameLst>
                                          <p:attrName>style.visibility</p:attrName>
                                        </p:attrNameLst>
                                      </p:cBhvr>
                                      <p:to>
                                        <p:strVal val="visible"/>
                                      </p:to>
                                    </p:set>
                                    <p:animEffect filter="fade" transition="in">
                                      <p:cBhvr>
                                        <p:cTn dur="600"/>
                                        <p:tgtEl>
                                          <p:spTgt spid="173"/>
                                        </p:tgtEl>
                                      </p:cBhvr>
                                    </p:animEffect>
                                  </p:childTnLst>
                                </p:cTn>
                              </p:par>
                              <p:par>
                                <p:cTn fill="hold" nodeType="withEffect" presetClass="entr" presetID="10" presetSubtype="0">
                                  <p:stCondLst>
                                    <p:cond delay="0"/>
                                  </p:stCondLst>
                                  <p:childTnLst>
                                    <p:set>
                                      <p:cBhvr>
                                        <p:cTn dur="1" fill="hold">
                                          <p:stCondLst>
                                            <p:cond delay="0"/>
                                          </p:stCondLst>
                                        </p:cTn>
                                        <p:tgtEl>
                                          <p:spTgt spid="174"/>
                                        </p:tgtEl>
                                        <p:attrNameLst>
                                          <p:attrName>style.visibility</p:attrName>
                                        </p:attrNameLst>
                                      </p:cBhvr>
                                      <p:to>
                                        <p:strVal val="visible"/>
                                      </p:to>
                                    </p:set>
                                    <p:animEffect filter="fade" transition="in">
                                      <p:cBhvr>
                                        <p:cTn dur="600"/>
                                        <p:tgtEl>
                                          <p:spTgt spid="174"/>
                                        </p:tgtEl>
                                      </p:cBhvr>
                                    </p:animEffect>
                                  </p:childTnLst>
                                </p:cTn>
                              </p:par>
                              <p:par>
                                <p:cTn fill="hold" nodeType="withEffect" presetClass="entr" presetID="10" presetSubtype="0">
                                  <p:stCondLst>
                                    <p:cond delay="0"/>
                                  </p:stCondLst>
                                  <p:childTnLst>
                                    <p:set>
                                      <p:cBhvr>
                                        <p:cTn dur="1" fill="hold">
                                          <p:stCondLst>
                                            <p:cond delay="0"/>
                                          </p:stCondLst>
                                        </p:cTn>
                                        <p:tgtEl>
                                          <p:spTgt spid="175"/>
                                        </p:tgtEl>
                                        <p:attrNameLst>
                                          <p:attrName>style.visibility</p:attrName>
                                        </p:attrNameLst>
                                      </p:cBhvr>
                                      <p:to>
                                        <p:strVal val="visible"/>
                                      </p:to>
                                    </p:set>
                                    <p:animEffect filter="fade" transition="in">
                                      <p:cBhvr>
                                        <p:cTn dur="600"/>
                                        <p:tgtEl>
                                          <p:spTgt spid="175"/>
                                        </p:tgtEl>
                                      </p:cBhvr>
                                    </p:animEffect>
                                  </p:childTnLst>
                                </p:cTn>
                              </p:par>
                              <p:par>
                                <p:cTn fill="hold" nodeType="withEffect" presetClass="entr" presetID="10" presetSubtype="0">
                                  <p:stCondLst>
                                    <p:cond delay="0"/>
                                  </p:stCondLst>
                                  <p:childTnLst>
                                    <p:set>
                                      <p:cBhvr>
                                        <p:cTn dur="1" fill="hold">
                                          <p:stCondLst>
                                            <p:cond delay="0"/>
                                          </p:stCondLst>
                                        </p:cTn>
                                        <p:tgtEl>
                                          <p:spTgt spid="171"/>
                                        </p:tgtEl>
                                        <p:attrNameLst>
                                          <p:attrName>style.visibility</p:attrName>
                                        </p:attrNameLst>
                                      </p:cBhvr>
                                      <p:to>
                                        <p:strVal val="visible"/>
                                      </p:to>
                                    </p:set>
                                    <p:animEffect filter="fade" transition="in">
                                      <p:cBhvr>
                                        <p:cTn dur="600"/>
                                        <p:tgtEl>
                                          <p:spTgt spid="1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7"/>
                                        </p:tgtEl>
                                        <p:attrNameLst>
                                          <p:attrName>style.visibility</p:attrName>
                                        </p:attrNameLst>
                                      </p:cBhvr>
                                      <p:to>
                                        <p:strVal val="visible"/>
                                      </p:to>
                                    </p:set>
                                    <p:animEffect filter="fade" transition="in">
                                      <p:cBhvr>
                                        <p:cTn dur="600"/>
                                        <p:tgtEl>
                                          <p:spTgt spid="177"/>
                                        </p:tgtEl>
                                      </p:cBhvr>
                                    </p:animEffect>
                                  </p:childTnLst>
                                </p:cTn>
                              </p:par>
                              <p:par>
                                <p:cTn fill="hold" nodeType="withEffect" presetClass="entr" presetID="10" presetSubtype="0">
                                  <p:stCondLst>
                                    <p:cond delay="0"/>
                                  </p:stCondLst>
                                  <p:childTnLst>
                                    <p:set>
                                      <p:cBhvr>
                                        <p:cTn dur="1" fill="hold">
                                          <p:stCondLst>
                                            <p:cond delay="0"/>
                                          </p:stCondLst>
                                        </p:cTn>
                                        <p:tgtEl>
                                          <p:spTgt spid="178"/>
                                        </p:tgtEl>
                                        <p:attrNameLst>
                                          <p:attrName>style.visibility</p:attrName>
                                        </p:attrNameLst>
                                      </p:cBhvr>
                                      <p:to>
                                        <p:strVal val="visible"/>
                                      </p:to>
                                    </p:set>
                                    <p:animEffect filter="fade" transition="in">
                                      <p:cBhvr>
                                        <p:cTn dur="600"/>
                                        <p:tgtEl>
                                          <p:spTgt spid="178"/>
                                        </p:tgtEl>
                                      </p:cBhvr>
                                    </p:animEffect>
                                  </p:childTnLst>
                                </p:cTn>
                              </p:par>
                              <p:par>
                                <p:cTn fill="hold" nodeType="withEffect" presetClass="entr" presetID="10" presetSubtype="0">
                                  <p:stCondLst>
                                    <p:cond delay="0"/>
                                  </p:stCondLst>
                                  <p:childTnLst>
                                    <p:set>
                                      <p:cBhvr>
                                        <p:cTn dur="1" fill="hold">
                                          <p:stCondLst>
                                            <p:cond delay="0"/>
                                          </p:stCondLst>
                                        </p:cTn>
                                        <p:tgtEl>
                                          <p:spTgt spid="179"/>
                                        </p:tgtEl>
                                        <p:attrNameLst>
                                          <p:attrName>style.visibility</p:attrName>
                                        </p:attrNameLst>
                                      </p:cBhvr>
                                      <p:to>
                                        <p:strVal val="visible"/>
                                      </p:to>
                                    </p:set>
                                    <p:animEffect filter="fade" transition="in">
                                      <p:cBhvr>
                                        <p:cTn dur="600"/>
                                        <p:tgtEl>
                                          <p:spTgt spid="179"/>
                                        </p:tgtEl>
                                      </p:cBhvr>
                                    </p:animEffect>
                                  </p:childTnLst>
                                </p:cTn>
                              </p:par>
                              <p:par>
                                <p:cTn fill="hold" nodeType="withEffect" presetClass="entr" presetID="10" presetSubtype="0">
                                  <p:stCondLst>
                                    <p:cond delay="0"/>
                                  </p:stCondLst>
                                  <p:childTnLst>
                                    <p:set>
                                      <p:cBhvr>
                                        <p:cTn dur="1" fill="hold">
                                          <p:stCondLst>
                                            <p:cond delay="0"/>
                                          </p:stCondLst>
                                        </p:cTn>
                                        <p:tgtEl>
                                          <p:spTgt spid="180"/>
                                        </p:tgtEl>
                                        <p:attrNameLst>
                                          <p:attrName>style.visibility</p:attrName>
                                        </p:attrNameLst>
                                      </p:cBhvr>
                                      <p:to>
                                        <p:strVal val="visible"/>
                                      </p:to>
                                    </p:set>
                                    <p:animEffect filter="fade" transition="in">
                                      <p:cBhvr>
                                        <p:cTn dur="600"/>
                                        <p:tgtEl>
                                          <p:spTgt spid="180"/>
                                        </p:tgtEl>
                                      </p:cBhvr>
                                    </p:animEffect>
                                  </p:childTnLst>
                                </p:cTn>
                              </p:par>
                              <p:par>
                                <p:cTn fill="hold" nodeType="withEffect" presetClass="entr" presetID="10" presetSubtype="0">
                                  <p:stCondLst>
                                    <p:cond delay="0"/>
                                  </p:stCondLst>
                                  <p:childTnLst>
                                    <p:set>
                                      <p:cBhvr>
                                        <p:cTn dur="1" fill="hold">
                                          <p:stCondLst>
                                            <p:cond delay="0"/>
                                          </p:stCondLst>
                                        </p:cTn>
                                        <p:tgtEl>
                                          <p:spTgt spid="176"/>
                                        </p:tgtEl>
                                        <p:attrNameLst>
                                          <p:attrName>style.visibility</p:attrName>
                                        </p:attrNameLst>
                                      </p:cBhvr>
                                      <p:to>
                                        <p:strVal val="visible"/>
                                      </p:to>
                                    </p:set>
                                    <p:animEffect filter="fade" transition="in">
                                      <p:cBhvr>
                                        <p:cTn dur="600"/>
                                        <p:tgtEl>
                                          <p:spTgt spid="1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1"/>
                                        </p:tgtEl>
                                        <p:attrNameLst>
                                          <p:attrName>style.visibility</p:attrName>
                                        </p:attrNameLst>
                                      </p:cBhvr>
                                      <p:to>
                                        <p:strVal val="visible"/>
                                      </p:to>
                                    </p:set>
                                    <p:animEffect filter="fade" transition="in">
                                      <p:cBhvr>
                                        <p:cTn dur="600"/>
                                        <p:tgtEl>
                                          <p:spTgt spid="181"/>
                                        </p:tgtEl>
                                      </p:cBhvr>
                                    </p:animEffect>
                                  </p:childTnLst>
                                </p:cTn>
                              </p:par>
                              <p:par>
                                <p:cTn fill="hold" nodeType="withEffect" presetClass="entr" presetID="10" presetSubtype="0">
                                  <p:stCondLst>
                                    <p:cond delay="0"/>
                                  </p:stCondLst>
                                  <p:childTnLst>
                                    <p:set>
                                      <p:cBhvr>
                                        <p:cTn dur="1" fill="hold">
                                          <p:stCondLst>
                                            <p:cond delay="0"/>
                                          </p:stCondLst>
                                        </p:cTn>
                                        <p:tgtEl>
                                          <p:spTgt spid="182"/>
                                        </p:tgtEl>
                                        <p:attrNameLst>
                                          <p:attrName>style.visibility</p:attrName>
                                        </p:attrNameLst>
                                      </p:cBhvr>
                                      <p:to>
                                        <p:strVal val="visible"/>
                                      </p:to>
                                    </p:set>
                                    <p:animEffect filter="fade" transition="in">
                                      <p:cBhvr>
                                        <p:cTn dur="600"/>
                                        <p:tgtEl>
                                          <p:spTgt spid="182"/>
                                        </p:tgtEl>
                                      </p:cBhvr>
                                    </p:animEffect>
                                  </p:childTnLst>
                                </p:cTn>
                              </p:par>
                              <p:par>
                                <p:cTn fill="hold" nodeType="withEffect" presetClass="entr" presetID="10" presetSubtype="0">
                                  <p:stCondLst>
                                    <p:cond delay="0"/>
                                  </p:stCondLst>
                                  <p:childTnLst>
                                    <p:set>
                                      <p:cBhvr>
                                        <p:cTn dur="1" fill="hold">
                                          <p:stCondLst>
                                            <p:cond delay="0"/>
                                          </p:stCondLst>
                                        </p:cTn>
                                        <p:tgtEl>
                                          <p:spTgt spid="183"/>
                                        </p:tgtEl>
                                        <p:attrNameLst>
                                          <p:attrName>style.visibility</p:attrName>
                                        </p:attrNameLst>
                                      </p:cBhvr>
                                      <p:to>
                                        <p:strVal val="visible"/>
                                      </p:to>
                                    </p:set>
                                    <p:animEffect filter="fade" transition="in">
                                      <p:cBhvr>
                                        <p:cTn dur="600"/>
                                        <p:tgtEl>
                                          <p:spTgt spid="183"/>
                                        </p:tgtEl>
                                      </p:cBhvr>
                                    </p:animEffect>
                                  </p:childTnLst>
                                </p:cTn>
                              </p:par>
                              <p:par>
                                <p:cTn fill="hold" nodeType="withEffect" presetClass="entr" presetID="10" presetSubtype="0">
                                  <p:stCondLst>
                                    <p:cond delay="0"/>
                                  </p:stCondLst>
                                  <p:childTnLst>
                                    <p:set>
                                      <p:cBhvr>
                                        <p:cTn dur="1" fill="hold">
                                          <p:stCondLst>
                                            <p:cond delay="0"/>
                                          </p:stCondLst>
                                        </p:cTn>
                                        <p:tgtEl>
                                          <p:spTgt spid="184"/>
                                        </p:tgtEl>
                                        <p:attrNameLst>
                                          <p:attrName>style.visibility</p:attrName>
                                        </p:attrNameLst>
                                      </p:cBhvr>
                                      <p:to>
                                        <p:strVal val="visible"/>
                                      </p:to>
                                    </p:set>
                                    <p:animEffect filter="fade" transition="in">
                                      <p:cBhvr>
                                        <p:cTn dur="600"/>
                                        <p:tgtEl>
                                          <p:spTgt spid="18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6"/>
                                        </p:tgtEl>
                                        <p:attrNameLst>
                                          <p:attrName>style.visibility</p:attrName>
                                        </p:attrNameLst>
                                      </p:cBhvr>
                                      <p:to>
                                        <p:strVal val="visible"/>
                                      </p:to>
                                    </p:set>
                                    <p:animEffect filter="fade" transition="in">
                                      <p:cBhvr>
                                        <p:cTn dur="600"/>
                                        <p:tgtEl>
                                          <p:spTgt spid="186"/>
                                        </p:tgtEl>
                                      </p:cBhvr>
                                    </p:animEffect>
                                  </p:childTnLst>
                                </p:cTn>
                              </p:par>
                              <p:par>
                                <p:cTn fill="hold" nodeType="withEffect" presetClass="entr" presetID="10" presetSubtype="0">
                                  <p:stCondLst>
                                    <p:cond delay="0"/>
                                  </p:stCondLst>
                                  <p:childTnLst>
                                    <p:set>
                                      <p:cBhvr>
                                        <p:cTn dur="1" fill="hold">
                                          <p:stCondLst>
                                            <p:cond delay="0"/>
                                          </p:stCondLst>
                                        </p:cTn>
                                        <p:tgtEl>
                                          <p:spTgt spid="187"/>
                                        </p:tgtEl>
                                        <p:attrNameLst>
                                          <p:attrName>style.visibility</p:attrName>
                                        </p:attrNameLst>
                                      </p:cBhvr>
                                      <p:to>
                                        <p:strVal val="visible"/>
                                      </p:to>
                                    </p:set>
                                    <p:animEffect filter="fade" transition="in">
                                      <p:cBhvr>
                                        <p:cTn dur="600"/>
                                        <p:tgtEl>
                                          <p:spTgt spid="187"/>
                                        </p:tgtEl>
                                      </p:cBhvr>
                                    </p:animEffect>
                                  </p:childTnLst>
                                </p:cTn>
                              </p:par>
                              <p:par>
                                <p:cTn fill="hold" nodeType="withEffect" presetClass="entr" presetID="10" presetSubtype="0">
                                  <p:stCondLst>
                                    <p:cond delay="0"/>
                                  </p:stCondLst>
                                  <p:childTnLst>
                                    <p:set>
                                      <p:cBhvr>
                                        <p:cTn dur="1" fill="hold">
                                          <p:stCondLst>
                                            <p:cond delay="0"/>
                                          </p:stCondLst>
                                        </p:cTn>
                                        <p:tgtEl>
                                          <p:spTgt spid="188"/>
                                        </p:tgtEl>
                                        <p:attrNameLst>
                                          <p:attrName>style.visibility</p:attrName>
                                        </p:attrNameLst>
                                      </p:cBhvr>
                                      <p:to>
                                        <p:strVal val="visible"/>
                                      </p:to>
                                    </p:set>
                                    <p:animEffect filter="fade" transition="in">
                                      <p:cBhvr>
                                        <p:cTn dur="600"/>
                                        <p:tgtEl>
                                          <p:spTgt spid="188"/>
                                        </p:tgtEl>
                                      </p:cBhvr>
                                    </p:animEffect>
                                  </p:childTnLst>
                                </p:cTn>
                              </p:par>
                              <p:par>
                                <p:cTn fill="hold" nodeType="withEffect" presetClass="entr" presetID="10" presetSubtype="0">
                                  <p:stCondLst>
                                    <p:cond delay="0"/>
                                  </p:stCondLst>
                                  <p:childTnLst>
                                    <p:set>
                                      <p:cBhvr>
                                        <p:cTn dur="1" fill="hold">
                                          <p:stCondLst>
                                            <p:cond delay="0"/>
                                          </p:stCondLst>
                                        </p:cTn>
                                        <p:tgtEl>
                                          <p:spTgt spid="189"/>
                                        </p:tgtEl>
                                        <p:attrNameLst>
                                          <p:attrName>style.visibility</p:attrName>
                                        </p:attrNameLst>
                                      </p:cBhvr>
                                      <p:to>
                                        <p:strVal val="visible"/>
                                      </p:to>
                                    </p:set>
                                    <p:animEffect filter="fade" transition="in">
                                      <p:cBhvr>
                                        <p:cTn dur="600"/>
                                        <p:tgtEl>
                                          <p:spTgt spid="189"/>
                                        </p:tgtEl>
                                      </p:cBhvr>
                                    </p:animEffect>
                                  </p:childTnLst>
                                </p:cTn>
                              </p:par>
                              <p:par>
                                <p:cTn fill="hold" nodeType="withEffect" presetClass="entr" presetID="10" presetSubtype="0">
                                  <p:stCondLst>
                                    <p:cond delay="0"/>
                                  </p:stCondLst>
                                  <p:childTnLst>
                                    <p:set>
                                      <p:cBhvr>
                                        <p:cTn dur="1" fill="hold">
                                          <p:stCondLst>
                                            <p:cond delay="0"/>
                                          </p:stCondLst>
                                        </p:cTn>
                                        <p:tgtEl>
                                          <p:spTgt spid="185"/>
                                        </p:tgtEl>
                                        <p:attrNameLst>
                                          <p:attrName>style.visibility</p:attrName>
                                        </p:attrNameLst>
                                      </p:cBhvr>
                                      <p:to>
                                        <p:strVal val="visible"/>
                                      </p:to>
                                    </p:set>
                                    <p:animEffect filter="fade" transition="in">
                                      <p:cBhvr>
                                        <p:cTn dur="600"/>
                                        <p:tgtEl>
                                          <p:spTgt spid="18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1"/>
                                        </p:tgtEl>
                                        <p:attrNameLst>
                                          <p:attrName>style.visibility</p:attrName>
                                        </p:attrNameLst>
                                      </p:cBhvr>
                                      <p:to>
                                        <p:strVal val="visible"/>
                                      </p:to>
                                    </p:set>
                                    <p:animEffect filter="fade" transition="in">
                                      <p:cBhvr>
                                        <p:cTn dur="600"/>
                                        <p:tgtEl>
                                          <p:spTgt spid="191"/>
                                        </p:tgtEl>
                                      </p:cBhvr>
                                    </p:animEffect>
                                  </p:childTnLst>
                                </p:cTn>
                              </p:par>
                              <p:par>
                                <p:cTn fill="hold" nodeType="withEffect" presetClass="entr" presetID="10" presetSubtype="0">
                                  <p:stCondLst>
                                    <p:cond delay="0"/>
                                  </p:stCondLst>
                                  <p:childTnLst>
                                    <p:set>
                                      <p:cBhvr>
                                        <p:cTn dur="1" fill="hold">
                                          <p:stCondLst>
                                            <p:cond delay="0"/>
                                          </p:stCondLst>
                                        </p:cTn>
                                        <p:tgtEl>
                                          <p:spTgt spid="192"/>
                                        </p:tgtEl>
                                        <p:attrNameLst>
                                          <p:attrName>style.visibility</p:attrName>
                                        </p:attrNameLst>
                                      </p:cBhvr>
                                      <p:to>
                                        <p:strVal val="visible"/>
                                      </p:to>
                                    </p:set>
                                    <p:animEffect filter="fade" transition="in">
                                      <p:cBhvr>
                                        <p:cTn dur="600"/>
                                        <p:tgtEl>
                                          <p:spTgt spid="192"/>
                                        </p:tgtEl>
                                      </p:cBhvr>
                                    </p:animEffect>
                                  </p:childTnLst>
                                </p:cTn>
                              </p:par>
                              <p:par>
                                <p:cTn fill="hold" nodeType="withEffect" presetClass="entr" presetID="10" presetSubtype="0">
                                  <p:stCondLst>
                                    <p:cond delay="0"/>
                                  </p:stCondLst>
                                  <p:childTnLst>
                                    <p:set>
                                      <p:cBhvr>
                                        <p:cTn dur="1" fill="hold">
                                          <p:stCondLst>
                                            <p:cond delay="0"/>
                                          </p:stCondLst>
                                        </p:cTn>
                                        <p:tgtEl>
                                          <p:spTgt spid="193"/>
                                        </p:tgtEl>
                                        <p:attrNameLst>
                                          <p:attrName>style.visibility</p:attrName>
                                        </p:attrNameLst>
                                      </p:cBhvr>
                                      <p:to>
                                        <p:strVal val="visible"/>
                                      </p:to>
                                    </p:set>
                                    <p:animEffect filter="fade" transition="in">
                                      <p:cBhvr>
                                        <p:cTn dur="600"/>
                                        <p:tgtEl>
                                          <p:spTgt spid="193"/>
                                        </p:tgtEl>
                                      </p:cBhvr>
                                    </p:animEffect>
                                  </p:childTnLst>
                                </p:cTn>
                              </p:par>
                              <p:par>
                                <p:cTn fill="hold" nodeType="withEffect" presetClass="entr" presetID="10" presetSubtype="0">
                                  <p:stCondLst>
                                    <p:cond delay="0"/>
                                  </p:stCondLst>
                                  <p:childTnLst>
                                    <p:set>
                                      <p:cBhvr>
                                        <p:cTn dur="1" fill="hold">
                                          <p:stCondLst>
                                            <p:cond delay="0"/>
                                          </p:stCondLst>
                                        </p:cTn>
                                        <p:tgtEl>
                                          <p:spTgt spid="194"/>
                                        </p:tgtEl>
                                        <p:attrNameLst>
                                          <p:attrName>style.visibility</p:attrName>
                                        </p:attrNameLst>
                                      </p:cBhvr>
                                      <p:to>
                                        <p:strVal val="visible"/>
                                      </p:to>
                                    </p:set>
                                    <p:animEffect filter="fade" transition="in">
                                      <p:cBhvr>
                                        <p:cTn dur="600"/>
                                        <p:tgtEl>
                                          <p:spTgt spid="194"/>
                                        </p:tgtEl>
                                      </p:cBhvr>
                                    </p:animEffect>
                                  </p:childTnLst>
                                </p:cTn>
                              </p:par>
                              <p:par>
                                <p:cTn fill="hold" nodeType="withEffect" presetClass="entr" presetID="10" presetSubtype="0">
                                  <p:stCondLst>
                                    <p:cond delay="0"/>
                                  </p:stCondLst>
                                  <p:childTnLst>
                                    <p:set>
                                      <p:cBhvr>
                                        <p:cTn dur="1" fill="hold">
                                          <p:stCondLst>
                                            <p:cond delay="0"/>
                                          </p:stCondLst>
                                        </p:cTn>
                                        <p:tgtEl>
                                          <p:spTgt spid="190"/>
                                        </p:tgtEl>
                                        <p:attrNameLst>
                                          <p:attrName>style.visibility</p:attrName>
                                        </p:attrNameLst>
                                      </p:cBhvr>
                                      <p:to>
                                        <p:strVal val="visible"/>
                                      </p:to>
                                    </p:set>
                                    <p:animEffect filter="fade" transition="in">
                                      <p:cBhvr>
                                        <p:cTn dur="600"/>
                                        <p:tgtEl>
                                          <p:spTgt spid="1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204" name="Shape 204"/>
        <p:cNvGrpSpPr/>
        <p:nvPr/>
      </p:nvGrpSpPr>
      <p:grpSpPr>
        <a:xfrm>
          <a:off x="0" y="0"/>
          <a:ext cx="0" cy="0"/>
          <a:chOff x="0" y="0"/>
          <a:chExt cx="0" cy="0"/>
        </a:xfrm>
      </p:grpSpPr>
      <p:sp>
        <p:nvSpPr>
          <p:cNvPr id="205" name="Google Shape;205;p9"/>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5 · FRAUD NETWORK</a:t>
            </a:r>
            <a:endParaRPr b="0" i="0" sz="1200" u="none" cap="none" strike="noStrike">
              <a:solidFill>
                <a:schemeClr val="dk1"/>
              </a:solidFill>
              <a:latin typeface="Calibri"/>
              <a:ea typeface="Calibri"/>
              <a:cs typeface="Calibri"/>
              <a:sym typeface="Calibri"/>
            </a:endParaRPr>
          </a:p>
        </p:txBody>
      </p:sp>
      <p:sp>
        <p:nvSpPr>
          <p:cNvPr id="206" name="Google Shape;206;p9"/>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35 linked frauds: one card, 73 hours</a:t>
            </a:r>
            <a:endParaRPr b="0" i="0" sz="3200" u="none" cap="none" strike="noStrike">
              <a:solidFill>
                <a:schemeClr val="dk1"/>
              </a:solidFill>
              <a:latin typeface="Calibri"/>
              <a:ea typeface="Calibri"/>
              <a:cs typeface="Calibri"/>
              <a:sym typeface="Calibri"/>
            </a:endParaRPr>
          </a:p>
        </p:txBody>
      </p:sp>
      <p:sp>
        <p:nvSpPr>
          <p:cNvPr id="207" name="Google Shape;207;p9"/>
          <p:cNvSpPr/>
          <p:nvPr/>
        </p:nvSpPr>
        <p:spPr>
          <a:xfrm>
            <a:off x="612648" y="1645920"/>
            <a:ext cx="5486400" cy="4343400"/>
          </a:xfrm>
          <a:prstGeom prst="roundRect">
            <a:avLst>
              <a:gd fmla="val 2105" name="adj"/>
            </a:avLst>
          </a:prstGeom>
          <a:solidFill>
            <a:srgbClr val="FFFFFF"/>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Network graph of the largest fraud group: 35 transactions in two dense clusters joined by a few links" id="208" name="Google Shape;208;p9"/>
          <p:cNvPicPr preferRelativeResize="0"/>
          <p:nvPr/>
        </p:nvPicPr>
        <p:blipFill rotWithShape="1">
          <a:blip r:embed="rId3">
            <a:alphaModFix/>
          </a:blip>
          <a:srcRect b="0" l="0" r="0" t="0"/>
          <a:stretch/>
        </p:blipFill>
        <p:spPr>
          <a:xfrm>
            <a:off x="749808" y="1737360"/>
            <a:ext cx="5212080" cy="3950208"/>
          </a:xfrm>
          <a:prstGeom prst="rect">
            <a:avLst/>
          </a:prstGeom>
          <a:noFill/>
          <a:ln>
            <a:noFill/>
          </a:ln>
        </p:spPr>
      </p:pic>
      <p:sp>
        <p:nvSpPr>
          <p:cNvPr id="209" name="Google Shape;209;p9"/>
          <p:cNvSpPr txBox="1"/>
          <p:nvPr/>
        </p:nvSpPr>
        <p:spPr>
          <a:xfrm>
            <a:off x="6492240" y="1691640"/>
            <a:ext cx="50749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2638"/>
              </a:buClr>
              <a:buSzPts val="1600"/>
              <a:buFont typeface="Arial"/>
              <a:buNone/>
            </a:pPr>
            <a:r>
              <a:rPr b="1" i="0" lang="en-US" sz="1600" u="none" cap="none" strike="noStrike">
                <a:solidFill>
                  <a:srgbClr val="1E2638"/>
                </a:solidFill>
                <a:latin typeface="Arial"/>
                <a:ea typeface="Arial"/>
                <a:cs typeface="Arial"/>
                <a:sym typeface="Arial"/>
              </a:rPr>
              <a:t>Link rule: </a:t>
            </a:r>
            <a:r>
              <a:rPr b="0" i="0" lang="en-US" sz="1600" u="none" cap="none" strike="noStrike">
                <a:solidFill>
                  <a:srgbClr val="1E2638"/>
                </a:solidFill>
                <a:latin typeface="Arial"/>
                <a:ea typeface="Arial"/>
                <a:cs typeface="Arial"/>
                <a:sym typeface="Arial"/>
              </a:rPr>
              <a:t>two fraudulent transactions connect when they share a card and an address within 24 hours.</a:t>
            </a:r>
            <a:endParaRPr b="0" i="0" sz="1600" u="none" cap="none" strike="noStrike">
              <a:solidFill>
                <a:schemeClr val="dk1"/>
              </a:solidFill>
              <a:latin typeface="Calibri"/>
              <a:ea typeface="Calibri"/>
              <a:cs typeface="Calibri"/>
              <a:sym typeface="Calibri"/>
            </a:endParaRPr>
          </a:p>
        </p:txBody>
      </p:sp>
      <p:sp>
        <p:nvSpPr>
          <p:cNvPr id="210" name="Google Shape;210;p9"/>
          <p:cNvSpPr txBox="1"/>
          <p:nvPr/>
        </p:nvSpPr>
        <p:spPr>
          <a:xfrm>
            <a:off x="6492240" y="2697480"/>
            <a:ext cx="22860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3200"/>
              <a:buFont typeface="Arial"/>
              <a:buNone/>
            </a:pPr>
            <a:r>
              <a:rPr b="1" i="0" lang="en-US" sz="3200" u="none" cap="none" strike="noStrike">
                <a:solidFill>
                  <a:srgbClr val="B04A16"/>
                </a:solidFill>
                <a:latin typeface="Arial"/>
                <a:ea typeface="Arial"/>
                <a:cs typeface="Arial"/>
                <a:sym typeface="Arial"/>
              </a:rPr>
              <a:t>7,519</a:t>
            </a:r>
            <a:endParaRPr b="0" i="0" sz="3200" u="none" cap="none" strike="noStrike">
              <a:solidFill>
                <a:schemeClr val="dk1"/>
              </a:solidFill>
              <a:latin typeface="Calibri"/>
              <a:ea typeface="Calibri"/>
              <a:cs typeface="Calibri"/>
              <a:sym typeface="Calibri"/>
            </a:endParaRPr>
          </a:p>
        </p:txBody>
      </p:sp>
      <p:sp>
        <p:nvSpPr>
          <p:cNvPr id="211" name="Google Shape;211;p9"/>
          <p:cNvSpPr txBox="1"/>
          <p:nvPr/>
        </p:nvSpPr>
        <p:spPr>
          <a:xfrm>
            <a:off x="6492240" y="3291840"/>
            <a:ext cx="2286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separate groups</a:t>
            </a:r>
            <a:endParaRPr b="0" i="0" sz="1300" u="none" cap="none" strike="noStrike">
              <a:solidFill>
                <a:schemeClr val="dk1"/>
              </a:solidFill>
              <a:latin typeface="Calibri"/>
              <a:ea typeface="Calibri"/>
              <a:cs typeface="Calibri"/>
              <a:sym typeface="Calibri"/>
            </a:endParaRPr>
          </a:p>
        </p:txBody>
      </p:sp>
      <p:sp>
        <p:nvSpPr>
          <p:cNvPr id="212" name="Google Shape;212;p9"/>
          <p:cNvSpPr txBox="1"/>
          <p:nvPr/>
        </p:nvSpPr>
        <p:spPr>
          <a:xfrm>
            <a:off x="9052560" y="2697480"/>
            <a:ext cx="246888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3200"/>
              <a:buFont typeface="Arial"/>
              <a:buNone/>
            </a:pPr>
            <a:r>
              <a:rPr b="1" i="0" lang="en-US" sz="3200" u="none" cap="none" strike="noStrike">
                <a:solidFill>
                  <a:srgbClr val="B04A16"/>
                </a:solidFill>
                <a:latin typeface="Arial"/>
                <a:ea typeface="Arial"/>
                <a:cs typeface="Arial"/>
                <a:sym typeface="Arial"/>
              </a:rPr>
              <a:t>71%</a:t>
            </a:r>
            <a:endParaRPr b="0" i="0" sz="3200" u="none" cap="none" strike="noStrike">
              <a:solidFill>
                <a:schemeClr val="dk1"/>
              </a:solidFill>
              <a:latin typeface="Calibri"/>
              <a:ea typeface="Calibri"/>
              <a:cs typeface="Calibri"/>
              <a:sym typeface="Calibri"/>
            </a:endParaRPr>
          </a:p>
        </p:txBody>
      </p:sp>
      <p:sp>
        <p:nvSpPr>
          <p:cNvPr id="213" name="Google Shape;213;p9"/>
          <p:cNvSpPr txBox="1"/>
          <p:nvPr/>
        </p:nvSpPr>
        <p:spPr>
          <a:xfrm>
            <a:off x="9052560" y="3291840"/>
            <a:ext cx="24688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of links also share email or device</a:t>
            </a:r>
            <a:endParaRPr b="0" i="0" sz="1300" u="none" cap="none" strike="noStrike">
              <a:solidFill>
                <a:schemeClr val="dk1"/>
              </a:solidFill>
              <a:latin typeface="Calibri"/>
              <a:ea typeface="Calibri"/>
              <a:cs typeface="Calibri"/>
              <a:sym typeface="Calibri"/>
            </a:endParaRPr>
          </a:p>
        </p:txBody>
      </p:sp>
      <p:sp>
        <p:nvSpPr>
          <p:cNvPr id="214" name="Google Shape;214;p9"/>
          <p:cNvSpPr txBox="1"/>
          <p:nvPr/>
        </p:nvSpPr>
        <p:spPr>
          <a:xfrm>
            <a:off x="6492240" y="3977640"/>
            <a:ext cx="507492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500"/>
              <a:buFont typeface="Arial"/>
              <a:buNone/>
            </a:pPr>
            <a:r>
              <a:rPr b="0" i="0" lang="en-US" sz="1500" u="none" cap="none" strike="noStrike">
                <a:solidFill>
                  <a:srgbClr val="3F4A5C"/>
                </a:solidFill>
                <a:latin typeface="Arial"/>
                <a:ea typeface="Arial"/>
                <a:cs typeface="Arial"/>
                <a:sym typeface="Arial"/>
              </a:rPr>
              <a:t>This largest group spent $6,305 in two bursts, consistent with one actor returning.</a:t>
            </a:r>
            <a:endParaRPr b="0" i="0" sz="1500" u="none" cap="none" strike="noStrike">
              <a:solidFill>
                <a:schemeClr val="dk1"/>
              </a:solidFill>
              <a:latin typeface="Calibri"/>
              <a:ea typeface="Calibri"/>
              <a:cs typeface="Calibri"/>
              <a:sym typeface="Calibri"/>
            </a:endParaRPr>
          </a:p>
        </p:txBody>
      </p:sp>
      <p:sp>
        <p:nvSpPr>
          <p:cNvPr id="215" name="Google Shape;215;p9"/>
          <p:cNvSpPr/>
          <p:nvPr/>
        </p:nvSpPr>
        <p:spPr>
          <a:xfrm>
            <a:off x="6492240" y="4800600"/>
            <a:ext cx="5074920" cy="914400"/>
          </a:xfrm>
          <a:prstGeom prst="roundRect">
            <a:avLst>
              <a:gd fmla="val 8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9"/>
          <p:cNvSpPr txBox="1"/>
          <p:nvPr/>
        </p:nvSpPr>
        <p:spPr>
          <a:xfrm>
            <a:off x="6675120" y="4910328"/>
            <a:ext cx="47091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300"/>
              <a:buFont typeface="Arial"/>
              <a:buNone/>
            </a:pPr>
            <a:r>
              <a:rPr b="0" i="0" lang="en-US" sz="1300" u="none" cap="none" strike="noStrike">
                <a:solidFill>
                  <a:srgbClr val="1E2638"/>
                </a:solidFill>
                <a:latin typeface="Arial"/>
                <a:ea typeface="Arial"/>
                <a:cs typeface="Arial"/>
                <a:sym typeface="Arial"/>
              </a:rPr>
              <a:t>Exploratory only: this graph uses the fraud labels, so feeding it to the model would leak the answer.</a:t>
            </a:r>
            <a:endParaRPr b="0" i="0" sz="1300" u="none" cap="none" strike="noStrike">
              <a:solidFill>
                <a:schemeClr val="dk1"/>
              </a:solidFill>
              <a:latin typeface="Calibri"/>
              <a:ea typeface="Calibri"/>
              <a:cs typeface="Calibri"/>
              <a:sym typeface="Calibri"/>
            </a:endParaRPr>
          </a:p>
        </p:txBody>
      </p:sp>
      <p:sp>
        <p:nvSpPr>
          <p:cNvPr id="217" name="Google Shape;217;p9"/>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12,922 fraud transactions with card and address</a:t>
            </a:r>
            <a:endParaRPr b="0" i="0" sz="1100" u="none" cap="none" strike="noStrike">
              <a:solidFill>
                <a:schemeClr val="dk1"/>
              </a:solidFill>
              <a:latin typeface="Calibri"/>
              <a:ea typeface="Calibri"/>
              <a:cs typeface="Calibri"/>
              <a:sym typeface="Calibri"/>
            </a:endParaRPr>
          </a:p>
        </p:txBody>
      </p:sp>
      <p:sp>
        <p:nvSpPr>
          <p:cNvPr id="218" name="Google Shape;218;p9"/>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7</a:t>
            </a:r>
            <a:endParaRPr b="0" i="0" sz="1100" u="none" cap="none" strike="noStrike">
              <a:solidFill>
                <a:schemeClr val="dk1"/>
              </a:solidFill>
              <a:latin typeface="Calibri"/>
              <a:ea typeface="Calibri"/>
              <a:cs typeface="Calibri"/>
              <a:sym typeface="Calibri"/>
            </a:endParaRPr>
          </a:p>
        </p:txBody>
      </p:sp>
      <p:sp>
        <p:nvSpPr>
          <p:cNvPr id="219" name="Google Shape;219;p9"/>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9"/>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9"/>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Remas Almutairi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226" name="Shape 226"/>
        <p:cNvGrpSpPr/>
        <p:nvPr/>
      </p:nvGrpSpPr>
      <p:grpSpPr>
        <a:xfrm>
          <a:off x="0" y="0"/>
          <a:ext cx="0" cy="0"/>
          <a:chOff x="0" y="0"/>
          <a:chExt cx="0" cy="0"/>
        </a:xfrm>
      </p:grpSpPr>
      <p:sp>
        <p:nvSpPr>
          <p:cNvPr id="227" name="Google Shape;227;p10"/>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6 · FEATURE ENGINEERING</a:t>
            </a:r>
            <a:endParaRPr b="0" i="0" sz="1200" u="none" cap="none" strike="noStrike">
              <a:solidFill>
                <a:schemeClr val="dk1"/>
              </a:solidFill>
              <a:latin typeface="Calibri"/>
              <a:ea typeface="Calibri"/>
              <a:cs typeface="Calibri"/>
              <a:sym typeface="Calibri"/>
            </a:endParaRPr>
          </a:p>
        </p:txBody>
      </p:sp>
      <p:sp>
        <p:nvSpPr>
          <p:cNvPr id="228" name="Google Shape;228;p10"/>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Five label-free relationship features</a:t>
            </a:r>
            <a:endParaRPr b="0" i="0" sz="3200" u="none" cap="none" strike="noStrike">
              <a:solidFill>
                <a:schemeClr val="dk1"/>
              </a:solidFill>
              <a:latin typeface="Calibri"/>
              <a:ea typeface="Calibri"/>
              <a:cs typeface="Calibri"/>
              <a:sym typeface="Calibri"/>
            </a:endParaRPr>
          </a:p>
        </p:txBody>
      </p:sp>
      <p:sp>
        <p:nvSpPr>
          <p:cNvPr id="229" name="Google Shape;229;p10"/>
          <p:cNvSpPr txBox="1"/>
          <p:nvPr/>
        </p:nvSpPr>
        <p:spPr>
          <a:xfrm>
            <a:off x="612648" y="1645920"/>
            <a:ext cx="7863840"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600"/>
              <a:buFont typeface="Arial"/>
              <a:buNone/>
            </a:pPr>
            <a:r>
              <a:rPr b="0" i="0" lang="en-US" sz="1600" u="none" cap="none" strike="noStrike">
                <a:solidFill>
                  <a:srgbClr val="C3CCDA"/>
                </a:solidFill>
                <a:latin typeface="Arial"/>
                <a:ea typeface="Arial"/>
                <a:cs typeface="Arial"/>
                <a:sym typeface="Arial"/>
              </a:rPr>
              <a:t>For each transaction: how many </a:t>
            </a:r>
            <a:r>
              <a:rPr b="1" i="0" lang="en-US" sz="1600" u="none" cap="none" strike="noStrike">
                <a:solidFill>
                  <a:srgbClr val="F5F3EE"/>
                </a:solidFill>
                <a:latin typeface="Arial"/>
                <a:ea typeface="Arial"/>
                <a:cs typeface="Arial"/>
                <a:sym typeface="Arial"/>
              </a:rPr>
              <a:t>earlier</a:t>
            </a:r>
            <a:r>
              <a:rPr b="0" i="0" lang="en-US" sz="1600" u="none" cap="none" strike="noStrike">
                <a:solidFill>
                  <a:srgbClr val="C3CCDA"/>
                </a:solidFill>
                <a:latin typeface="Arial"/>
                <a:ea typeface="Arial"/>
                <a:cs typeface="Arial"/>
                <a:sym typeface="Arial"/>
              </a:rPr>
              <a:t> transactions in the last 24 hours shared the same identifier? The fraud label is never used.</a:t>
            </a:r>
            <a:endParaRPr b="0" i="0" sz="1600" u="none" cap="none" strike="noStrike">
              <a:solidFill>
                <a:schemeClr val="dk1"/>
              </a:solidFill>
              <a:latin typeface="Calibri"/>
              <a:ea typeface="Calibri"/>
              <a:cs typeface="Calibri"/>
              <a:sym typeface="Calibri"/>
            </a:endParaRPr>
          </a:p>
        </p:txBody>
      </p:sp>
      <p:graphicFrame>
        <p:nvGraphicFramePr>
          <p:cNvPr id="230" name="Google Shape;230;p10"/>
          <p:cNvGraphicFramePr/>
          <p:nvPr/>
        </p:nvGraphicFramePr>
        <p:xfrm>
          <a:off x="612648" y="2651760"/>
          <a:ext cx="3000000" cy="3000000"/>
        </p:xfrm>
        <a:graphic>
          <a:graphicData uri="http://schemas.openxmlformats.org/drawingml/2006/table">
            <a:tbl>
              <a:tblPr>
                <a:noFill/>
                <a:tableStyleId>{36B4E6FC-EE3A-4228-97BC-7198E92D1EF7}</a:tableStyleId>
              </a:tblPr>
              <a:tblGrid>
                <a:gridCol w="3657600"/>
                <a:gridCol w="2468875"/>
                <a:gridCol w="1737350"/>
              </a:tblGrid>
              <a:tr h="475500">
                <a:tc>
                  <a:txBody>
                    <a:bodyPr/>
                    <a:lstStyle/>
                    <a:p>
                      <a:pPr indent="0" lvl="0" marL="0" marR="0" rtl="0" algn="l">
                        <a:spcBef>
                          <a:spcPts val="0"/>
                        </a:spcBef>
                        <a:spcAft>
                          <a:spcPts val="0"/>
                        </a:spcAft>
                        <a:buClr>
                          <a:srgbClr val="F5F3EE"/>
                        </a:buClr>
                        <a:buSzPts val="1400"/>
                        <a:buFont typeface="Arial"/>
                        <a:buNone/>
                      </a:pPr>
                      <a:r>
                        <a:rPr b="1" lang="en-US" sz="1400" u="none" cap="none" strike="noStrike">
                          <a:solidFill>
                            <a:srgbClr val="F5F3EE"/>
                          </a:solidFill>
                          <a:latin typeface="Arial"/>
                          <a:ea typeface="Arial"/>
                          <a:cs typeface="Arial"/>
                          <a:sym typeface="Arial"/>
                        </a:rPr>
                        <a:t>Feature</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2C3A5A"/>
                    </a:solidFill>
                  </a:tcPr>
                </a:tc>
                <a:tc>
                  <a:txBody>
                    <a:bodyPr/>
                    <a:lstStyle/>
                    <a:p>
                      <a:pPr indent="0" lvl="0" marL="0" marR="0" rtl="0" algn="l">
                        <a:spcBef>
                          <a:spcPts val="0"/>
                        </a:spcBef>
                        <a:spcAft>
                          <a:spcPts val="0"/>
                        </a:spcAft>
                        <a:buClr>
                          <a:srgbClr val="F5F3EE"/>
                        </a:buClr>
                        <a:buSzPts val="1400"/>
                        <a:buFont typeface="Arial"/>
                        <a:buNone/>
                      </a:pPr>
                      <a:r>
                        <a:rPr b="1" lang="en-US" sz="1400" u="none" cap="none" strike="noStrike">
                          <a:solidFill>
                            <a:srgbClr val="F5F3EE"/>
                          </a:solidFill>
                          <a:latin typeface="Arial"/>
                          <a:ea typeface="Arial"/>
                          <a:cs typeface="Arial"/>
                          <a:sym typeface="Arial"/>
                        </a:rPr>
                        <a:t>Shares the same…</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2C3A5A"/>
                    </a:solidFill>
                  </a:tcPr>
                </a:tc>
                <a:tc>
                  <a:txBody>
                    <a:bodyPr/>
                    <a:lstStyle/>
                    <a:p>
                      <a:pPr indent="0" lvl="0" marL="0" marR="0" rtl="0" algn="l">
                        <a:spcBef>
                          <a:spcPts val="0"/>
                        </a:spcBef>
                        <a:spcAft>
                          <a:spcPts val="0"/>
                        </a:spcAft>
                        <a:buClr>
                          <a:srgbClr val="F5F3EE"/>
                        </a:buClr>
                        <a:buSzPts val="1400"/>
                        <a:buFont typeface="Arial"/>
                        <a:buNone/>
                      </a:pPr>
                      <a:r>
                        <a:rPr b="1" lang="en-US" sz="1400" u="none" cap="none" strike="noStrike">
                          <a:solidFill>
                            <a:srgbClr val="F5F3EE"/>
                          </a:solidFill>
                          <a:latin typeface="Arial"/>
                          <a:ea typeface="Arial"/>
                          <a:cs typeface="Arial"/>
                          <a:sym typeface="Arial"/>
                        </a:rPr>
                        <a:t>With a match</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2C3A5A"/>
                    </a:solidFill>
                  </a:tcPr>
                </a:tc>
              </a:tr>
              <a:tr h="475500">
                <a:tc>
                  <a:txBody>
                    <a:bodyPr/>
                    <a:lstStyle/>
                    <a:p>
                      <a:pPr indent="0" lvl="0" marL="0" marR="0" rtl="0" algn="l">
                        <a:spcBef>
                          <a:spcPts val="0"/>
                        </a:spcBef>
                        <a:spcAft>
                          <a:spcPts val="0"/>
                        </a:spcAft>
                        <a:buClr>
                          <a:srgbClr val="E4E8EF"/>
                        </a:buClr>
                        <a:buSzPts val="1400"/>
                        <a:buFont typeface="Courier New"/>
                        <a:buNone/>
                      </a:pPr>
                      <a:r>
                        <a:rPr lang="en-US" sz="1400" u="none" cap="none" strike="noStrike">
                          <a:solidFill>
                            <a:srgbClr val="E4E8EF"/>
                          </a:solidFill>
                          <a:latin typeface="Courier New"/>
                          <a:ea typeface="Courier New"/>
                          <a:cs typeface="Courier New"/>
                          <a:sym typeface="Courier New"/>
                        </a:rPr>
                        <a:t>card1_prev_count_24h</a:t>
                      </a:r>
                      <a:endParaRPr sz="1400" u="none" cap="none" strike="noStrike">
                        <a:latin typeface="Courier New"/>
                        <a:ea typeface="Courier New"/>
                        <a:cs typeface="Courier New"/>
                        <a:sym typeface="Courier New"/>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l">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card</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r">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78.4%</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r>
              <a:tr h="475500">
                <a:tc>
                  <a:txBody>
                    <a:bodyPr/>
                    <a:lstStyle/>
                    <a:p>
                      <a:pPr indent="0" lvl="0" marL="0" marR="0" rtl="0" algn="l">
                        <a:spcBef>
                          <a:spcPts val="0"/>
                        </a:spcBef>
                        <a:spcAft>
                          <a:spcPts val="0"/>
                        </a:spcAft>
                        <a:buClr>
                          <a:srgbClr val="E4E8EF"/>
                        </a:buClr>
                        <a:buSzPts val="1400"/>
                        <a:buFont typeface="Courier New"/>
                        <a:buNone/>
                      </a:pPr>
                      <a:r>
                        <a:rPr lang="en-US" sz="1400" u="none" cap="none" strike="noStrike">
                          <a:solidFill>
                            <a:srgbClr val="E4E8EF"/>
                          </a:solidFill>
                          <a:latin typeface="Courier New"/>
                          <a:ea typeface="Courier New"/>
                          <a:cs typeface="Courier New"/>
                          <a:sym typeface="Courier New"/>
                        </a:rPr>
                        <a:t>addr1_prev_count_24h</a:t>
                      </a:r>
                      <a:endParaRPr sz="1400" u="none" cap="none" strike="noStrike">
                        <a:latin typeface="Courier New"/>
                        <a:ea typeface="Courier New"/>
                        <a:cs typeface="Courier New"/>
                        <a:sym typeface="Courier New"/>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l">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address</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r">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88.7%</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r>
              <a:tr h="475500">
                <a:tc>
                  <a:txBody>
                    <a:bodyPr/>
                    <a:lstStyle/>
                    <a:p>
                      <a:pPr indent="0" lvl="0" marL="0" marR="0" rtl="0" algn="l">
                        <a:spcBef>
                          <a:spcPts val="0"/>
                        </a:spcBef>
                        <a:spcAft>
                          <a:spcPts val="0"/>
                        </a:spcAft>
                        <a:buClr>
                          <a:srgbClr val="E4E8EF"/>
                        </a:buClr>
                        <a:buSzPts val="1400"/>
                        <a:buFont typeface="Courier New"/>
                        <a:buNone/>
                      </a:pPr>
                      <a:r>
                        <a:rPr lang="en-US" sz="1400" u="none" cap="none" strike="noStrike">
                          <a:solidFill>
                            <a:srgbClr val="E4E8EF"/>
                          </a:solidFill>
                          <a:latin typeface="Courier New"/>
                          <a:ea typeface="Courier New"/>
                          <a:cs typeface="Courier New"/>
                          <a:sym typeface="Courier New"/>
                        </a:rPr>
                        <a:t>email_prev_count_24h</a:t>
                      </a:r>
                      <a:endParaRPr sz="1400" u="none" cap="none" strike="noStrike">
                        <a:latin typeface="Courier New"/>
                        <a:ea typeface="Courier New"/>
                        <a:cs typeface="Courier New"/>
                        <a:sym typeface="Courier New"/>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l">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email domain</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r">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83.7%</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r>
              <a:tr h="475500">
                <a:tc>
                  <a:txBody>
                    <a:bodyPr/>
                    <a:lstStyle/>
                    <a:p>
                      <a:pPr indent="0" lvl="0" marL="0" marR="0" rtl="0" algn="l">
                        <a:spcBef>
                          <a:spcPts val="0"/>
                        </a:spcBef>
                        <a:spcAft>
                          <a:spcPts val="0"/>
                        </a:spcAft>
                        <a:buClr>
                          <a:srgbClr val="E4E8EF"/>
                        </a:buClr>
                        <a:buSzPts val="1400"/>
                        <a:buFont typeface="Courier New"/>
                        <a:buNone/>
                      </a:pPr>
                      <a:r>
                        <a:rPr lang="en-US" sz="1400" u="none" cap="none" strike="noStrike">
                          <a:solidFill>
                            <a:srgbClr val="E4E8EF"/>
                          </a:solidFill>
                          <a:latin typeface="Courier New"/>
                          <a:ea typeface="Courier New"/>
                          <a:cs typeface="Courier New"/>
                          <a:sym typeface="Courier New"/>
                        </a:rPr>
                        <a:t>device_prev_count_24h</a:t>
                      </a:r>
                      <a:endParaRPr sz="1400" u="none" cap="none" strike="noStrike">
                        <a:latin typeface="Courier New"/>
                        <a:ea typeface="Courier New"/>
                        <a:cs typeface="Courier New"/>
                        <a:sym typeface="Courier New"/>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l">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device</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r">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17.8%</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r>
              <a:tr h="475500">
                <a:tc>
                  <a:txBody>
                    <a:bodyPr/>
                    <a:lstStyle/>
                    <a:p>
                      <a:pPr indent="0" lvl="0" marL="0" marR="0" rtl="0" algn="l">
                        <a:spcBef>
                          <a:spcPts val="0"/>
                        </a:spcBef>
                        <a:spcAft>
                          <a:spcPts val="0"/>
                        </a:spcAft>
                        <a:buClr>
                          <a:srgbClr val="E4E8EF"/>
                        </a:buClr>
                        <a:buSzPts val="1400"/>
                        <a:buFont typeface="Courier New"/>
                        <a:buNone/>
                      </a:pPr>
                      <a:r>
                        <a:rPr lang="en-US" sz="1400" u="none" cap="none" strike="noStrike">
                          <a:solidFill>
                            <a:srgbClr val="E4E8EF"/>
                          </a:solidFill>
                          <a:latin typeface="Courier New"/>
                          <a:ea typeface="Courier New"/>
                          <a:cs typeface="Courier New"/>
                          <a:sym typeface="Courier New"/>
                        </a:rPr>
                        <a:t>card_addr_prev_count_24h</a:t>
                      </a:r>
                      <a:endParaRPr sz="1400" u="none" cap="none" strike="noStrike">
                        <a:latin typeface="Courier New"/>
                        <a:ea typeface="Courier New"/>
                        <a:cs typeface="Courier New"/>
                        <a:sym typeface="Courier New"/>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l">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card and address</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c>
                  <a:txBody>
                    <a:bodyPr/>
                    <a:lstStyle/>
                    <a:p>
                      <a:pPr indent="0" lvl="0" marL="0" marR="0" rtl="0" algn="r">
                        <a:spcBef>
                          <a:spcPts val="0"/>
                        </a:spcBef>
                        <a:spcAft>
                          <a:spcPts val="0"/>
                        </a:spcAft>
                        <a:buClr>
                          <a:srgbClr val="E4E8EF"/>
                        </a:buClr>
                        <a:buSzPts val="1400"/>
                        <a:buFont typeface="Arial"/>
                        <a:buNone/>
                      </a:pPr>
                      <a:r>
                        <a:rPr lang="en-US" sz="1400" u="none" cap="none" strike="noStrike">
                          <a:solidFill>
                            <a:srgbClr val="E4E8EF"/>
                          </a:solidFill>
                          <a:latin typeface="Arial"/>
                          <a:ea typeface="Arial"/>
                          <a:cs typeface="Arial"/>
                          <a:sym typeface="Arial"/>
                        </a:rPr>
                        <a:t>49.5%</a:t>
                      </a:r>
                      <a:endParaRPr sz="1400" u="none" cap="none" strike="noStrike">
                        <a:latin typeface="Arial"/>
                        <a:ea typeface="Arial"/>
                        <a:cs typeface="Arial"/>
                        <a:sym typeface="Arial"/>
                      </a:endParaRPr>
                    </a:p>
                  </a:txBody>
                  <a:tcPr marT="0" marB="0" marR="109725" marL="109725" anchor="ctr">
                    <a:lnL cap="flat" cmpd="sng" w="9525">
                      <a:solidFill>
                        <a:srgbClr val="2C3A5A"/>
                      </a:solidFill>
                      <a:prstDash val="solid"/>
                      <a:round/>
                      <a:headEnd len="sm" w="sm" type="none"/>
                      <a:tailEnd len="sm" w="sm" type="none"/>
                    </a:lnL>
                    <a:lnR cap="flat" cmpd="sng" w="9525">
                      <a:solidFill>
                        <a:srgbClr val="2C3A5A"/>
                      </a:solidFill>
                      <a:prstDash val="solid"/>
                      <a:round/>
                      <a:headEnd len="sm" w="sm" type="none"/>
                      <a:tailEnd len="sm" w="sm" type="none"/>
                    </a:lnR>
                    <a:lnT cap="flat" cmpd="sng" w="9525">
                      <a:solidFill>
                        <a:srgbClr val="2C3A5A"/>
                      </a:solidFill>
                      <a:prstDash val="solid"/>
                      <a:round/>
                      <a:headEnd len="sm" w="sm" type="none"/>
                      <a:tailEnd len="sm" w="sm" type="none"/>
                    </a:lnT>
                    <a:lnB cap="flat" cmpd="sng" w="9525">
                      <a:solidFill>
                        <a:srgbClr val="2C3A5A"/>
                      </a:solidFill>
                      <a:prstDash val="solid"/>
                      <a:round/>
                      <a:headEnd len="sm" w="sm" type="none"/>
                      <a:tailEnd len="sm" w="sm" type="none"/>
                    </a:lnB>
                    <a:solidFill>
                      <a:srgbClr val="1B2640"/>
                    </a:solidFill>
                  </a:tcPr>
                </a:tc>
              </a:tr>
            </a:tbl>
          </a:graphicData>
        </a:graphic>
      </p:graphicFrame>
      <p:sp>
        <p:nvSpPr>
          <p:cNvPr id="231" name="Google Shape;231;p10"/>
          <p:cNvSpPr/>
          <p:nvPr/>
        </p:nvSpPr>
        <p:spPr>
          <a:xfrm>
            <a:off x="9436608" y="2670048"/>
            <a:ext cx="1609344" cy="1609344"/>
          </a:xfrm>
          <a:prstGeom prst="ellipse">
            <a:avLst/>
          </a:prstGeom>
          <a:solidFill>
            <a:srgbClr val="1B2640"/>
          </a:solidFill>
          <a:ln cap="flat" cmpd="sng" w="254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0"/>
          <p:cNvSpPr/>
          <p:nvPr/>
        </p:nvSpPr>
        <p:spPr>
          <a:xfrm>
            <a:off x="9390888" y="2624328"/>
            <a:ext cx="1700784" cy="1700784"/>
          </a:xfrm>
          <a:prstGeom prst="blockArc">
            <a:avLst>
              <a:gd fmla="val 16200000" name="adj1"/>
              <a:gd fmla="val 16194000" name="adj2"/>
              <a:gd fmla="val 5000" name="adj3"/>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33" name="Google Shape;233;p10"/>
          <p:cNvCxnSpPr/>
          <p:nvPr/>
        </p:nvCxnSpPr>
        <p:spPr>
          <a:xfrm>
            <a:off x="10241280" y="2779776"/>
            <a:ext cx="914" cy="118872"/>
          </a:xfrm>
          <a:prstGeom prst="straightConnector1">
            <a:avLst/>
          </a:prstGeom>
          <a:noFill/>
          <a:ln cap="flat" cmpd="sng" w="38100">
            <a:solidFill>
              <a:srgbClr val="8C97AB"/>
            </a:solidFill>
            <a:prstDash val="solid"/>
            <a:round/>
            <a:headEnd len="sm" w="sm" type="none"/>
            <a:tailEnd len="sm" w="sm" type="none"/>
          </a:ln>
        </p:spPr>
      </p:cxnSp>
      <p:cxnSp>
        <p:nvCxnSpPr>
          <p:cNvPr id="234" name="Google Shape;234;p10"/>
          <p:cNvCxnSpPr/>
          <p:nvPr/>
        </p:nvCxnSpPr>
        <p:spPr>
          <a:xfrm>
            <a:off x="10817352" y="3474720"/>
            <a:ext cx="118872" cy="914"/>
          </a:xfrm>
          <a:prstGeom prst="straightConnector1">
            <a:avLst/>
          </a:prstGeom>
          <a:noFill/>
          <a:ln cap="flat" cmpd="sng" w="38100">
            <a:solidFill>
              <a:srgbClr val="8C97AB"/>
            </a:solidFill>
            <a:prstDash val="solid"/>
            <a:round/>
            <a:headEnd len="sm" w="sm" type="none"/>
            <a:tailEnd len="sm" w="sm" type="none"/>
          </a:ln>
        </p:spPr>
      </p:cxnSp>
      <p:cxnSp>
        <p:nvCxnSpPr>
          <p:cNvPr id="235" name="Google Shape;235;p10"/>
          <p:cNvCxnSpPr/>
          <p:nvPr/>
        </p:nvCxnSpPr>
        <p:spPr>
          <a:xfrm>
            <a:off x="10241280" y="4050792"/>
            <a:ext cx="914" cy="118872"/>
          </a:xfrm>
          <a:prstGeom prst="straightConnector1">
            <a:avLst/>
          </a:prstGeom>
          <a:noFill/>
          <a:ln cap="flat" cmpd="sng" w="38100">
            <a:solidFill>
              <a:srgbClr val="8C97AB"/>
            </a:solidFill>
            <a:prstDash val="solid"/>
            <a:round/>
            <a:headEnd len="sm" w="sm" type="none"/>
            <a:tailEnd len="sm" w="sm" type="none"/>
          </a:ln>
        </p:spPr>
      </p:cxnSp>
      <p:cxnSp>
        <p:nvCxnSpPr>
          <p:cNvPr id="236" name="Google Shape;236;p10"/>
          <p:cNvCxnSpPr/>
          <p:nvPr/>
        </p:nvCxnSpPr>
        <p:spPr>
          <a:xfrm>
            <a:off x="9546336" y="3474720"/>
            <a:ext cx="118872" cy="914"/>
          </a:xfrm>
          <a:prstGeom prst="straightConnector1">
            <a:avLst/>
          </a:prstGeom>
          <a:noFill/>
          <a:ln cap="flat" cmpd="sng" w="38100">
            <a:solidFill>
              <a:srgbClr val="8C97AB"/>
            </a:solidFill>
            <a:prstDash val="solid"/>
            <a:round/>
            <a:headEnd len="sm" w="sm" type="none"/>
            <a:tailEnd len="sm" w="sm" type="none"/>
          </a:ln>
        </p:spPr>
      </p:cxnSp>
      <p:cxnSp>
        <p:nvCxnSpPr>
          <p:cNvPr id="237" name="Google Shape;237;p10"/>
          <p:cNvCxnSpPr/>
          <p:nvPr/>
        </p:nvCxnSpPr>
        <p:spPr>
          <a:xfrm>
            <a:off x="10241280" y="3474720"/>
            <a:ext cx="336499" cy="914"/>
          </a:xfrm>
          <a:prstGeom prst="straightConnector1">
            <a:avLst/>
          </a:prstGeom>
          <a:noFill/>
          <a:ln cap="flat" cmpd="sng" w="63500">
            <a:solidFill>
              <a:srgbClr val="C3CCDA"/>
            </a:solidFill>
            <a:prstDash val="solid"/>
            <a:round/>
            <a:headEnd len="sm" w="sm" type="none"/>
            <a:tailEnd len="sm" w="sm" type="none"/>
          </a:ln>
        </p:spPr>
      </p:cxnSp>
      <p:sp>
        <p:nvSpPr>
          <p:cNvPr id="238" name="Google Shape;238;p10"/>
          <p:cNvSpPr/>
          <p:nvPr/>
        </p:nvSpPr>
        <p:spPr>
          <a:xfrm>
            <a:off x="9756648" y="2990088"/>
            <a:ext cx="969264" cy="969264"/>
          </a:xfrm>
          <a:prstGeom prst="pie">
            <a:avLst>
              <a:gd fmla="val 15900000" name="adj1"/>
              <a:gd fmla="val 16500000" name="adj2"/>
            </a:avLst>
          </a:prstGeom>
          <a:solidFill>
            <a:srgbClr val="F5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0"/>
          <p:cNvSpPr/>
          <p:nvPr/>
        </p:nvSpPr>
        <p:spPr>
          <a:xfrm>
            <a:off x="10168128" y="3401568"/>
            <a:ext cx="146304" cy="146304"/>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0"/>
          <p:cNvSpPr txBox="1"/>
          <p:nvPr/>
        </p:nvSpPr>
        <p:spPr>
          <a:xfrm>
            <a:off x="9144000" y="4663440"/>
            <a:ext cx="219456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8C97AB"/>
              </a:buClr>
              <a:buSzPts val="1200"/>
              <a:buFont typeface="Arial"/>
              <a:buNone/>
            </a:pPr>
            <a:r>
              <a:rPr b="0" i="0" lang="en-US" sz="1200" u="none" cap="none" strike="noStrike">
                <a:solidFill>
                  <a:srgbClr val="8C97AB"/>
                </a:solidFill>
                <a:latin typeface="Arial"/>
                <a:ea typeface="Arial"/>
                <a:cs typeface="Arial"/>
                <a:sym typeface="Arial"/>
              </a:rPr>
              <a:t>24-hour look-back</a:t>
            </a:r>
            <a:endParaRPr b="0" i="0" sz="1200" u="none" cap="none" strike="noStrike">
              <a:solidFill>
                <a:schemeClr val="dk1"/>
              </a:solidFill>
              <a:latin typeface="Calibri"/>
              <a:ea typeface="Calibri"/>
              <a:cs typeface="Calibri"/>
              <a:sym typeface="Calibri"/>
            </a:endParaRPr>
          </a:p>
        </p:txBody>
      </p:sp>
      <p:sp>
        <p:nvSpPr>
          <p:cNvPr id="241" name="Google Shape;241;p10"/>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242" name="Google Shape;242;p10"/>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8</a:t>
            </a:r>
            <a:endParaRPr b="0" i="0" sz="1100" u="none" cap="none" strike="noStrike">
              <a:solidFill>
                <a:schemeClr val="dk1"/>
              </a:solidFill>
              <a:latin typeface="Calibri"/>
              <a:ea typeface="Calibri"/>
              <a:cs typeface="Calibri"/>
              <a:sym typeface="Calibri"/>
            </a:endParaRPr>
          </a:p>
        </p:txBody>
      </p:sp>
      <p:sp>
        <p:nvSpPr>
          <p:cNvPr id="243" name="Google Shape;243;p10"/>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0"/>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0"/>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Remas Almutairi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2"/>
                                        </p:tgtEl>
                                        <p:attrNameLst>
                                          <p:attrName>style.visibility</p:attrName>
                                        </p:attrNameLst>
                                      </p:cBhvr>
                                      <p:to>
                                        <p:strVal val="visible"/>
                                      </p:to>
                                    </p:set>
                                    <p:animEffect filter="fade" transition="in">
                                      <p:cBhvr>
                                        <p:cTn dur="2400"/>
                                        <p:tgtEl>
                                          <p:spTgt spid="232"/>
                                        </p:tgtEl>
                                      </p:cBhvr>
                                    </p:animEffect>
                                  </p:childTnLst>
                                </p:cTn>
                              </p:par>
                              <p:par>
                                <p:cTn fill="hold" nodeType="withEffect" presetClass="emph" presetID="8" presetSubtype="0">
                                  <p:stCondLst>
                                    <p:cond delay="0"/>
                                  </p:stCondLst>
                                  <p:childTnLst>
                                    <p:animRot by="-21600000">
                                      <p:cBhvr>
                                        <p:cTn dur="2400" fill="hold"/>
                                        <p:tgtEl>
                                          <p:spTgt spid="238"/>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250" name="Shape 250"/>
        <p:cNvGrpSpPr/>
        <p:nvPr/>
      </p:nvGrpSpPr>
      <p:grpSpPr>
        <a:xfrm>
          <a:off x="0" y="0"/>
          <a:ext cx="0" cy="0"/>
          <a:chOff x="0" y="0"/>
          <a:chExt cx="0" cy="0"/>
        </a:xfrm>
      </p:grpSpPr>
      <p:sp>
        <p:nvSpPr>
          <p:cNvPr id="251" name="Google Shape;251;p11"/>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7 · MODELS</a:t>
            </a:r>
            <a:endParaRPr b="0" i="0" sz="1200" u="none" cap="none" strike="noStrike">
              <a:solidFill>
                <a:schemeClr val="dk1"/>
              </a:solidFill>
              <a:latin typeface="Calibri"/>
              <a:ea typeface="Calibri"/>
              <a:cs typeface="Calibri"/>
              <a:sym typeface="Calibri"/>
            </a:endParaRPr>
          </a:p>
        </p:txBody>
      </p:sp>
      <p:sp>
        <p:nvSpPr>
          <p:cNvPr id="252" name="Google Shape;252;p11"/>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XGBoost versus a neural network</a:t>
            </a:r>
            <a:endParaRPr b="0" i="0" sz="3200" u="none" cap="none" strike="noStrike">
              <a:solidFill>
                <a:schemeClr val="dk1"/>
              </a:solidFill>
              <a:latin typeface="Calibri"/>
              <a:ea typeface="Calibri"/>
              <a:cs typeface="Calibri"/>
              <a:sym typeface="Calibri"/>
            </a:endParaRPr>
          </a:p>
        </p:txBody>
      </p:sp>
      <p:sp>
        <p:nvSpPr>
          <p:cNvPr id="253" name="Google Shape;253;p11"/>
          <p:cNvSpPr/>
          <p:nvPr/>
        </p:nvSpPr>
        <p:spPr>
          <a:xfrm>
            <a:off x="612648" y="1691640"/>
            <a:ext cx="5394960" cy="3383280"/>
          </a:xfrm>
          <a:prstGeom prst="roundRect">
            <a:avLst>
              <a:gd fmla="val 3243"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1"/>
          <p:cNvSpPr/>
          <p:nvPr/>
        </p:nvSpPr>
        <p:spPr>
          <a:xfrm>
            <a:off x="932688" y="1965960"/>
            <a:ext cx="457200" cy="45720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txBox="1"/>
          <p:nvPr/>
        </p:nvSpPr>
        <p:spPr>
          <a:xfrm>
            <a:off x="1572768" y="1965960"/>
            <a:ext cx="42062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A2E"/>
              </a:buClr>
              <a:buSzPts val="2200"/>
              <a:buFont typeface="Arial"/>
              <a:buNone/>
            </a:pPr>
            <a:r>
              <a:rPr b="1" i="0" lang="en-US" sz="2200" u="none" cap="none" strike="noStrike">
                <a:solidFill>
                  <a:srgbClr val="111A2E"/>
                </a:solidFill>
                <a:latin typeface="Arial"/>
                <a:ea typeface="Arial"/>
                <a:cs typeface="Arial"/>
                <a:sym typeface="Arial"/>
              </a:rPr>
              <a:t>XGBoost</a:t>
            </a:r>
            <a:endParaRPr b="0" i="0" sz="2200" u="none" cap="none" strike="noStrike">
              <a:solidFill>
                <a:schemeClr val="dk1"/>
              </a:solidFill>
              <a:latin typeface="Calibri"/>
              <a:ea typeface="Calibri"/>
              <a:cs typeface="Calibri"/>
              <a:sym typeface="Calibri"/>
            </a:endParaRPr>
          </a:p>
        </p:txBody>
      </p:sp>
      <p:sp>
        <p:nvSpPr>
          <p:cNvPr id="256" name="Google Shape;256;p11"/>
          <p:cNvSpPr txBox="1"/>
          <p:nvPr/>
        </p:nvSpPr>
        <p:spPr>
          <a:xfrm>
            <a:off x="932688" y="2697480"/>
            <a:ext cx="4846320" cy="21945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300 trees, depth 6, learning rate 0.05</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80% row and column sampling</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Handles missing values natively</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Fraud weighted 27.5×</a:t>
            </a:r>
            <a:endParaRPr b="0" i="0" sz="1600" u="none" cap="none" strike="noStrike">
              <a:solidFill>
                <a:schemeClr val="dk1"/>
              </a:solidFill>
              <a:latin typeface="Calibri"/>
              <a:ea typeface="Calibri"/>
              <a:cs typeface="Calibri"/>
              <a:sym typeface="Calibri"/>
            </a:endParaRPr>
          </a:p>
        </p:txBody>
      </p:sp>
      <p:sp>
        <p:nvSpPr>
          <p:cNvPr id="257" name="Google Shape;257;p11"/>
          <p:cNvSpPr/>
          <p:nvPr/>
        </p:nvSpPr>
        <p:spPr>
          <a:xfrm>
            <a:off x="6190488" y="1691640"/>
            <a:ext cx="5394960" cy="3383280"/>
          </a:xfrm>
          <a:prstGeom prst="roundRect">
            <a:avLst>
              <a:gd fmla="val 3243"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p:nvPr/>
        </p:nvSpPr>
        <p:spPr>
          <a:xfrm>
            <a:off x="6510528" y="1965960"/>
            <a:ext cx="457200" cy="457200"/>
          </a:xfrm>
          <a:prstGeom prst="ellipse">
            <a:avLst/>
          </a:prstGeom>
          <a:solidFill>
            <a:srgbClr val="3B6FD4"/>
          </a:solidFill>
          <a:ln cap="flat" cmpd="sng" w="12700">
            <a:solidFill>
              <a:srgbClr val="3B6F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txBox="1"/>
          <p:nvPr/>
        </p:nvSpPr>
        <p:spPr>
          <a:xfrm>
            <a:off x="7150608" y="1965960"/>
            <a:ext cx="42062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A2E"/>
              </a:buClr>
              <a:buSzPts val="2200"/>
              <a:buFont typeface="Arial"/>
              <a:buNone/>
            </a:pPr>
            <a:r>
              <a:rPr b="1" i="0" lang="en-US" sz="2200" u="none" cap="none" strike="noStrike">
                <a:solidFill>
                  <a:srgbClr val="111A2E"/>
                </a:solidFill>
                <a:latin typeface="Arial"/>
                <a:ea typeface="Arial"/>
                <a:cs typeface="Arial"/>
                <a:sym typeface="Arial"/>
              </a:rPr>
              <a:t>Neural network (ANN)</a:t>
            </a:r>
            <a:endParaRPr b="0" i="0" sz="2200" u="none" cap="none" strike="noStrike">
              <a:solidFill>
                <a:schemeClr val="dk1"/>
              </a:solidFill>
              <a:latin typeface="Calibri"/>
              <a:ea typeface="Calibri"/>
              <a:cs typeface="Calibri"/>
              <a:sym typeface="Calibri"/>
            </a:endParaRPr>
          </a:p>
        </p:txBody>
      </p:sp>
      <p:sp>
        <p:nvSpPr>
          <p:cNvPr id="260" name="Google Shape;260;p11"/>
          <p:cNvSpPr txBox="1"/>
          <p:nvPr/>
        </p:nvSpPr>
        <p:spPr>
          <a:xfrm>
            <a:off x="6510528" y="2697480"/>
            <a:ext cx="4846320" cy="21945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Dense layers 256 → 128 → 64</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Batch normalisation and dropout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Median fill and standard scaling</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600"/>
              <a:buFont typeface="Arial"/>
              <a:buChar char="•"/>
            </a:pPr>
            <a:r>
              <a:rPr b="0" i="0" lang="en-US" sz="1600" u="none" cap="none" strike="noStrike">
                <a:solidFill>
                  <a:srgbClr val="3F4A5C"/>
                </a:solidFill>
                <a:latin typeface="Arial"/>
                <a:ea typeface="Arial"/>
                <a:cs typeface="Arial"/>
                <a:sym typeface="Arial"/>
              </a:rPr>
              <a:t>Early stopping, fraud weighted 27.5×</a:t>
            </a:r>
            <a:endParaRPr b="0" i="0" sz="1600" u="none" cap="none" strike="noStrike">
              <a:solidFill>
                <a:schemeClr val="dk1"/>
              </a:solidFill>
              <a:latin typeface="Calibri"/>
              <a:ea typeface="Calibri"/>
              <a:cs typeface="Calibri"/>
              <a:sym typeface="Calibri"/>
            </a:endParaRPr>
          </a:p>
        </p:txBody>
      </p:sp>
      <p:sp>
        <p:nvSpPr>
          <p:cNvPr id="261" name="Google Shape;261;p11"/>
          <p:cNvSpPr txBox="1"/>
          <p:nvPr/>
        </p:nvSpPr>
        <p:spPr>
          <a:xfrm>
            <a:off x="612648" y="5257800"/>
            <a:ext cx="109728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638"/>
              </a:buClr>
              <a:buSzPts val="1600"/>
              <a:buFont typeface="Arial"/>
              <a:buNone/>
            </a:pPr>
            <a:r>
              <a:rPr b="0" i="0" lang="en-US" sz="1600" u="none" cap="none" strike="noStrike">
                <a:solidFill>
                  <a:srgbClr val="1E2638"/>
                </a:solidFill>
                <a:latin typeface="Arial"/>
                <a:ea typeface="Arial"/>
                <a:cs typeface="Arial"/>
                <a:sym typeface="Arial"/>
              </a:rPr>
              <a:t>Same split, same metrics, same class weight. The only difference inside each pair is the five historical features. We also tried GraphSAGE and RGCN; neither beat XGBoost.</a:t>
            </a:r>
            <a:endParaRPr b="0" i="0" sz="1600" u="none" cap="none" strike="noStrike">
              <a:solidFill>
                <a:schemeClr val="dk1"/>
              </a:solidFill>
              <a:latin typeface="Calibri"/>
              <a:ea typeface="Calibri"/>
              <a:cs typeface="Calibri"/>
              <a:sym typeface="Calibri"/>
            </a:endParaRPr>
          </a:p>
        </p:txBody>
      </p:sp>
      <p:sp>
        <p:nvSpPr>
          <p:cNvPr id="262" name="Google Shape;262;p11"/>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263" name="Google Shape;263;p11"/>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9</a:t>
            </a:r>
            <a:endParaRPr b="0" i="0" sz="1100" u="none" cap="none" strike="noStrike">
              <a:solidFill>
                <a:schemeClr val="dk1"/>
              </a:solidFill>
              <a:latin typeface="Calibri"/>
              <a:ea typeface="Calibri"/>
              <a:cs typeface="Calibri"/>
              <a:sym typeface="Calibri"/>
            </a:endParaRPr>
          </a:p>
        </p:txBody>
      </p:sp>
      <p:sp>
        <p:nvSpPr>
          <p:cNvPr id="264" name="Google Shape;264;p11"/>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1"/>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1"/>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Nada Aljaafari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271" name="Shape 271"/>
        <p:cNvGrpSpPr/>
        <p:nvPr/>
      </p:nvGrpSpPr>
      <p:grpSpPr>
        <a:xfrm>
          <a:off x="0" y="0"/>
          <a:ext cx="0" cy="0"/>
          <a:chOff x="0" y="0"/>
          <a:chExt cx="0" cy="0"/>
        </a:xfrm>
      </p:grpSpPr>
      <p:sp>
        <p:nvSpPr>
          <p:cNvPr id="272" name="Google Shape;272;p12"/>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8 · COMPARISON</a:t>
            </a:r>
            <a:endParaRPr b="0" i="0" sz="1200" u="none" cap="none" strike="noStrike">
              <a:solidFill>
                <a:schemeClr val="dk1"/>
              </a:solidFill>
              <a:latin typeface="Calibri"/>
              <a:ea typeface="Calibri"/>
              <a:cs typeface="Calibri"/>
              <a:sym typeface="Calibri"/>
            </a:endParaRPr>
          </a:p>
        </p:txBody>
      </p:sp>
      <p:sp>
        <p:nvSpPr>
          <p:cNvPr id="273" name="Google Shape;273;p12"/>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XGBoost wins; new features add a little</a:t>
            </a:r>
            <a:endParaRPr b="0" i="0" sz="3200" u="none" cap="none" strike="noStrike">
              <a:solidFill>
                <a:schemeClr val="dk1"/>
              </a:solidFill>
              <a:latin typeface="Calibri"/>
              <a:ea typeface="Calibri"/>
              <a:cs typeface="Calibri"/>
              <a:sym typeface="Calibri"/>
            </a:endParaRPr>
          </a:p>
        </p:txBody>
      </p:sp>
      <p:pic>
        <p:nvPicPr>
          <p:cNvPr id="274" name="Google Shape;274;p12"/>
          <p:cNvPicPr preferRelativeResize="0"/>
          <p:nvPr/>
        </p:nvPicPr>
        <p:blipFill rotWithShape="1">
          <a:blip r:embed="rId3">
            <a:alphaModFix/>
          </a:blip>
          <a:srcRect b="0" l="0" r="0" t="0"/>
          <a:stretch/>
        </p:blipFill>
        <p:spPr>
          <a:xfrm>
            <a:off x="612648" y="1645920"/>
            <a:ext cx="10972800" cy="3566160"/>
          </a:xfrm>
          <a:prstGeom prst="rect">
            <a:avLst/>
          </a:prstGeom>
          <a:noFill/>
          <a:ln>
            <a:noFill/>
          </a:ln>
        </p:spPr>
      </p:pic>
      <p:sp>
        <p:nvSpPr>
          <p:cNvPr id="275" name="Google Shape;275;p12"/>
          <p:cNvSpPr txBox="1"/>
          <p:nvPr/>
        </p:nvSpPr>
        <p:spPr>
          <a:xfrm>
            <a:off x="612648" y="5394960"/>
            <a:ext cx="109728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500"/>
              <a:buFont typeface="Arial"/>
              <a:buNone/>
            </a:pPr>
            <a:r>
              <a:rPr b="0" i="0" lang="en-US" sz="1500" u="none" cap="none" strike="noStrike">
                <a:solidFill>
                  <a:srgbClr val="C3CCDA"/>
                </a:solidFill>
                <a:latin typeface="Arial"/>
                <a:ea typeface="Arial"/>
                <a:cs typeface="Arial"/>
                <a:sym typeface="Arial"/>
              </a:rPr>
              <a:t>Features for XGBoost: </a:t>
            </a:r>
            <a:r>
              <a:rPr b="1" i="0" lang="en-US" sz="1500" u="none" cap="none" strike="noStrike">
                <a:solidFill>
                  <a:srgbClr val="F5F3EE"/>
                </a:solidFill>
                <a:latin typeface="Arial"/>
                <a:ea typeface="Arial"/>
                <a:cs typeface="Arial"/>
                <a:sym typeface="Arial"/>
              </a:rPr>
              <a:t>+0.0017 AP</a:t>
            </a:r>
            <a:r>
              <a:rPr b="0" i="0" lang="en-US" sz="1500" u="none" cap="none" strike="noStrike">
                <a:solidFill>
                  <a:srgbClr val="C3CCDA"/>
                </a:solidFill>
                <a:latin typeface="Arial"/>
                <a:ea typeface="Arial"/>
                <a:cs typeface="Arial"/>
                <a:sym typeface="Arial"/>
              </a:rPr>
              <a:t>. For the ANN: ROC-AUC up 0.011 but AP down 0.011. XGBoost leads the ANN by about 0.07 AP.</a:t>
            </a:r>
            <a:endParaRPr b="0" i="0" sz="1500" u="none" cap="none" strike="noStrike">
              <a:solidFill>
                <a:schemeClr val="dk1"/>
              </a:solidFill>
              <a:latin typeface="Calibri"/>
              <a:ea typeface="Calibri"/>
              <a:cs typeface="Calibri"/>
              <a:sym typeface="Calibri"/>
            </a:endParaRPr>
          </a:p>
        </p:txBody>
      </p:sp>
      <p:sp>
        <p:nvSpPr>
          <p:cNvPr id="276" name="Google Shape;276;p12"/>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Validation period: newest 118,108 transactions</a:t>
            </a:r>
            <a:endParaRPr b="0" i="0" sz="1100" u="none" cap="none" strike="noStrike">
              <a:solidFill>
                <a:schemeClr val="dk1"/>
              </a:solidFill>
              <a:latin typeface="Calibri"/>
              <a:ea typeface="Calibri"/>
              <a:cs typeface="Calibri"/>
              <a:sym typeface="Calibri"/>
            </a:endParaRPr>
          </a:p>
        </p:txBody>
      </p:sp>
      <p:sp>
        <p:nvSpPr>
          <p:cNvPr id="277" name="Google Shape;277;p12"/>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10</a:t>
            </a:r>
            <a:endParaRPr b="0" i="0" sz="1100" u="none" cap="none" strike="noStrike">
              <a:solidFill>
                <a:schemeClr val="dk1"/>
              </a:solidFill>
              <a:latin typeface="Calibri"/>
              <a:ea typeface="Calibri"/>
              <a:cs typeface="Calibri"/>
              <a:sym typeface="Calibri"/>
            </a:endParaRPr>
          </a:p>
        </p:txBody>
      </p:sp>
      <p:sp>
        <p:nvSpPr>
          <p:cNvPr id="278" name="Google Shape;278;p12"/>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2"/>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Nada Aljaafari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74"/>
                                        </p:tgtEl>
                                        <p:attrNameLst>
                                          <p:attrName>style.visibility</p:attrName>
                                        </p:attrNameLst>
                                      </p:cBhvr>
                                      <p:to>
                                        <p:strVal val="visible"/>
                                      </p:to>
                                    </p:set>
                                    <p:animEffect filter="fade" transition="in">
                                      <p:cBhvr>
                                        <p:cTn dur="900"/>
                                        <p:tgtEl>
                                          <p:spTgt spid="2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743B"/>
        </a:solidFill>
      </p:bgPr>
    </p:bg>
    <p:spTree>
      <p:nvGrpSpPr>
        <p:cNvPr id="285" name="Shape 285"/>
        <p:cNvGrpSpPr/>
        <p:nvPr/>
      </p:nvGrpSpPr>
      <p:grpSpPr>
        <a:xfrm>
          <a:off x="0" y="0"/>
          <a:ext cx="0" cy="0"/>
          <a:chOff x="0" y="0"/>
          <a:chExt cx="0" cy="0"/>
        </a:xfrm>
      </p:grpSpPr>
      <p:sp>
        <p:nvSpPr>
          <p:cNvPr id="286" name="Google Shape;286;p13"/>
          <p:cNvSpPr txBox="1"/>
          <p:nvPr/>
        </p:nvSpPr>
        <p:spPr>
          <a:xfrm>
            <a:off x="612648" y="457200"/>
            <a:ext cx="10972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200"/>
              <a:buFont typeface="Arial"/>
              <a:buNone/>
            </a:pPr>
            <a:r>
              <a:rPr b="1" i="0" lang="en-US" sz="1200" u="none" cap="none" strike="noStrike">
                <a:solidFill>
                  <a:srgbClr val="111A2E"/>
                </a:solidFill>
                <a:latin typeface="Arial"/>
                <a:ea typeface="Arial"/>
                <a:cs typeface="Arial"/>
                <a:sym typeface="Arial"/>
              </a:rPr>
              <a:t>9 · FINAL MODEL</a:t>
            </a:r>
            <a:endParaRPr b="0" i="0" sz="1200" u="none" cap="none" strike="noStrike">
              <a:solidFill>
                <a:schemeClr val="dk1"/>
              </a:solidFill>
              <a:latin typeface="Calibri"/>
              <a:ea typeface="Calibri"/>
              <a:cs typeface="Calibri"/>
              <a:sym typeface="Calibri"/>
            </a:endParaRPr>
          </a:p>
        </p:txBody>
      </p:sp>
      <p:sp>
        <p:nvSpPr>
          <p:cNvPr id="287" name="Google Shape;287;p13"/>
          <p:cNvSpPr txBox="1"/>
          <p:nvPr/>
        </p:nvSpPr>
        <p:spPr>
          <a:xfrm>
            <a:off x="612648" y="822960"/>
            <a:ext cx="109728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800"/>
              <a:buFont typeface="Arial"/>
              <a:buNone/>
            </a:pPr>
            <a:r>
              <a:rPr b="1" i="0" lang="en-US" sz="3800" u="none" cap="none" strike="noStrike">
                <a:solidFill>
                  <a:srgbClr val="111A2E"/>
                </a:solidFill>
                <a:latin typeface="Arial"/>
                <a:ea typeface="Arial"/>
                <a:cs typeface="Arial"/>
                <a:sym typeface="Arial"/>
              </a:rPr>
              <a:t>XGBoost + historical features</a:t>
            </a:r>
            <a:endParaRPr b="0" i="0" sz="3800" u="none" cap="none" strike="noStrike">
              <a:solidFill>
                <a:schemeClr val="dk1"/>
              </a:solidFill>
              <a:latin typeface="Calibri"/>
              <a:ea typeface="Calibri"/>
              <a:cs typeface="Calibri"/>
              <a:sym typeface="Calibri"/>
            </a:endParaRPr>
          </a:p>
        </p:txBody>
      </p:sp>
      <p:sp>
        <p:nvSpPr>
          <p:cNvPr id="288" name="Google Shape;288;p13"/>
          <p:cNvSpPr/>
          <p:nvPr/>
        </p:nvSpPr>
        <p:spPr>
          <a:xfrm>
            <a:off x="612648" y="2148840"/>
            <a:ext cx="3529584" cy="2148840"/>
          </a:xfrm>
          <a:prstGeom prst="roundRect">
            <a:avLst>
              <a:gd fmla="val 5106" name="adj"/>
            </a:avLst>
          </a:prstGeom>
          <a:solidFill>
            <a:srgbClr val="F5F3EE"/>
          </a:solidFill>
          <a:ln cap="flat" cmpd="sng" w="12700">
            <a:solidFill>
              <a:srgbClr val="F5F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3"/>
          <p:cNvSpPr txBox="1"/>
          <p:nvPr/>
        </p:nvSpPr>
        <p:spPr>
          <a:xfrm>
            <a:off x="886968" y="2377440"/>
            <a:ext cx="30175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4800"/>
              <a:buFont typeface="Arial"/>
              <a:buNone/>
            </a:pPr>
            <a:r>
              <a:rPr b="1" i="0" lang="en-US" sz="4800" u="none" cap="none" strike="noStrike">
                <a:solidFill>
                  <a:srgbClr val="111A2E"/>
                </a:solidFill>
                <a:latin typeface="Arial"/>
                <a:ea typeface="Arial"/>
                <a:cs typeface="Arial"/>
                <a:sym typeface="Arial"/>
              </a:rPr>
              <a:t>0.521</a:t>
            </a:r>
            <a:endParaRPr b="0" i="0" sz="4800" u="none" cap="none" strike="noStrike">
              <a:solidFill>
                <a:schemeClr val="dk1"/>
              </a:solidFill>
              <a:latin typeface="Calibri"/>
              <a:ea typeface="Calibri"/>
              <a:cs typeface="Calibri"/>
              <a:sym typeface="Calibri"/>
            </a:endParaRPr>
          </a:p>
        </p:txBody>
      </p:sp>
      <p:sp>
        <p:nvSpPr>
          <p:cNvPr id="290" name="Google Shape;290;p13"/>
          <p:cNvSpPr txBox="1"/>
          <p:nvPr/>
        </p:nvSpPr>
        <p:spPr>
          <a:xfrm>
            <a:off x="886968" y="3246120"/>
            <a:ext cx="30175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600"/>
              <a:buFont typeface="Arial"/>
              <a:buNone/>
            </a:pPr>
            <a:r>
              <a:rPr b="1" i="0" lang="en-US" sz="1600" u="none" cap="none" strike="noStrike">
                <a:solidFill>
                  <a:srgbClr val="111A2E"/>
                </a:solidFill>
                <a:latin typeface="Arial"/>
                <a:ea typeface="Arial"/>
                <a:cs typeface="Arial"/>
                <a:sym typeface="Arial"/>
              </a:rPr>
              <a:t>Average Precision</a:t>
            </a:r>
            <a:endParaRPr b="0" i="0" sz="1600" u="none" cap="none" strike="noStrike">
              <a:solidFill>
                <a:schemeClr val="dk1"/>
              </a:solidFill>
              <a:latin typeface="Calibri"/>
              <a:ea typeface="Calibri"/>
              <a:cs typeface="Calibri"/>
              <a:sym typeface="Calibri"/>
            </a:endParaRPr>
          </a:p>
        </p:txBody>
      </p:sp>
      <p:sp>
        <p:nvSpPr>
          <p:cNvPr id="291" name="Google Shape;291;p13"/>
          <p:cNvSpPr txBox="1"/>
          <p:nvPr/>
        </p:nvSpPr>
        <p:spPr>
          <a:xfrm>
            <a:off x="886968" y="3611880"/>
            <a:ext cx="301752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About 15× a random guess (0.034)</a:t>
            </a:r>
            <a:endParaRPr b="0" i="0" sz="1300" u="none" cap="none" strike="noStrike">
              <a:solidFill>
                <a:schemeClr val="dk1"/>
              </a:solidFill>
              <a:latin typeface="Calibri"/>
              <a:ea typeface="Calibri"/>
              <a:cs typeface="Calibri"/>
              <a:sym typeface="Calibri"/>
            </a:endParaRPr>
          </a:p>
        </p:txBody>
      </p:sp>
      <p:sp>
        <p:nvSpPr>
          <p:cNvPr id="292" name="Google Shape;292;p13"/>
          <p:cNvSpPr/>
          <p:nvPr/>
        </p:nvSpPr>
        <p:spPr>
          <a:xfrm>
            <a:off x="4334256" y="2148840"/>
            <a:ext cx="3529584" cy="2148840"/>
          </a:xfrm>
          <a:prstGeom prst="roundRect">
            <a:avLst>
              <a:gd fmla="val 5106" name="adj"/>
            </a:avLst>
          </a:prstGeom>
          <a:solidFill>
            <a:srgbClr val="F5F3EE"/>
          </a:solidFill>
          <a:ln cap="flat" cmpd="sng" w="12700">
            <a:solidFill>
              <a:srgbClr val="F5F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3"/>
          <p:cNvSpPr txBox="1"/>
          <p:nvPr/>
        </p:nvSpPr>
        <p:spPr>
          <a:xfrm>
            <a:off x="4608576" y="2377440"/>
            <a:ext cx="30175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4800"/>
              <a:buFont typeface="Arial"/>
              <a:buNone/>
            </a:pPr>
            <a:r>
              <a:rPr b="1" i="0" lang="en-US" sz="4800" u="none" cap="none" strike="noStrike">
                <a:solidFill>
                  <a:srgbClr val="111A2E"/>
                </a:solidFill>
                <a:latin typeface="Arial"/>
                <a:ea typeface="Arial"/>
                <a:cs typeface="Arial"/>
                <a:sym typeface="Arial"/>
              </a:rPr>
              <a:t>0.909</a:t>
            </a:r>
            <a:endParaRPr b="0" i="0" sz="4800" u="none" cap="none" strike="noStrike">
              <a:solidFill>
                <a:schemeClr val="dk1"/>
              </a:solidFill>
              <a:latin typeface="Calibri"/>
              <a:ea typeface="Calibri"/>
              <a:cs typeface="Calibri"/>
              <a:sym typeface="Calibri"/>
            </a:endParaRPr>
          </a:p>
        </p:txBody>
      </p:sp>
      <p:sp>
        <p:nvSpPr>
          <p:cNvPr id="294" name="Google Shape;294;p13"/>
          <p:cNvSpPr txBox="1"/>
          <p:nvPr/>
        </p:nvSpPr>
        <p:spPr>
          <a:xfrm>
            <a:off x="4608576" y="3246120"/>
            <a:ext cx="30175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600"/>
              <a:buFont typeface="Arial"/>
              <a:buNone/>
            </a:pPr>
            <a:r>
              <a:rPr b="1" i="0" lang="en-US" sz="1600" u="none" cap="none" strike="noStrike">
                <a:solidFill>
                  <a:srgbClr val="111A2E"/>
                </a:solidFill>
                <a:latin typeface="Arial"/>
                <a:ea typeface="Arial"/>
                <a:cs typeface="Arial"/>
                <a:sym typeface="Arial"/>
              </a:rPr>
              <a:t>ROC-AUC</a:t>
            </a:r>
            <a:endParaRPr b="0" i="0" sz="1600" u="none" cap="none" strike="noStrike">
              <a:solidFill>
                <a:schemeClr val="dk1"/>
              </a:solidFill>
              <a:latin typeface="Calibri"/>
              <a:ea typeface="Calibri"/>
              <a:cs typeface="Calibri"/>
              <a:sym typeface="Calibri"/>
            </a:endParaRPr>
          </a:p>
        </p:txBody>
      </p:sp>
      <p:sp>
        <p:nvSpPr>
          <p:cNvPr id="295" name="Google Shape;295;p13"/>
          <p:cNvSpPr txBox="1"/>
          <p:nvPr/>
        </p:nvSpPr>
        <p:spPr>
          <a:xfrm>
            <a:off x="4608576" y="3611880"/>
            <a:ext cx="301752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Best of all four models</a:t>
            </a:r>
            <a:endParaRPr b="0" i="0" sz="1300" u="none" cap="none" strike="noStrike">
              <a:solidFill>
                <a:schemeClr val="dk1"/>
              </a:solidFill>
              <a:latin typeface="Calibri"/>
              <a:ea typeface="Calibri"/>
              <a:cs typeface="Calibri"/>
              <a:sym typeface="Calibri"/>
            </a:endParaRPr>
          </a:p>
        </p:txBody>
      </p:sp>
      <p:sp>
        <p:nvSpPr>
          <p:cNvPr id="296" name="Google Shape;296;p13"/>
          <p:cNvSpPr/>
          <p:nvPr/>
        </p:nvSpPr>
        <p:spPr>
          <a:xfrm>
            <a:off x="8055864" y="2148840"/>
            <a:ext cx="3529584" cy="2148840"/>
          </a:xfrm>
          <a:prstGeom prst="roundRect">
            <a:avLst>
              <a:gd fmla="val 5106" name="adj"/>
            </a:avLst>
          </a:prstGeom>
          <a:solidFill>
            <a:srgbClr val="F5F3EE"/>
          </a:solidFill>
          <a:ln cap="flat" cmpd="sng" w="12700">
            <a:solidFill>
              <a:srgbClr val="F5F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3"/>
          <p:cNvSpPr txBox="1"/>
          <p:nvPr/>
        </p:nvSpPr>
        <p:spPr>
          <a:xfrm>
            <a:off x="8330184" y="2377440"/>
            <a:ext cx="30175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4800"/>
              <a:buFont typeface="Arial"/>
              <a:buNone/>
            </a:pPr>
            <a:r>
              <a:rPr b="1" i="0" lang="en-US" sz="4800" u="none" cap="none" strike="noStrike">
                <a:solidFill>
                  <a:srgbClr val="111A2E"/>
                </a:solidFill>
                <a:latin typeface="Arial"/>
                <a:ea typeface="Arial"/>
                <a:cs typeface="Arial"/>
                <a:sym typeface="Arial"/>
              </a:rPr>
              <a:t>74%</a:t>
            </a:r>
            <a:endParaRPr b="0" i="0" sz="4800" u="none" cap="none" strike="noStrike">
              <a:solidFill>
                <a:schemeClr val="dk1"/>
              </a:solidFill>
              <a:latin typeface="Calibri"/>
              <a:ea typeface="Calibri"/>
              <a:cs typeface="Calibri"/>
              <a:sym typeface="Calibri"/>
            </a:endParaRPr>
          </a:p>
        </p:txBody>
      </p:sp>
      <p:sp>
        <p:nvSpPr>
          <p:cNvPr id="298" name="Google Shape;298;p13"/>
          <p:cNvSpPr txBox="1"/>
          <p:nvPr/>
        </p:nvSpPr>
        <p:spPr>
          <a:xfrm>
            <a:off x="8330184" y="3246120"/>
            <a:ext cx="30175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600"/>
              <a:buFont typeface="Arial"/>
              <a:buNone/>
            </a:pPr>
            <a:r>
              <a:rPr b="1" i="0" lang="en-US" sz="1600" u="none" cap="none" strike="noStrike">
                <a:solidFill>
                  <a:srgbClr val="111A2E"/>
                </a:solidFill>
                <a:latin typeface="Arial"/>
                <a:ea typeface="Arial"/>
                <a:cs typeface="Arial"/>
                <a:sym typeface="Arial"/>
              </a:rPr>
              <a:t>of fraud caught</a:t>
            </a:r>
            <a:endParaRPr b="0" i="0" sz="1600" u="none" cap="none" strike="noStrike">
              <a:solidFill>
                <a:schemeClr val="dk1"/>
              </a:solidFill>
              <a:latin typeface="Calibri"/>
              <a:ea typeface="Calibri"/>
              <a:cs typeface="Calibri"/>
              <a:sym typeface="Calibri"/>
            </a:endParaRPr>
          </a:p>
        </p:txBody>
      </p:sp>
      <p:sp>
        <p:nvSpPr>
          <p:cNvPr id="299" name="Google Shape;299;p13"/>
          <p:cNvSpPr txBox="1"/>
          <p:nvPr/>
        </p:nvSpPr>
        <p:spPr>
          <a:xfrm>
            <a:off x="8330184" y="3611880"/>
            <a:ext cx="301752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3,014 of 4,064 at threshold 0.50</a:t>
            </a:r>
            <a:endParaRPr b="0" i="0" sz="1300" u="none" cap="none" strike="noStrike">
              <a:solidFill>
                <a:schemeClr val="dk1"/>
              </a:solidFill>
              <a:latin typeface="Calibri"/>
              <a:ea typeface="Calibri"/>
              <a:cs typeface="Calibri"/>
              <a:sym typeface="Calibri"/>
            </a:endParaRPr>
          </a:p>
        </p:txBody>
      </p:sp>
      <p:sp>
        <p:nvSpPr>
          <p:cNvPr id="300" name="Google Shape;300;p13"/>
          <p:cNvSpPr txBox="1"/>
          <p:nvPr/>
        </p:nvSpPr>
        <p:spPr>
          <a:xfrm>
            <a:off x="612648" y="4709160"/>
            <a:ext cx="109728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700"/>
              <a:buFont typeface="Arial"/>
              <a:buNone/>
            </a:pPr>
            <a:r>
              <a:rPr b="0" i="0" lang="en-US" sz="1700" u="none" cap="none" strike="noStrike">
                <a:solidFill>
                  <a:srgbClr val="111A2E"/>
                </a:solidFill>
                <a:latin typeface="Arial"/>
                <a:ea typeface="Arial"/>
                <a:cs typeface="Arial"/>
                <a:sym typeface="Arial"/>
              </a:rPr>
              <a:t>Why this one: highest scores, fast to train, handles missing data, and explainable with SHAP. Plain XGBoost is a close, simpler alternative.</a:t>
            </a:r>
            <a:endParaRPr b="0" i="0" sz="1700" u="none" cap="none" strike="noStrike">
              <a:solidFill>
                <a:schemeClr val="dk1"/>
              </a:solidFill>
              <a:latin typeface="Calibri"/>
              <a:ea typeface="Calibri"/>
              <a:cs typeface="Calibri"/>
              <a:sym typeface="Calibri"/>
            </a:endParaRPr>
          </a:p>
        </p:txBody>
      </p:sp>
      <p:sp>
        <p:nvSpPr>
          <p:cNvPr id="301" name="Google Shape;301;p13"/>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11</a:t>
            </a:r>
            <a:endParaRPr b="0" i="0" sz="1100" u="none" cap="none" strike="noStrike">
              <a:solidFill>
                <a:schemeClr val="dk1"/>
              </a:solidFill>
              <a:latin typeface="Calibri"/>
              <a:ea typeface="Calibri"/>
              <a:cs typeface="Calibri"/>
              <a:sym typeface="Calibri"/>
            </a:endParaRPr>
          </a:p>
        </p:txBody>
      </p:sp>
      <p:sp>
        <p:nvSpPr>
          <p:cNvPr id="302" name="Google Shape;302;p13"/>
          <p:cNvSpPr/>
          <p:nvPr/>
        </p:nvSpPr>
        <p:spPr>
          <a:xfrm>
            <a:off x="9025128" y="384048"/>
            <a:ext cx="2560320" cy="329184"/>
          </a:xfrm>
          <a:prstGeom prst="roundRect">
            <a:avLst>
              <a:gd fmla="val 50000" name="adj"/>
            </a:avLst>
          </a:prstGeom>
          <a:solidFill>
            <a:srgbClr val="F5F3EE"/>
          </a:solidFill>
          <a:ln cap="flat" cmpd="sng" w="12700">
            <a:solidFill>
              <a:srgbClr val="F5F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9144000" y="484632"/>
            <a:ext cx="128016" cy="128016"/>
          </a:xfrm>
          <a:prstGeom prst="ellipse">
            <a:avLst/>
          </a:prstGeom>
          <a:solidFill>
            <a:srgbClr val="111A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3"/>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Nada Aljaafari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8"/>
                                        </p:tgtEl>
                                        <p:attrNameLst>
                                          <p:attrName>style.visibility</p:attrName>
                                        </p:attrNameLst>
                                      </p:cBhvr>
                                      <p:to>
                                        <p:strVal val="visible"/>
                                      </p:to>
                                    </p:set>
                                    <p:animEffect filter="fade" transition="in">
                                      <p:cBhvr>
                                        <p:cTn dur="600"/>
                                        <p:tgtEl>
                                          <p:spTgt spid="288"/>
                                        </p:tgtEl>
                                      </p:cBhvr>
                                    </p:animEffect>
                                  </p:childTnLst>
                                </p:cTn>
                              </p:par>
                              <p:par>
                                <p:cTn fill="hold" nodeType="withEffect" presetClass="entr" presetID="10" presetSubtype="0">
                                  <p:stCondLst>
                                    <p:cond delay="0"/>
                                  </p:stCondLst>
                                  <p:childTnLst>
                                    <p:set>
                                      <p:cBhvr>
                                        <p:cTn dur="1" fill="hold">
                                          <p:stCondLst>
                                            <p:cond delay="0"/>
                                          </p:stCondLst>
                                        </p:cTn>
                                        <p:tgtEl>
                                          <p:spTgt spid="289"/>
                                        </p:tgtEl>
                                        <p:attrNameLst>
                                          <p:attrName>style.visibility</p:attrName>
                                        </p:attrNameLst>
                                      </p:cBhvr>
                                      <p:to>
                                        <p:strVal val="visible"/>
                                      </p:to>
                                    </p:set>
                                    <p:animEffect filter="fade" transition="in">
                                      <p:cBhvr>
                                        <p:cTn dur="600"/>
                                        <p:tgtEl>
                                          <p:spTgt spid="289"/>
                                        </p:tgtEl>
                                      </p:cBhvr>
                                    </p:animEffect>
                                  </p:childTnLst>
                                </p:cTn>
                              </p:par>
                              <p:par>
                                <p:cTn fill="hold" nodeType="withEffect" presetClass="entr" presetID="10" presetSubtype="0">
                                  <p:stCondLst>
                                    <p:cond delay="0"/>
                                  </p:stCondLst>
                                  <p:childTnLst>
                                    <p:set>
                                      <p:cBhvr>
                                        <p:cTn dur="1" fill="hold">
                                          <p:stCondLst>
                                            <p:cond delay="0"/>
                                          </p:stCondLst>
                                        </p:cTn>
                                        <p:tgtEl>
                                          <p:spTgt spid="290"/>
                                        </p:tgtEl>
                                        <p:attrNameLst>
                                          <p:attrName>style.visibility</p:attrName>
                                        </p:attrNameLst>
                                      </p:cBhvr>
                                      <p:to>
                                        <p:strVal val="visible"/>
                                      </p:to>
                                    </p:set>
                                    <p:animEffect filter="fade" transition="in">
                                      <p:cBhvr>
                                        <p:cTn dur="600"/>
                                        <p:tgtEl>
                                          <p:spTgt spid="290"/>
                                        </p:tgtEl>
                                      </p:cBhvr>
                                    </p:animEffect>
                                  </p:childTnLst>
                                </p:cTn>
                              </p:par>
                              <p:par>
                                <p:cTn fill="hold" nodeType="withEffect" presetClass="entr" presetID="10" presetSubtype="0">
                                  <p:stCondLst>
                                    <p:cond delay="0"/>
                                  </p:stCondLst>
                                  <p:childTnLst>
                                    <p:set>
                                      <p:cBhvr>
                                        <p:cTn dur="1" fill="hold">
                                          <p:stCondLst>
                                            <p:cond delay="0"/>
                                          </p:stCondLst>
                                        </p:cTn>
                                        <p:tgtEl>
                                          <p:spTgt spid="291"/>
                                        </p:tgtEl>
                                        <p:attrNameLst>
                                          <p:attrName>style.visibility</p:attrName>
                                        </p:attrNameLst>
                                      </p:cBhvr>
                                      <p:to>
                                        <p:strVal val="visible"/>
                                      </p:to>
                                    </p:set>
                                    <p:animEffect filter="fade" transition="in">
                                      <p:cBhvr>
                                        <p:cTn dur="600"/>
                                        <p:tgtEl>
                                          <p:spTgt spid="2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2"/>
                                        </p:tgtEl>
                                        <p:attrNameLst>
                                          <p:attrName>style.visibility</p:attrName>
                                        </p:attrNameLst>
                                      </p:cBhvr>
                                      <p:to>
                                        <p:strVal val="visible"/>
                                      </p:to>
                                    </p:set>
                                    <p:animEffect filter="fade" transition="in">
                                      <p:cBhvr>
                                        <p:cTn dur="600"/>
                                        <p:tgtEl>
                                          <p:spTgt spid="292"/>
                                        </p:tgtEl>
                                      </p:cBhvr>
                                    </p:animEffect>
                                  </p:childTnLst>
                                </p:cTn>
                              </p:par>
                              <p:par>
                                <p:cTn fill="hold" nodeType="withEffect" presetClass="entr" presetID="10" presetSubtype="0">
                                  <p:stCondLst>
                                    <p:cond delay="0"/>
                                  </p:stCondLst>
                                  <p:childTnLst>
                                    <p:set>
                                      <p:cBhvr>
                                        <p:cTn dur="1" fill="hold">
                                          <p:stCondLst>
                                            <p:cond delay="0"/>
                                          </p:stCondLst>
                                        </p:cTn>
                                        <p:tgtEl>
                                          <p:spTgt spid="293"/>
                                        </p:tgtEl>
                                        <p:attrNameLst>
                                          <p:attrName>style.visibility</p:attrName>
                                        </p:attrNameLst>
                                      </p:cBhvr>
                                      <p:to>
                                        <p:strVal val="visible"/>
                                      </p:to>
                                    </p:set>
                                    <p:animEffect filter="fade" transition="in">
                                      <p:cBhvr>
                                        <p:cTn dur="600"/>
                                        <p:tgtEl>
                                          <p:spTgt spid="293"/>
                                        </p:tgtEl>
                                      </p:cBhvr>
                                    </p:animEffect>
                                  </p:childTnLst>
                                </p:cTn>
                              </p:par>
                              <p:par>
                                <p:cTn fill="hold" nodeType="withEffect" presetClass="entr" presetID="10" presetSubtype="0">
                                  <p:stCondLst>
                                    <p:cond delay="0"/>
                                  </p:stCondLst>
                                  <p:childTnLst>
                                    <p:set>
                                      <p:cBhvr>
                                        <p:cTn dur="1" fill="hold">
                                          <p:stCondLst>
                                            <p:cond delay="0"/>
                                          </p:stCondLst>
                                        </p:cTn>
                                        <p:tgtEl>
                                          <p:spTgt spid="294"/>
                                        </p:tgtEl>
                                        <p:attrNameLst>
                                          <p:attrName>style.visibility</p:attrName>
                                        </p:attrNameLst>
                                      </p:cBhvr>
                                      <p:to>
                                        <p:strVal val="visible"/>
                                      </p:to>
                                    </p:set>
                                    <p:animEffect filter="fade" transition="in">
                                      <p:cBhvr>
                                        <p:cTn dur="600"/>
                                        <p:tgtEl>
                                          <p:spTgt spid="294"/>
                                        </p:tgtEl>
                                      </p:cBhvr>
                                    </p:animEffect>
                                  </p:childTnLst>
                                </p:cTn>
                              </p:par>
                              <p:par>
                                <p:cTn fill="hold" nodeType="withEffect" presetClass="entr" presetID="10" presetSubtype="0">
                                  <p:stCondLst>
                                    <p:cond delay="0"/>
                                  </p:stCondLst>
                                  <p:childTnLst>
                                    <p:set>
                                      <p:cBhvr>
                                        <p:cTn dur="1" fill="hold">
                                          <p:stCondLst>
                                            <p:cond delay="0"/>
                                          </p:stCondLst>
                                        </p:cTn>
                                        <p:tgtEl>
                                          <p:spTgt spid="295"/>
                                        </p:tgtEl>
                                        <p:attrNameLst>
                                          <p:attrName>style.visibility</p:attrName>
                                        </p:attrNameLst>
                                      </p:cBhvr>
                                      <p:to>
                                        <p:strVal val="visible"/>
                                      </p:to>
                                    </p:set>
                                    <p:animEffect filter="fade" transition="in">
                                      <p:cBhvr>
                                        <p:cTn dur="600"/>
                                        <p:tgtEl>
                                          <p:spTgt spid="2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6"/>
                                        </p:tgtEl>
                                        <p:attrNameLst>
                                          <p:attrName>style.visibility</p:attrName>
                                        </p:attrNameLst>
                                      </p:cBhvr>
                                      <p:to>
                                        <p:strVal val="visible"/>
                                      </p:to>
                                    </p:set>
                                    <p:animEffect filter="fade" transition="in">
                                      <p:cBhvr>
                                        <p:cTn dur="600"/>
                                        <p:tgtEl>
                                          <p:spTgt spid="296"/>
                                        </p:tgtEl>
                                      </p:cBhvr>
                                    </p:animEffect>
                                  </p:childTnLst>
                                </p:cTn>
                              </p:par>
                              <p:par>
                                <p:cTn fill="hold" nodeType="withEffect" presetClass="entr" presetID="10" presetSubtype="0">
                                  <p:stCondLst>
                                    <p:cond delay="0"/>
                                  </p:stCondLst>
                                  <p:childTnLst>
                                    <p:set>
                                      <p:cBhvr>
                                        <p:cTn dur="1" fill="hold">
                                          <p:stCondLst>
                                            <p:cond delay="0"/>
                                          </p:stCondLst>
                                        </p:cTn>
                                        <p:tgtEl>
                                          <p:spTgt spid="297"/>
                                        </p:tgtEl>
                                        <p:attrNameLst>
                                          <p:attrName>style.visibility</p:attrName>
                                        </p:attrNameLst>
                                      </p:cBhvr>
                                      <p:to>
                                        <p:strVal val="visible"/>
                                      </p:to>
                                    </p:set>
                                    <p:animEffect filter="fade" transition="in">
                                      <p:cBhvr>
                                        <p:cTn dur="600"/>
                                        <p:tgtEl>
                                          <p:spTgt spid="297"/>
                                        </p:tgtEl>
                                      </p:cBhvr>
                                    </p:animEffect>
                                  </p:childTnLst>
                                </p:cTn>
                              </p:par>
                              <p:par>
                                <p:cTn fill="hold" nodeType="withEffect" presetClass="entr" presetID="10" presetSubtype="0">
                                  <p:stCondLst>
                                    <p:cond delay="0"/>
                                  </p:stCondLst>
                                  <p:childTnLst>
                                    <p:set>
                                      <p:cBhvr>
                                        <p:cTn dur="1" fill="hold">
                                          <p:stCondLst>
                                            <p:cond delay="0"/>
                                          </p:stCondLst>
                                        </p:cTn>
                                        <p:tgtEl>
                                          <p:spTgt spid="298"/>
                                        </p:tgtEl>
                                        <p:attrNameLst>
                                          <p:attrName>style.visibility</p:attrName>
                                        </p:attrNameLst>
                                      </p:cBhvr>
                                      <p:to>
                                        <p:strVal val="visible"/>
                                      </p:to>
                                    </p:set>
                                    <p:animEffect filter="fade" transition="in">
                                      <p:cBhvr>
                                        <p:cTn dur="600"/>
                                        <p:tgtEl>
                                          <p:spTgt spid="298"/>
                                        </p:tgtEl>
                                      </p:cBhvr>
                                    </p:animEffect>
                                  </p:childTnLst>
                                </p:cTn>
                              </p:par>
                              <p:par>
                                <p:cTn fill="hold" nodeType="withEffect" presetClass="entr" presetID="10" presetSubtype="0">
                                  <p:stCondLst>
                                    <p:cond delay="0"/>
                                  </p:stCondLst>
                                  <p:childTnLst>
                                    <p:set>
                                      <p:cBhvr>
                                        <p:cTn dur="1" fill="hold">
                                          <p:stCondLst>
                                            <p:cond delay="0"/>
                                          </p:stCondLst>
                                        </p:cTn>
                                        <p:tgtEl>
                                          <p:spTgt spid="299"/>
                                        </p:tgtEl>
                                        <p:attrNameLst>
                                          <p:attrName>style.visibility</p:attrName>
                                        </p:attrNameLst>
                                      </p:cBhvr>
                                      <p:to>
                                        <p:strVal val="visible"/>
                                      </p:to>
                                    </p:set>
                                    <p:animEffect filter="fade" transition="in">
                                      <p:cBhvr>
                                        <p:cTn dur="600"/>
                                        <p:tgtEl>
                                          <p:spTgt spid="29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00"/>
                                        </p:tgtEl>
                                        <p:attrNameLst>
                                          <p:attrName>style.visibility</p:attrName>
                                        </p:attrNameLst>
                                      </p:cBhvr>
                                      <p:to>
                                        <p:strVal val="visible"/>
                                      </p:to>
                                    </p:set>
                                    <p:animEffect filter="fade" transition="in">
                                      <p:cBhvr>
                                        <p:cTn dur="600"/>
                                        <p:tgtEl>
                                          <p:spTgt spid="3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309" name="Shape 309"/>
        <p:cNvGrpSpPr/>
        <p:nvPr/>
      </p:nvGrpSpPr>
      <p:grpSpPr>
        <a:xfrm>
          <a:off x="0" y="0"/>
          <a:ext cx="0" cy="0"/>
          <a:chOff x="0" y="0"/>
          <a:chExt cx="0" cy="0"/>
        </a:xfrm>
      </p:grpSpPr>
      <p:sp>
        <p:nvSpPr>
          <p:cNvPr id="310" name="Google Shape;310;p14"/>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9 · FINAL MODEL</a:t>
            </a:r>
            <a:endParaRPr b="0" i="0" sz="1200" u="none" cap="none" strike="noStrike">
              <a:solidFill>
                <a:schemeClr val="dk1"/>
              </a:solidFill>
              <a:latin typeface="Calibri"/>
              <a:ea typeface="Calibri"/>
              <a:cs typeface="Calibri"/>
              <a:sym typeface="Calibri"/>
            </a:endParaRPr>
          </a:p>
        </p:txBody>
      </p:sp>
      <p:sp>
        <p:nvSpPr>
          <p:cNvPr id="311" name="Google Shape;311;p14"/>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The alert threshold is a business decision</a:t>
            </a:r>
            <a:endParaRPr b="0" i="0" sz="3200" u="none" cap="none" strike="noStrike">
              <a:solidFill>
                <a:schemeClr val="dk1"/>
              </a:solidFill>
              <a:latin typeface="Calibri"/>
              <a:ea typeface="Calibri"/>
              <a:cs typeface="Calibri"/>
              <a:sym typeface="Calibri"/>
            </a:endParaRPr>
          </a:p>
        </p:txBody>
      </p:sp>
      <p:pic>
        <p:nvPicPr>
          <p:cNvPr id="312" name="Google Shape;312;p14"/>
          <p:cNvPicPr preferRelativeResize="0"/>
          <p:nvPr/>
        </p:nvPicPr>
        <p:blipFill rotWithShape="1">
          <a:blip r:embed="rId3">
            <a:alphaModFix/>
          </a:blip>
          <a:srcRect b="0" l="0" r="0" t="0"/>
          <a:stretch/>
        </p:blipFill>
        <p:spPr>
          <a:xfrm>
            <a:off x="612648" y="1645920"/>
            <a:ext cx="5669280" cy="4206240"/>
          </a:xfrm>
          <a:prstGeom prst="rect">
            <a:avLst/>
          </a:prstGeom>
          <a:noFill/>
          <a:ln>
            <a:noFill/>
          </a:ln>
        </p:spPr>
      </p:pic>
      <p:graphicFrame>
        <p:nvGraphicFramePr>
          <p:cNvPr id="313" name="Google Shape;313;p14"/>
          <p:cNvGraphicFramePr/>
          <p:nvPr/>
        </p:nvGraphicFramePr>
        <p:xfrm>
          <a:off x="6583680" y="1737360"/>
          <a:ext cx="3000000" cy="3000000"/>
        </p:xfrm>
        <a:graphic>
          <a:graphicData uri="http://schemas.openxmlformats.org/drawingml/2006/table">
            <a:tbl>
              <a:tblPr>
                <a:noFill/>
                <a:tableStyleId>{36B4E6FC-EE3A-4228-97BC-7198E92D1EF7}</a:tableStyleId>
              </a:tblPr>
              <a:tblGrid>
                <a:gridCol w="1554475"/>
                <a:gridCol w="1051550"/>
                <a:gridCol w="1051550"/>
                <a:gridCol w="1344175"/>
              </a:tblGrid>
              <a:tr h="411475">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latin typeface="Arial"/>
                          <a:ea typeface="Arial"/>
                          <a:cs typeface="Arial"/>
                          <a:sym typeface="Arial"/>
                        </a:rPr>
                        <a:t>Threshold</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111A2E"/>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latin typeface="Arial"/>
                          <a:ea typeface="Arial"/>
                          <a:cs typeface="Arial"/>
                          <a:sym typeface="Arial"/>
                        </a:rPr>
                        <a:t>Caught</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111A2E"/>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latin typeface="Arial"/>
                          <a:ea typeface="Arial"/>
                          <a:cs typeface="Arial"/>
                          <a:sym typeface="Arial"/>
                        </a:rPr>
                        <a:t>Missed</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111A2E"/>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latin typeface="Arial"/>
                          <a:ea typeface="Arial"/>
                          <a:cs typeface="Arial"/>
                          <a:sym typeface="Arial"/>
                        </a:rPr>
                        <a:t>False alerts</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111A2E"/>
                    </a:solidFill>
                  </a:tcPr>
                </a:tc>
              </a:tr>
              <a:tr h="411475">
                <a:tc>
                  <a:txBody>
                    <a:bodyPr/>
                    <a:lstStyle/>
                    <a:p>
                      <a:pPr indent="0" lvl="0" marL="0" marR="0" rtl="0" algn="l">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0.30</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3,546</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518</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25,511</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r>
              <a:tr h="411475">
                <a:tc>
                  <a:txBody>
                    <a:bodyPr/>
                    <a:lstStyle/>
                    <a:p>
                      <a:pPr indent="0" lvl="0" marL="0" marR="0" rtl="0" algn="l">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0.50 (default)</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EBE6DA"/>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3,014</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EBE6DA"/>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1,050</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EBE6DA"/>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11,108</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EBE6DA"/>
                    </a:solidFill>
                  </a:tcPr>
                </a:tc>
              </a:tr>
              <a:tr h="411475">
                <a:tc>
                  <a:txBody>
                    <a:bodyPr/>
                    <a:lstStyle/>
                    <a:p>
                      <a:pPr indent="0" lvl="0" marL="0" marR="0" rtl="0" algn="l">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0.70</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2,350</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1,714</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3,948</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r>
              <a:tr h="411475">
                <a:tc>
                  <a:txBody>
                    <a:bodyPr/>
                    <a:lstStyle/>
                    <a:p>
                      <a:pPr indent="0" lvl="0" marL="0" marR="0" rtl="0" algn="l">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0.80</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1,938</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2,126</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c>
                  <a:txBody>
                    <a:bodyPr/>
                    <a:lstStyle/>
                    <a:p>
                      <a:pPr indent="0" lvl="0" marL="0" marR="0" rtl="0" algn="r">
                        <a:spcBef>
                          <a:spcPts val="0"/>
                        </a:spcBef>
                        <a:spcAft>
                          <a:spcPts val="0"/>
                        </a:spcAft>
                        <a:buClr>
                          <a:srgbClr val="1E2638"/>
                        </a:buClr>
                        <a:buSzPts val="1300"/>
                        <a:buFont typeface="Arial"/>
                        <a:buNone/>
                      </a:pPr>
                      <a:r>
                        <a:rPr lang="en-US" sz="1300" u="none" cap="none" strike="noStrike">
                          <a:solidFill>
                            <a:srgbClr val="1E2638"/>
                          </a:solidFill>
                          <a:latin typeface="Arial"/>
                          <a:ea typeface="Arial"/>
                          <a:cs typeface="Arial"/>
                          <a:sym typeface="Arial"/>
                        </a:rPr>
                        <a:t>1,796</a:t>
                      </a:r>
                      <a:endParaRPr sz="1300" u="none" cap="none" strike="noStrike">
                        <a:latin typeface="Arial"/>
                        <a:ea typeface="Arial"/>
                        <a:cs typeface="Arial"/>
                        <a:sym typeface="Arial"/>
                      </a:endParaRPr>
                    </a:p>
                  </a:txBody>
                  <a:tcPr marT="0" marB="0" marR="91450" marL="91450" anchor="ctr">
                    <a:lnL cap="flat" cmpd="sng" w="9525">
                      <a:solidFill>
                        <a:srgbClr val="DDD8CC"/>
                      </a:solidFill>
                      <a:prstDash val="solid"/>
                      <a:round/>
                      <a:headEnd len="sm" w="sm" type="none"/>
                      <a:tailEnd len="sm" w="sm" type="none"/>
                    </a:lnL>
                    <a:lnR cap="flat" cmpd="sng" w="9525">
                      <a:solidFill>
                        <a:srgbClr val="DDD8CC"/>
                      </a:solidFill>
                      <a:prstDash val="solid"/>
                      <a:round/>
                      <a:headEnd len="sm" w="sm" type="none"/>
                      <a:tailEnd len="sm" w="sm" type="none"/>
                    </a:lnR>
                    <a:lnT cap="flat" cmpd="sng" w="9525">
                      <a:solidFill>
                        <a:srgbClr val="DDD8CC"/>
                      </a:solidFill>
                      <a:prstDash val="solid"/>
                      <a:round/>
                      <a:headEnd len="sm" w="sm" type="none"/>
                      <a:tailEnd len="sm" w="sm" type="none"/>
                    </a:lnT>
                    <a:lnB cap="flat" cmpd="sng" w="9525">
                      <a:solidFill>
                        <a:srgbClr val="DDD8CC"/>
                      </a:solidFill>
                      <a:prstDash val="solid"/>
                      <a:round/>
                      <a:headEnd len="sm" w="sm" type="none"/>
                      <a:tailEnd len="sm" w="sm" type="none"/>
                    </a:lnB>
                    <a:solidFill>
                      <a:srgbClr val="FCFBF8"/>
                    </a:solidFill>
                  </a:tcPr>
                </a:tc>
              </a:tr>
            </a:tbl>
          </a:graphicData>
        </a:graphic>
      </p:graphicFrame>
      <p:sp>
        <p:nvSpPr>
          <p:cNvPr id="314" name="Google Shape;314;p14"/>
          <p:cNvSpPr/>
          <p:nvPr/>
        </p:nvSpPr>
        <p:spPr>
          <a:xfrm>
            <a:off x="6583680" y="4023360"/>
            <a:ext cx="5001768" cy="868680"/>
          </a:xfrm>
          <a:prstGeom prst="roundRect">
            <a:avLst>
              <a:gd fmla="val 12632"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txBox="1"/>
          <p:nvPr/>
        </p:nvSpPr>
        <p:spPr>
          <a:xfrm>
            <a:off x="6812280" y="4133088"/>
            <a:ext cx="45720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300"/>
              <a:buFont typeface="Arial"/>
              <a:buNone/>
            </a:pPr>
            <a:r>
              <a:rPr b="1" i="0" lang="en-US" sz="1300" u="none" cap="none" strike="noStrike">
                <a:solidFill>
                  <a:srgbClr val="111A2E"/>
                </a:solidFill>
                <a:latin typeface="Arial"/>
                <a:ea typeface="Arial"/>
                <a:cs typeface="Arial"/>
                <a:sym typeface="Arial"/>
              </a:rPr>
              <a:t>Must stop most fraud → 0.30–0.50</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Needs a larger team to review alerts.</a:t>
            </a:r>
            <a:endParaRPr b="0" i="0" sz="1300" u="none" cap="none" strike="noStrike">
              <a:solidFill>
                <a:schemeClr val="dk1"/>
              </a:solidFill>
              <a:latin typeface="Calibri"/>
              <a:ea typeface="Calibri"/>
              <a:cs typeface="Calibri"/>
              <a:sym typeface="Calibri"/>
            </a:endParaRPr>
          </a:p>
        </p:txBody>
      </p:sp>
      <p:sp>
        <p:nvSpPr>
          <p:cNvPr id="316" name="Google Shape;316;p14"/>
          <p:cNvSpPr/>
          <p:nvPr/>
        </p:nvSpPr>
        <p:spPr>
          <a:xfrm>
            <a:off x="6583680" y="5029200"/>
            <a:ext cx="5001768" cy="868680"/>
          </a:xfrm>
          <a:prstGeom prst="roundRect">
            <a:avLst>
              <a:gd fmla="val 12632"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txBox="1"/>
          <p:nvPr/>
        </p:nvSpPr>
        <p:spPr>
          <a:xfrm>
            <a:off x="6812280" y="5138928"/>
            <a:ext cx="45720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300"/>
              <a:buFont typeface="Arial"/>
              <a:buNone/>
            </a:pPr>
            <a:r>
              <a:rPr b="1" i="0" lang="en-US" sz="1300" u="none" cap="none" strike="noStrike">
                <a:solidFill>
                  <a:srgbClr val="111A2E"/>
                </a:solidFill>
                <a:latin typeface="Arial"/>
                <a:ea typeface="Arial"/>
                <a:cs typeface="Arial"/>
                <a:sym typeface="Arial"/>
              </a:rPr>
              <a:t>Small review team → 0.70–0.80</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3F4A5C"/>
              </a:buClr>
              <a:buSzPts val="1300"/>
              <a:buFont typeface="Arial"/>
              <a:buNone/>
            </a:pPr>
            <a:r>
              <a:rPr b="0" i="0" lang="en-US" sz="1300" u="none" cap="none" strike="noStrike">
                <a:solidFill>
                  <a:srgbClr val="3F4A5C"/>
                </a:solidFill>
                <a:latin typeface="Arial"/>
                <a:ea typeface="Arial"/>
                <a:cs typeface="Arial"/>
                <a:sym typeface="Arial"/>
              </a:rPr>
              <a:t>65–85% fewer false alerts, about half of fraud missed.</a:t>
            </a:r>
            <a:endParaRPr b="0" i="0" sz="1300" u="none" cap="none" strike="noStrike">
              <a:solidFill>
                <a:schemeClr val="dk1"/>
              </a:solidFill>
              <a:latin typeface="Calibri"/>
              <a:ea typeface="Calibri"/>
              <a:cs typeface="Calibri"/>
              <a:sym typeface="Calibri"/>
            </a:endParaRPr>
          </a:p>
        </p:txBody>
      </p:sp>
      <p:sp>
        <p:nvSpPr>
          <p:cNvPr id="318" name="Google Shape;318;p14"/>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4,064 frauds in the validation period</a:t>
            </a:r>
            <a:endParaRPr b="0" i="0" sz="1100" u="none" cap="none" strike="noStrike">
              <a:solidFill>
                <a:schemeClr val="dk1"/>
              </a:solidFill>
              <a:latin typeface="Calibri"/>
              <a:ea typeface="Calibri"/>
              <a:cs typeface="Calibri"/>
              <a:sym typeface="Calibri"/>
            </a:endParaRPr>
          </a:p>
        </p:txBody>
      </p:sp>
      <p:sp>
        <p:nvSpPr>
          <p:cNvPr id="319" name="Google Shape;319;p14"/>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12</a:t>
            </a:r>
            <a:endParaRPr b="0" i="0" sz="1100" u="none" cap="none" strike="noStrike">
              <a:solidFill>
                <a:schemeClr val="dk1"/>
              </a:solidFill>
              <a:latin typeface="Calibri"/>
              <a:ea typeface="Calibri"/>
              <a:cs typeface="Calibri"/>
              <a:sym typeface="Calibri"/>
            </a:endParaRPr>
          </a:p>
        </p:txBody>
      </p:sp>
      <p:sp>
        <p:nvSpPr>
          <p:cNvPr id="320" name="Google Shape;320;p14"/>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Nada Aljaafari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12"/>
                                        </p:tgtEl>
                                        <p:attrNameLst>
                                          <p:attrName>style.visibility</p:attrName>
                                        </p:attrNameLst>
                                      </p:cBhvr>
                                      <p:to>
                                        <p:strVal val="visible"/>
                                      </p:to>
                                    </p:set>
                                    <p:animEffect filter="fade" transition="in">
                                      <p:cBhvr>
                                        <p:cTn dur="900"/>
                                        <p:tgtEl>
                                          <p:spTgt spid="3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327" name="Shape 327"/>
        <p:cNvGrpSpPr/>
        <p:nvPr/>
      </p:nvGrpSpPr>
      <p:grpSpPr>
        <a:xfrm>
          <a:off x="0" y="0"/>
          <a:ext cx="0" cy="0"/>
          <a:chOff x="0" y="0"/>
          <a:chExt cx="0" cy="0"/>
        </a:xfrm>
      </p:grpSpPr>
      <p:sp>
        <p:nvSpPr>
          <p:cNvPr id="328" name="Google Shape;328;p15"/>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10 · INSIGHTS</a:t>
            </a:r>
            <a:endParaRPr b="0" i="0" sz="1200" u="none" cap="none" strike="noStrike">
              <a:solidFill>
                <a:schemeClr val="dk1"/>
              </a:solidFill>
              <a:latin typeface="Calibri"/>
              <a:ea typeface="Calibri"/>
              <a:cs typeface="Calibri"/>
              <a:sym typeface="Calibri"/>
            </a:endParaRPr>
          </a:p>
        </p:txBody>
      </p:sp>
      <p:sp>
        <p:nvSpPr>
          <p:cNvPr id="329" name="Google Shape;329;p15"/>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What drives the predictions</a:t>
            </a:r>
            <a:endParaRPr b="0" i="0" sz="3200" u="none" cap="none" strike="noStrike">
              <a:solidFill>
                <a:schemeClr val="dk1"/>
              </a:solidFill>
              <a:latin typeface="Calibri"/>
              <a:ea typeface="Calibri"/>
              <a:cs typeface="Calibri"/>
              <a:sym typeface="Calibri"/>
            </a:endParaRPr>
          </a:p>
        </p:txBody>
      </p:sp>
      <p:sp>
        <p:nvSpPr>
          <p:cNvPr id="330" name="Google Shape;330;p15"/>
          <p:cNvSpPr/>
          <p:nvPr/>
        </p:nvSpPr>
        <p:spPr>
          <a:xfrm>
            <a:off x="612648" y="1600200"/>
            <a:ext cx="3749040" cy="4526280"/>
          </a:xfrm>
          <a:prstGeom prst="roundRect">
            <a:avLst>
              <a:gd fmla="val 2439" name="adj"/>
            </a:avLst>
          </a:prstGeom>
          <a:solidFill>
            <a:srgbClr val="FFFFFF"/>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HAP summary plot of the top 20 features influencing fraud predictions" id="331" name="Google Shape;331;p15"/>
          <p:cNvPicPr preferRelativeResize="0"/>
          <p:nvPr/>
        </p:nvPicPr>
        <p:blipFill rotWithShape="1">
          <a:blip r:embed="rId3">
            <a:alphaModFix/>
          </a:blip>
          <a:srcRect b="0" l="0" r="0" t="0"/>
          <a:stretch/>
        </p:blipFill>
        <p:spPr>
          <a:xfrm>
            <a:off x="704088" y="1645920"/>
            <a:ext cx="3566160" cy="4306824"/>
          </a:xfrm>
          <a:prstGeom prst="rect">
            <a:avLst/>
          </a:prstGeom>
          <a:noFill/>
          <a:ln>
            <a:noFill/>
          </a:ln>
        </p:spPr>
      </p:pic>
      <p:sp>
        <p:nvSpPr>
          <p:cNvPr id="332" name="Google Shape;332;p15"/>
          <p:cNvSpPr txBox="1"/>
          <p:nvPr/>
        </p:nvSpPr>
        <p:spPr>
          <a:xfrm>
            <a:off x="4800600" y="1691640"/>
            <a:ext cx="67665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1. Transaction amount</a:t>
            </a:r>
            <a:endParaRPr b="0" i="0" sz="1800" u="none" cap="none" strike="noStrike">
              <a:solidFill>
                <a:schemeClr val="dk1"/>
              </a:solidFill>
              <a:latin typeface="Calibri"/>
              <a:ea typeface="Calibri"/>
              <a:cs typeface="Calibri"/>
              <a:sym typeface="Calibri"/>
            </a:endParaRPr>
          </a:p>
        </p:txBody>
      </p:sp>
      <p:sp>
        <p:nvSpPr>
          <p:cNvPr id="333" name="Google Shape;333;p15"/>
          <p:cNvSpPr txBox="1"/>
          <p:nvPr/>
        </p:nvSpPr>
        <p:spPr>
          <a:xfrm>
            <a:off x="4800600" y="2103120"/>
            <a:ext cx="67665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The strongest driver; higher amounts tend to raise the fraud score.</a:t>
            </a:r>
            <a:endParaRPr b="0" i="0" sz="1400" u="none" cap="none" strike="noStrike">
              <a:solidFill>
                <a:schemeClr val="dk1"/>
              </a:solidFill>
              <a:latin typeface="Calibri"/>
              <a:ea typeface="Calibri"/>
              <a:cs typeface="Calibri"/>
              <a:sym typeface="Calibri"/>
            </a:endParaRPr>
          </a:p>
        </p:txBody>
      </p:sp>
      <p:sp>
        <p:nvSpPr>
          <p:cNvPr id="334" name="Google Shape;334;p15"/>
          <p:cNvSpPr txBox="1"/>
          <p:nvPr/>
        </p:nvSpPr>
        <p:spPr>
          <a:xfrm>
            <a:off x="4800600" y="2788920"/>
            <a:ext cx="67665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2. Card type</a:t>
            </a:r>
            <a:endParaRPr b="0" i="0" sz="1800" u="none" cap="none" strike="noStrike">
              <a:solidFill>
                <a:schemeClr val="dk1"/>
              </a:solidFill>
              <a:latin typeface="Calibri"/>
              <a:ea typeface="Calibri"/>
              <a:cs typeface="Calibri"/>
              <a:sym typeface="Calibri"/>
            </a:endParaRPr>
          </a:p>
        </p:txBody>
      </p:sp>
      <p:sp>
        <p:nvSpPr>
          <p:cNvPr id="335" name="Google Shape;335;p15"/>
          <p:cNvSpPr txBox="1"/>
          <p:nvPr/>
        </p:nvSpPr>
        <p:spPr>
          <a:xfrm>
            <a:off x="4800600" y="3200400"/>
            <a:ext cx="67665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Matches the EDA: credit cards have almost 3× the fraud rate of debit.</a:t>
            </a:r>
            <a:endParaRPr b="0" i="0" sz="1400" u="none" cap="none" strike="noStrike">
              <a:solidFill>
                <a:schemeClr val="dk1"/>
              </a:solidFill>
              <a:latin typeface="Calibri"/>
              <a:ea typeface="Calibri"/>
              <a:cs typeface="Calibri"/>
              <a:sym typeface="Calibri"/>
            </a:endParaRPr>
          </a:p>
        </p:txBody>
      </p:sp>
      <p:sp>
        <p:nvSpPr>
          <p:cNvPr id="336" name="Google Shape;336;p15"/>
          <p:cNvSpPr txBox="1"/>
          <p:nvPr/>
        </p:nvSpPr>
        <p:spPr>
          <a:xfrm>
            <a:off x="4800600" y="3886200"/>
            <a:ext cx="67665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Anonymised C and V features</a:t>
            </a:r>
            <a:endParaRPr b="0" i="0" sz="1800" u="none" cap="none" strike="noStrike">
              <a:solidFill>
                <a:schemeClr val="dk1"/>
              </a:solidFill>
              <a:latin typeface="Calibri"/>
              <a:ea typeface="Calibri"/>
              <a:cs typeface="Calibri"/>
              <a:sym typeface="Calibri"/>
            </a:endParaRPr>
          </a:p>
        </p:txBody>
      </p:sp>
      <p:sp>
        <p:nvSpPr>
          <p:cNvPr id="337" name="Google Shape;337;p15"/>
          <p:cNvSpPr txBox="1"/>
          <p:nvPr/>
        </p:nvSpPr>
        <p:spPr>
          <a:xfrm>
            <a:off x="4800600" y="4297680"/>
            <a:ext cx="67665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Fill most of the top 10, but their meaning is hidden.</a:t>
            </a:r>
            <a:endParaRPr b="0" i="0" sz="1400" u="none" cap="none" strike="noStrike">
              <a:solidFill>
                <a:schemeClr val="dk1"/>
              </a:solidFill>
              <a:latin typeface="Calibri"/>
              <a:ea typeface="Calibri"/>
              <a:cs typeface="Calibri"/>
              <a:sym typeface="Calibri"/>
            </a:endParaRPr>
          </a:p>
        </p:txBody>
      </p:sp>
      <p:sp>
        <p:nvSpPr>
          <p:cNvPr id="338" name="Google Shape;338;p15"/>
          <p:cNvSpPr txBox="1"/>
          <p:nvPr/>
        </p:nvSpPr>
        <p:spPr>
          <a:xfrm>
            <a:off x="4800600" y="4983480"/>
            <a:ext cx="67665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04A16"/>
              </a:buClr>
              <a:buSzPts val="1800"/>
              <a:buFont typeface="Arial"/>
              <a:buNone/>
            </a:pPr>
            <a:r>
              <a:rPr b="1" i="0" lang="en-US" sz="1800" u="none" cap="none" strike="noStrike">
                <a:solidFill>
                  <a:srgbClr val="B04A16"/>
                </a:solidFill>
                <a:latin typeface="Arial"/>
                <a:ea typeface="Arial"/>
                <a:cs typeface="Arial"/>
                <a:sym typeface="Arial"/>
              </a:rPr>
              <a:t>Our card count ranks 17th of 428</a:t>
            </a:r>
            <a:endParaRPr b="0" i="0" sz="1800" u="none" cap="none" strike="noStrike">
              <a:solidFill>
                <a:schemeClr val="dk1"/>
              </a:solidFill>
              <a:latin typeface="Calibri"/>
              <a:ea typeface="Calibri"/>
              <a:cs typeface="Calibri"/>
              <a:sym typeface="Calibri"/>
            </a:endParaRPr>
          </a:p>
        </p:txBody>
      </p:sp>
      <p:sp>
        <p:nvSpPr>
          <p:cNvPr id="339" name="Google Shape;339;p15"/>
          <p:cNvSpPr txBox="1"/>
          <p:nvPr/>
        </p:nvSpPr>
        <p:spPr>
          <a:xfrm>
            <a:off x="4800600" y="5394960"/>
            <a:ext cx="67665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4A5C"/>
              </a:buClr>
              <a:buSzPts val="1400"/>
              <a:buFont typeface="Arial"/>
              <a:buNone/>
            </a:pPr>
            <a:r>
              <a:rPr b="0" i="0" lang="en-US" sz="1400" u="none" cap="none" strike="noStrike">
                <a:solidFill>
                  <a:srgbClr val="3F4A5C"/>
                </a:solidFill>
                <a:latin typeface="Arial"/>
                <a:ea typeface="Arial"/>
                <a:cs typeface="Arial"/>
                <a:sym typeface="Arial"/>
              </a:rPr>
              <a:t>The best historical feature. The model uses it as a supporting signal, not a main driver.</a:t>
            </a:r>
            <a:endParaRPr b="0" i="0" sz="1400" u="none" cap="none" strike="noStrike">
              <a:solidFill>
                <a:schemeClr val="dk1"/>
              </a:solidFill>
              <a:latin typeface="Calibri"/>
              <a:ea typeface="Calibri"/>
              <a:cs typeface="Calibri"/>
              <a:sym typeface="Calibri"/>
            </a:endParaRPr>
          </a:p>
        </p:txBody>
      </p:sp>
      <p:sp>
        <p:nvSpPr>
          <p:cNvPr id="340" name="Google Shape;340;p15"/>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SHAP on 5,000 validation transactions</a:t>
            </a:r>
            <a:endParaRPr b="0" i="0" sz="1100" u="none" cap="none" strike="noStrike">
              <a:solidFill>
                <a:schemeClr val="dk1"/>
              </a:solidFill>
              <a:latin typeface="Calibri"/>
              <a:ea typeface="Calibri"/>
              <a:cs typeface="Calibri"/>
              <a:sym typeface="Calibri"/>
            </a:endParaRPr>
          </a:p>
        </p:txBody>
      </p:sp>
      <p:sp>
        <p:nvSpPr>
          <p:cNvPr id="341" name="Google Shape;341;p15"/>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13</a:t>
            </a:r>
            <a:endParaRPr b="0" i="0" sz="1100" u="none" cap="none" strike="noStrike">
              <a:solidFill>
                <a:schemeClr val="dk1"/>
              </a:solidFill>
              <a:latin typeface="Calibri"/>
              <a:ea typeface="Calibri"/>
              <a:cs typeface="Calibri"/>
              <a:sym typeface="Calibri"/>
            </a:endParaRPr>
          </a:p>
        </p:txBody>
      </p:sp>
      <p:sp>
        <p:nvSpPr>
          <p:cNvPr id="342" name="Google Shape;342;p15"/>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5"/>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5"/>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Nada Aljaafari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349" name="Shape 349"/>
        <p:cNvGrpSpPr/>
        <p:nvPr/>
      </p:nvGrpSpPr>
      <p:grpSpPr>
        <a:xfrm>
          <a:off x="0" y="0"/>
          <a:ext cx="0" cy="0"/>
          <a:chOff x="0" y="0"/>
          <a:chExt cx="0" cy="0"/>
        </a:xfrm>
      </p:grpSpPr>
      <p:sp>
        <p:nvSpPr>
          <p:cNvPr id="350" name="Google Shape;350;p16"/>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11 · DASHBOARD</a:t>
            </a:r>
            <a:endParaRPr b="0" i="0" sz="1200" u="none" cap="none" strike="noStrike">
              <a:solidFill>
                <a:schemeClr val="dk1"/>
              </a:solidFill>
              <a:latin typeface="Calibri"/>
              <a:ea typeface="Calibri"/>
              <a:cs typeface="Calibri"/>
              <a:sym typeface="Calibri"/>
            </a:endParaRPr>
          </a:p>
        </p:txBody>
      </p:sp>
      <p:sp>
        <p:nvSpPr>
          <p:cNvPr id="351" name="Google Shape;351;p16"/>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MAKĀMIN | مكامن: from score to evidence</a:t>
            </a:r>
            <a:endParaRPr b="0" i="0" sz="3200" u="none" cap="none" strike="noStrike">
              <a:solidFill>
                <a:schemeClr val="dk1"/>
              </a:solidFill>
              <a:latin typeface="Calibri"/>
              <a:ea typeface="Calibri"/>
              <a:cs typeface="Calibri"/>
              <a:sym typeface="Calibri"/>
            </a:endParaRPr>
          </a:p>
        </p:txBody>
      </p:sp>
      <p:sp>
        <p:nvSpPr>
          <p:cNvPr id="352" name="Google Shape;352;p16"/>
          <p:cNvSpPr txBox="1"/>
          <p:nvPr/>
        </p:nvSpPr>
        <p:spPr>
          <a:xfrm>
            <a:off x="612648" y="1554480"/>
            <a:ext cx="1097280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700"/>
              <a:buFont typeface="Arial"/>
              <a:buNone/>
            </a:pPr>
            <a:r>
              <a:rPr b="0" i="0" lang="en-US" sz="1700" u="none" cap="none" strike="noStrike">
                <a:solidFill>
                  <a:srgbClr val="C3CCDA"/>
                </a:solidFill>
                <a:latin typeface="Arial"/>
                <a:ea typeface="Arial"/>
                <a:cs typeface="Arial"/>
                <a:sym typeface="Arial"/>
              </a:rPr>
              <a:t>A Streamlit investigation dashboard over 5,000 validation transactions. Pick a transaction, then follow three steps.</a:t>
            </a:r>
            <a:endParaRPr b="0" i="0" sz="1700" u="none" cap="none" strike="noStrike">
              <a:solidFill>
                <a:schemeClr val="dk1"/>
              </a:solidFill>
              <a:latin typeface="Calibri"/>
              <a:ea typeface="Calibri"/>
              <a:cs typeface="Calibri"/>
              <a:sym typeface="Calibri"/>
            </a:endParaRPr>
          </a:p>
        </p:txBody>
      </p:sp>
      <p:sp>
        <p:nvSpPr>
          <p:cNvPr id="353" name="Google Shape;353;p16"/>
          <p:cNvSpPr/>
          <p:nvPr/>
        </p:nvSpPr>
        <p:spPr>
          <a:xfrm>
            <a:off x="612648" y="2560320"/>
            <a:ext cx="3529584" cy="3108960"/>
          </a:xfrm>
          <a:prstGeom prst="roundRect">
            <a:avLst>
              <a:gd fmla="val 3529"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6"/>
          <p:cNvSpPr txBox="1"/>
          <p:nvPr/>
        </p:nvSpPr>
        <p:spPr>
          <a:xfrm>
            <a:off x="886968" y="2788920"/>
            <a:ext cx="2980944"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300"/>
              <a:buFont typeface="Arial"/>
              <a:buNone/>
            </a:pPr>
            <a:r>
              <a:rPr b="1" i="0" lang="en-US" sz="1300" u="none" cap="none" strike="noStrike">
                <a:solidFill>
                  <a:srgbClr val="E8743B"/>
                </a:solidFill>
                <a:latin typeface="Arial"/>
                <a:ea typeface="Arial"/>
                <a:cs typeface="Arial"/>
                <a:sym typeface="Arial"/>
              </a:rPr>
              <a:t>1 · Prediction</a:t>
            </a:r>
            <a:endParaRPr b="0" i="0" sz="1300" u="none" cap="none" strike="noStrike">
              <a:solidFill>
                <a:schemeClr val="dk1"/>
              </a:solidFill>
              <a:latin typeface="Calibri"/>
              <a:ea typeface="Calibri"/>
              <a:cs typeface="Calibri"/>
              <a:sym typeface="Calibri"/>
            </a:endParaRPr>
          </a:p>
        </p:txBody>
      </p:sp>
      <p:sp>
        <p:nvSpPr>
          <p:cNvPr id="355" name="Google Shape;355;p16"/>
          <p:cNvSpPr txBox="1"/>
          <p:nvPr/>
        </p:nvSpPr>
        <p:spPr>
          <a:xfrm>
            <a:off x="886968" y="3127248"/>
            <a:ext cx="298094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900"/>
              <a:buFont typeface="Arial"/>
              <a:buNone/>
            </a:pPr>
            <a:r>
              <a:rPr b="1" i="0" lang="en-US" sz="1900" u="none" cap="none" strike="noStrike">
                <a:solidFill>
                  <a:srgbClr val="F5F3EE"/>
                </a:solidFill>
                <a:latin typeface="Arial"/>
                <a:ea typeface="Arial"/>
                <a:cs typeface="Arial"/>
                <a:sym typeface="Arial"/>
              </a:rPr>
              <a:t>Risk score</a:t>
            </a:r>
            <a:endParaRPr b="0" i="0" sz="1900" u="none" cap="none" strike="noStrike">
              <a:solidFill>
                <a:schemeClr val="dk1"/>
              </a:solidFill>
              <a:latin typeface="Calibri"/>
              <a:ea typeface="Calibri"/>
              <a:cs typeface="Calibri"/>
              <a:sym typeface="Calibri"/>
            </a:endParaRPr>
          </a:p>
        </p:txBody>
      </p:sp>
      <p:sp>
        <p:nvSpPr>
          <p:cNvPr id="356" name="Google Shape;356;p16"/>
          <p:cNvSpPr/>
          <p:nvPr/>
        </p:nvSpPr>
        <p:spPr>
          <a:xfrm>
            <a:off x="886968" y="3886200"/>
            <a:ext cx="2980944" cy="182880"/>
          </a:xfrm>
          <a:prstGeom prst="roundRect">
            <a:avLst>
              <a:gd fmla="val 50000" name="adj"/>
            </a:avLst>
          </a:prstGeom>
          <a:solidFill>
            <a:srgbClr val="2C3A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6"/>
          <p:cNvSpPr/>
          <p:nvPr/>
        </p:nvSpPr>
        <p:spPr>
          <a:xfrm>
            <a:off x="886968" y="3886200"/>
            <a:ext cx="2235708" cy="182880"/>
          </a:xfrm>
          <a:prstGeom prst="roundRect">
            <a:avLst>
              <a:gd fmla="val 50000" name="adj"/>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58" name="Google Shape;358;p16"/>
          <p:cNvCxnSpPr/>
          <p:nvPr/>
        </p:nvCxnSpPr>
        <p:spPr>
          <a:xfrm>
            <a:off x="2377440" y="3749040"/>
            <a:ext cx="914" cy="457200"/>
          </a:xfrm>
          <a:prstGeom prst="straightConnector1">
            <a:avLst/>
          </a:prstGeom>
          <a:noFill/>
          <a:ln cap="flat" cmpd="sng" w="19050">
            <a:solidFill>
              <a:srgbClr val="F5F3EE"/>
            </a:solidFill>
            <a:prstDash val="dash"/>
            <a:round/>
            <a:headEnd len="sm" w="sm" type="none"/>
            <a:tailEnd len="sm" w="sm" type="none"/>
          </a:ln>
        </p:spPr>
      </p:cxnSp>
      <p:sp>
        <p:nvSpPr>
          <p:cNvPr id="359" name="Google Shape;359;p16"/>
          <p:cNvSpPr/>
          <p:nvPr/>
        </p:nvSpPr>
        <p:spPr>
          <a:xfrm>
            <a:off x="2994660" y="3849624"/>
            <a:ext cx="256032" cy="256032"/>
          </a:xfrm>
          <a:prstGeom prst="ellipse">
            <a:avLst/>
          </a:prstGeom>
          <a:solidFill>
            <a:srgbClr val="F5F3EE"/>
          </a:solidFill>
          <a:ln cap="flat" cmpd="sng" w="12700">
            <a:solidFill>
              <a:srgbClr val="F5F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6"/>
          <p:cNvSpPr txBox="1"/>
          <p:nvPr/>
        </p:nvSpPr>
        <p:spPr>
          <a:xfrm>
            <a:off x="886968" y="4480560"/>
            <a:ext cx="2980944"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400"/>
              <a:buFont typeface="Arial"/>
              <a:buNone/>
            </a:pPr>
            <a:r>
              <a:rPr b="0" i="0" lang="en-US" sz="1400" u="none" cap="none" strike="noStrike">
                <a:solidFill>
                  <a:srgbClr val="C3CCDA"/>
                </a:solidFill>
                <a:latin typeface="Arial"/>
                <a:ea typeface="Arial"/>
                <a:cs typeface="Arial"/>
                <a:sym typeface="Arial"/>
              </a:rPr>
              <a:t>Final XGBoost score and decision at the 0.50 reference threshold.</a:t>
            </a:r>
            <a:endParaRPr b="0" i="0" sz="1400" u="none" cap="none" strike="noStrike">
              <a:solidFill>
                <a:schemeClr val="dk1"/>
              </a:solidFill>
              <a:latin typeface="Calibri"/>
              <a:ea typeface="Calibri"/>
              <a:cs typeface="Calibri"/>
              <a:sym typeface="Calibri"/>
            </a:endParaRPr>
          </a:p>
        </p:txBody>
      </p:sp>
      <p:sp>
        <p:nvSpPr>
          <p:cNvPr id="361" name="Google Shape;361;p16"/>
          <p:cNvSpPr/>
          <p:nvPr/>
        </p:nvSpPr>
        <p:spPr>
          <a:xfrm>
            <a:off x="4334256" y="2560320"/>
            <a:ext cx="3529584" cy="3108960"/>
          </a:xfrm>
          <a:prstGeom prst="roundRect">
            <a:avLst>
              <a:gd fmla="val 3529"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6"/>
          <p:cNvSpPr txBox="1"/>
          <p:nvPr/>
        </p:nvSpPr>
        <p:spPr>
          <a:xfrm>
            <a:off x="4608576" y="2788920"/>
            <a:ext cx="2980944"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300"/>
              <a:buFont typeface="Arial"/>
              <a:buNone/>
            </a:pPr>
            <a:r>
              <a:rPr b="1" i="0" lang="en-US" sz="1300" u="none" cap="none" strike="noStrike">
                <a:solidFill>
                  <a:srgbClr val="E8743B"/>
                </a:solidFill>
                <a:latin typeface="Arial"/>
                <a:ea typeface="Arial"/>
                <a:cs typeface="Arial"/>
                <a:sym typeface="Arial"/>
              </a:rPr>
              <a:t>2 · Explanation</a:t>
            </a:r>
            <a:endParaRPr b="0" i="0" sz="1300" u="none" cap="none" strike="noStrike">
              <a:solidFill>
                <a:schemeClr val="dk1"/>
              </a:solidFill>
              <a:latin typeface="Calibri"/>
              <a:ea typeface="Calibri"/>
              <a:cs typeface="Calibri"/>
              <a:sym typeface="Calibri"/>
            </a:endParaRPr>
          </a:p>
        </p:txBody>
      </p:sp>
      <p:sp>
        <p:nvSpPr>
          <p:cNvPr id="363" name="Google Shape;363;p16"/>
          <p:cNvSpPr txBox="1"/>
          <p:nvPr/>
        </p:nvSpPr>
        <p:spPr>
          <a:xfrm>
            <a:off x="4608576" y="3127248"/>
            <a:ext cx="298094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900"/>
              <a:buFont typeface="Arial"/>
              <a:buNone/>
            </a:pPr>
            <a:r>
              <a:rPr b="1" i="0" lang="en-US" sz="1900" u="none" cap="none" strike="noStrike">
                <a:solidFill>
                  <a:srgbClr val="F5F3EE"/>
                </a:solidFill>
                <a:latin typeface="Arial"/>
                <a:ea typeface="Arial"/>
                <a:cs typeface="Arial"/>
                <a:sym typeface="Arial"/>
              </a:rPr>
              <a:t>Top 10 SHAP reasons</a:t>
            </a:r>
            <a:endParaRPr b="0" i="0" sz="1900" u="none" cap="none" strike="noStrike">
              <a:solidFill>
                <a:schemeClr val="dk1"/>
              </a:solidFill>
              <a:latin typeface="Calibri"/>
              <a:ea typeface="Calibri"/>
              <a:cs typeface="Calibri"/>
              <a:sym typeface="Calibri"/>
            </a:endParaRPr>
          </a:p>
        </p:txBody>
      </p:sp>
      <p:cxnSp>
        <p:nvCxnSpPr>
          <p:cNvPr id="364" name="Google Shape;364;p16"/>
          <p:cNvCxnSpPr/>
          <p:nvPr/>
        </p:nvCxnSpPr>
        <p:spPr>
          <a:xfrm>
            <a:off x="6099048" y="3730752"/>
            <a:ext cx="914" cy="566928"/>
          </a:xfrm>
          <a:prstGeom prst="straightConnector1">
            <a:avLst/>
          </a:prstGeom>
          <a:noFill/>
          <a:ln cap="flat" cmpd="sng" w="19050">
            <a:solidFill>
              <a:srgbClr val="8C97AB"/>
            </a:solidFill>
            <a:prstDash val="solid"/>
            <a:round/>
            <a:headEnd len="sm" w="sm" type="none"/>
            <a:tailEnd len="sm" w="sm" type="none"/>
          </a:ln>
        </p:spPr>
      </p:cxnSp>
      <p:sp>
        <p:nvSpPr>
          <p:cNvPr id="365" name="Google Shape;365;p16"/>
          <p:cNvSpPr/>
          <p:nvPr/>
        </p:nvSpPr>
        <p:spPr>
          <a:xfrm>
            <a:off x="6099048" y="3749040"/>
            <a:ext cx="1201320" cy="91440"/>
          </a:xfrm>
          <a:prstGeom prst="rect">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6"/>
          <p:cNvSpPr/>
          <p:nvPr/>
        </p:nvSpPr>
        <p:spPr>
          <a:xfrm>
            <a:off x="5362755" y="3886200"/>
            <a:ext cx="736293" cy="91440"/>
          </a:xfrm>
          <a:prstGeom prst="rect">
            <a:avLst/>
          </a:prstGeom>
          <a:solidFill>
            <a:srgbClr val="6F9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6"/>
          <p:cNvSpPr/>
          <p:nvPr/>
        </p:nvSpPr>
        <p:spPr>
          <a:xfrm>
            <a:off x="6099048" y="4023360"/>
            <a:ext cx="775045" cy="91440"/>
          </a:xfrm>
          <a:prstGeom prst="rect">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6"/>
          <p:cNvSpPr/>
          <p:nvPr/>
        </p:nvSpPr>
        <p:spPr>
          <a:xfrm>
            <a:off x="5672773" y="4160520"/>
            <a:ext cx="426275" cy="91440"/>
          </a:xfrm>
          <a:prstGeom prst="rect">
            <a:avLst/>
          </a:prstGeom>
          <a:solidFill>
            <a:srgbClr val="6F9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6"/>
          <p:cNvSpPr txBox="1"/>
          <p:nvPr/>
        </p:nvSpPr>
        <p:spPr>
          <a:xfrm>
            <a:off x="4608576" y="4480560"/>
            <a:ext cx="2980944"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400"/>
              <a:buFont typeface="Arial"/>
              <a:buNone/>
            </a:pPr>
            <a:r>
              <a:rPr b="0" i="0" lang="en-US" sz="1400" u="none" cap="none" strike="noStrike">
                <a:solidFill>
                  <a:srgbClr val="C3CCDA"/>
                </a:solidFill>
                <a:latin typeface="Arial"/>
                <a:ea typeface="Arial"/>
                <a:cs typeface="Arial"/>
                <a:sym typeface="Arial"/>
              </a:rPr>
              <a:t>What pushes this transaction toward or away from fraud.</a:t>
            </a:r>
            <a:endParaRPr b="0" i="0" sz="1400" u="none" cap="none" strike="noStrike">
              <a:solidFill>
                <a:schemeClr val="dk1"/>
              </a:solidFill>
              <a:latin typeface="Calibri"/>
              <a:ea typeface="Calibri"/>
              <a:cs typeface="Calibri"/>
              <a:sym typeface="Calibri"/>
            </a:endParaRPr>
          </a:p>
        </p:txBody>
      </p:sp>
      <p:sp>
        <p:nvSpPr>
          <p:cNvPr id="370" name="Google Shape;370;p16"/>
          <p:cNvSpPr/>
          <p:nvPr/>
        </p:nvSpPr>
        <p:spPr>
          <a:xfrm>
            <a:off x="8055864" y="2560320"/>
            <a:ext cx="3529584" cy="3108960"/>
          </a:xfrm>
          <a:prstGeom prst="roundRect">
            <a:avLst>
              <a:gd fmla="val 3529"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6"/>
          <p:cNvSpPr txBox="1"/>
          <p:nvPr/>
        </p:nvSpPr>
        <p:spPr>
          <a:xfrm>
            <a:off x="8330184" y="2788920"/>
            <a:ext cx="2980944"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300"/>
              <a:buFont typeface="Arial"/>
              <a:buNone/>
            </a:pPr>
            <a:r>
              <a:rPr b="1" i="0" lang="en-US" sz="1300" u="none" cap="none" strike="noStrike">
                <a:solidFill>
                  <a:srgbClr val="E8743B"/>
                </a:solidFill>
                <a:latin typeface="Arial"/>
                <a:ea typeface="Arial"/>
                <a:cs typeface="Arial"/>
                <a:sym typeface="Arial"/>
              </a:rPr>
              <a:t>3 · Relationships</a:t>
            </a:r>
            <a:endParaRPr b="0" i="0" sz="1300" u="none" cap="none" strike="noStrike">
              <a:solidFill>
                <a:schemeClr val="dk1"/>
              </a:solidFill>
              <a:latin typeface="Calibri"/>
              <a:ea typeface="Calibri"/>
              <a:cs typeface="Calibri"/>
              <a:sym typeface="Calibri"/>
            </a:endParaRPr>
          </a:p>
        </p:txBody>
      </p:sp>
      <p:sp>
        <p:nvSpPr>
          <p:cNvPr id="372" name="Google Shape;372;p16"/>
          <p:cNvSpPr txBox="1"/>
          <p:nvPr/>
        </p:nvSpPr>
        <p:spPr>
          <a:xfrm>
            <a:off x="8330184" y="3127248"/>
            <a:ext cx="298094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1900"/>
              <a:buFont typeface="Arial"/>
              <a:buNone/>
            </a:pPr>
            <a:r>
              <a:rPr b="1" i="0" lang="en-US" sz="1900" u="none" cap="none" strike="noStrike">
                <a:solidFill>
                  <a:srgbClr val="F5F3EE"/>
                </a:solidFill>
                <a:latin typeface="Arial"/>
                <a:ea typeface="Arial"/>
                <a:cs typeface="Arial"/>
                <a:sym typeface="Arial"/>
              </a:rPr>
              <a:t>24-hour network</a:t>
            </a:r>
            <a:endParaRPr b="0" i="0" sz="1900" u="none" cap="none" strike="noStrike">
              <a:solidFill>
                <a:schemeClr val="dk1"/>
              </a:solidFill>
              <a:latin typeface="Calibri"/>
              <a:ea typeface="Calibri"/>
              <a:cs typeface="Calibri"/>
              <a:sym typeface="Calibri"/>
            </a:endParaRPr>
          </a:p>
        </p:txBody>
      </p:sp>
      <p:cxnSp>
        <p:nvCxnSpPr>
          <p:cNvPr id="373" name="Google Shape;373;p16"/>
          <p:cNvCxnSpPr/>
          <p:nvPr/>
        </p:nvCxnSpPr>
        <p:spPr>
          <a:xfrm>
            <a:off x="8906256" y="3822192"/>
            <a:ext cx="914400" cy="182880"/>
          </a:xfrm>
          <a:prstGeom prst="straightConnector1">
            <a:avLst/>
          </a:prstGeom>
          <a:noFill/>
          <a:ln cap="flat" cmpd="sng" w="19050">
            <a:solidFill>
              <a:srgbClr val="3B6FD4"/>
            </a:solidFill>
            <a:prstDash val="solid"/>
            <a:round/>
            <a:headEnd len="sm" w="sm" type="none"/>
            <a:tailEnd len="sm" w="sm" type="none"/>
          </a:ln>
        </p:spPr>
      </p:cxnSp>
      <p:cxnSp>
        <p:nvCxnSpPr>
          <p:cNvPr id="374" name="Google Shape;374;p16"/>
          <p:cNvCxnSpPr/>
          <p:nvPr/>
        </p:nvCxnSpPr>
        <p:spPr>
          <a:xfrm flipH="1" rot="10800000">
            <a:off x="8814816" y="4005072"/>
            <a:ext cx="1005840" cy="201168"/>
          </a:xfrm>
          <a:prstGeom prst="straightConnector1">
            <a:avLst/>
          </a:prstGeom>
          <a:noFill/>
          <a:ln cap="flat" cmpd="sng" w="19050">
            <a:solidFill>
              <a:srgbClr val="3B6FD4"/>
            </a:solidFill>
            <a:prstDash val="solid"/>
            <a:round/>
            <a:headEnd len="sm" w="sm" type="none"/>
            <a:tailEnd len="sm" w="sm" type="none"/>
          </a:ln>
        </p:spPr>
      </p:cxnSp>
      <p:cxnSp>
        <p:nvCxnSpPr>
          <p:cNvPr id="375" name="Google Shape;375;p16"/>
          <p:cNvCxnSpPr/>
          <p:nvPr/>
        </p:nvCxnSpPr>
        <p:spPr>
          <a:xfrm flipH="1" rot="10800000">
            <a:off x="9820656" y="3785616"/>
            <a:ext cx="868680" cy="219456"/>
          </a:xfrm>
          <a:prstGeom prst="straightConnector1">
            <a:avLst/>
          </a:prstGeom>
          <a:noFill/>
          <a:ln cap="flat" cmpd="sng" w="19050">
            <a:solidFill>
              <a:srgbClr val="3B6FD4"/>
            </a:solidFill>
            <a:prstDash val="solid"/>
            <a:round/>
            <a:headEnd len="sm" w="sm" type="none"/>
            <a:tailEnd len="sm" w="sm" type="none"/>
          </a:ln>
        </p:spPr>
      </p:cxnSp>
      <p:cxnSp>
        <p:nvCxnSpPr>
          <p:cNvPr id="376" name="Google Shape;376;p16"/>
          <p:cNvCxnSpPr/>
          <p:nvPr/>
        </p:nvCxnSpPr>
        <p:spPr>
          <a:xfrm>
            <a:off x="9820656" y="4005072"/>
            <a:ext cx="960120" cy="219456"/>
          </a:xfrm>
          <a:prstGeom prst="straightConnector1">
            <a:avLst/>
          </a:prstGeom>
          <a:noFill/>
          <a:ln cap="flat" cmpd="sng" w="19050">
            <a:solidFill>
              <a:srgbClr val="3B6FD4"/>
            </a:solidFill>
            <a:prstDash val="solid"/>
            <a:round/>
            <a:headEnd len="sm" w="sm" type="none"/>
            <a:tailEnd len="sm" w="sm" type="none"/>
          </a:ln>
        </p:spPr>
      </p:cxnSp>
      <p:cxnSp>
        <p:nvCxnSpPr>
          <p:cNvPr id="377" name="Google Shape;377;p16"/>
          <p:cNvCxnSpPr/>
          <p:nvPr/>
        </p:nvCxnSpPr>
        <p:spPr>
          <a:xfrm>
            <a:off x="8449056" y="4005072"/>
            <a:ext cx="1371600" cy="914"/>
          </a:xfrm>
          <a:prstGeom prst="straightConnector1">
            <a:avLst/>
          </a:prstGeom>
          <a:noFill/>
          <a:ln cap="flat" cmpd="sng" w="19050">
            <a:solidFill>
              <a:srgbClr val="3B6FD4"/>
            </a:solidFill>
            <a:prstDash val="solid"/>
            <a:round/>
            <a:headEnd len="sm" w="sm" type="none"/>
            <a:tailEnd len="sm" w="sm" type="none"/>
          </a:ln>
        </p:spPr>
      </p:cxnSp>
      <p:cxnSp>
        <p:nvCxnSpPr>
          <p:cNvPr id="378" name="Google Shape;378;p16"/>
          <p:cNvCxnSpPr/>
          <p:nvPr/>
        </p:nvCxnSpPr>
        <p:spPr>
          <a:xfrm>
            <a:off x="9820656" y="4005072"/>
            <a:ext cx="1371600" cy="914"/>
          </a:xfrm>
          <a:prstGeom prst="straightConnector1">
            <a:avLst/>
          </a:prstGeom>
          <a:noFill/>
          <a:ln cap="flat" cmpd="sng" w="19050">
            <a:solidFill>
              <a:srgbClr val="3B6FD4"/>
            </a:solidFill>
            <a:prstDash val="solid"/>
            <a:round/>
            <a:headEnd len="sm" w="sm" type="none"/>
            <a:tailEnd len="sm" w="sm" type="none"/>
          </a:ln>
        </p:spPr>
      </p:cxnSp>
      <p:sp>
        <p:nvSpPr>
          <p:cNvPr id="379" name="Google Shape;379;p16"/>
          <p:cNvSpPr/>
          <p:nvPr/>
        </p:nvSpPr>
        <p:spPr>
          <a:xfrm>
            <a:off x="8842248" y="3758184"/>
            <a:ext cx="128016" cy="128016"/>
          </a:xfrm>
          <a:prstGeom prst="ellipse">
            <a:avLst/>
          </a:prstGeom>
          <a:solidFill>
            <a:srgbClr val="C3CC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6"/>
          <p:cNvSpPr/>
          <p:nvPr/>
        </p:nvSpPr>
        <p:spPr>
          <a:xfrm>
            <a:off x="8750808" y="4142232"/>
            <a:ext cx="128016" cy="128016"/>
          </a:xfrm>
          <a:prstGeom prst="ellipse">
            <a:avLst/>
          </a:prstGeom>
          <a:solidFill>
            <a:srgbClr val="C3CC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6"/>
          <p:cNvSpPr/>
          <p:nvPr/>
        </p:nvSpPr>
        <p:spPr>
          <a:xfrm>
            <a:off x="10625328" y="3721608"/>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6"/>
          <p:cNvSpPr/>
          <p:nvPr/>
        </p:nvSpPr>
        <p:spPr>
          <a:xfrm>
            <a:off x="10716768" y="4160520"/>
            <a:ext cx="128016" cy="128016"/>
          </a:xfrm>
          <a:prstGeom prst="ellipse">
            <a:avLst/>
          </a:prstGeom>
          <a:solidFill>
            <a:srgbClr val="C3CC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6"/>
          <p:cNvSpPr/>
          <p:nvPr/>
        </p:nvSpPr>
        <p:spPr>
          <a:xfrm>
            <a:off x="8385048" y="3941064"/>
            <a:ext cx="128016" cy="128016"/>
          </a:xfrm>
          <a:prstGeom prst="ellipse">
            <a:avLst/>
          </a:prstGeom>
          <a:solidFill>
            <a:srgbClr val="C3CC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6"/>
          <p:cNvSpPr/>
          <p:nvPr/>
        </p:nvSpPr>
        <p:spPr>
          <a:xfrm>
            <a:off x="11128248" y="3941064"/>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6"/>
          <p:cNvSpPr/>
          <p:nvPr/>
        </p:nvSpPr>
        <p:spPr>
          <a:xfrm>
            <a:off x="9710928" y="3895344"/>
            <a:ext cx="219456" cy="219456"/>
          </a:xfrm>
          <a:prstGeom prst="ellipse">
            <a:avLst/>
          </a:prstGeom>
          <a:solidFill>
            <a:srgbClr val="F5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6"/>
          <p:cNvSpPr txBox="1"/>
          <p:nvPr/>
        </p:nvSpPr>
        <p:spPr>
          <a:xfrm>
            <a:off x="8330184" y="4480560"/>
            <a:ext cx="2980944"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400"/>
              <a:buFont typeface="Arial"/>
              <a:buNone/>
            </a:pPr>
            <a:r>
              <a:rPr b="0" i="0" lang="en-US" sz="1400" u="none" cap="none" strike="noStrike">
                <a:solidFill>
                  <a:srgbClr val="C3CCDA"/>
                </a:solidFill>
                <a:latin typeface="Arial"/>
                <a:ea typeface="Arial"/>
                <a:cs typeface="Arial"/>
                <a:sym typeface="Arial"/>
              </a:rPr>
              <a:t>Earlier transactions sharing card, address, email or device.</a:t>
            </a:r>
            <a:endParaRPr b="0" i="0" sz="1400" u="none" cap="none" strike="noStrike">
              <a:solidFill>
                <a:schemeClr val="dk1"/>
              </a:solidFill>
              <a:latin typeface="Calibri"/>
              <a:ea typeface="Calibri"/>
              <a:cs typeface="Calibri"/>
              <a:sym typeface="Calibri"/>
            </a:endParaRPr>
          </a:p>
        </p:txBody>
      </p:sp>
      <p:sp>
        <p:nvSpPr>
          <p:cNvPr id="387" name="Google Shape;387;p16"/>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Demo tool: a link is context for an investigator, not proof of fraud</a:t>
            </a:r>
            <a:endParaRPr b="0" i="0" sz="1100" u="none" cap="none" strike="noStrike">
              <a:solidFill>
                <a:schemeClr val="dk1"/>
              </a:solidFill>
              <a:latin typeface="Calibri"/>
              <a:ea typeface="Calibri"/>
              <a:cs typeface="Calibri"/>
              <a:sym typeface="Calibri"/>
            </a:endParaRPr>
          </a:p>
        </p:txBody>
      </p:sp>
      <p:sp>
        <p:nvSpPr>
          <p:cNvPr id="388" name="Google Shape;388;p16"/>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14</a:t>
            </a:r>
            <a:endParaRPr b="0" i="0" sz="1100" u="none" cap="none" strike="noStrike">
              <a:solidFill>
                <a:schemeClr val="dk1"/>
              </a:solidFill>
              <a:latin typeface="Calibri"/>
              <a:ea typeface="Calibri"/>
              <a:cs typeface="Calibri"/>
              <a:sym typeface="Calibri"/>
            </a:endParaRPr>
          </a:p>
        </p:txBody>
      </p:sp>
      <p:sp>
        <p:nvSpPr>
          <p:cNvPr id="389" name="Google Shape;389;p16"/>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6"/>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6"/>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Lujain Alqarni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3"/>
                                        </p:tgtEl>
                                        <p:attrNameLst>
                                          <p:attrName>style.visibility</p:attrName>
                                        </p:attrNameLst>
                                      </p:cBhvr>
                                      <p:to>
                                        <p:strVal val="visible"/>
                                      </p:to>
                                    </p:set>
                                    <p:animEffect filter="fade" transition="in">
                                      <p:cBhvr>
                                        <p:cTn dur="600"/>
                                        <p:tgtEl>
                                          <p:spTgt spid="353"/>
                                        </p:tgtEl>
                                      </p:cBhvr>
                                    </p:animEffect>
                                  </p:childTnLst>
                                </p:cTn>
                              </p:par>
                              <p:par>
                                <p:cTn fill="hold" nodeType="withEffect" presetClass="entr" presetID="10" presetSubtype="0">
                                  <p:stCondLst>
                                    <p:cond delay="0"/>
                                  </p:stCondLst>
                                  <p:childTnLst>
                                    <p:set>
                                      <p:cBhvr>
                                        <p:cTn dur="1" fill="hold">
                                          <p:stCondLst>
                                            <p:cond delay="0"/>
                                          </p:stCondLst>
                                        </p:cTn>
                                        <p:tgtEl>
                                          <p:spTgt spid="354"/>
                                        </p:tgtEl>
                                        <p:attrNameLst>
                                          <p:attrName>style.visibility</p:attrName>
                                        </p:attrNameLst>
                                      </p:cBhvr>
                                      <p:to>
                                        <p:strVal val="visible"/>
                                      </p:to>
                                    </p:set>
                                    <p:animEffect filter="fade" transition="in">
                                      <p:cBhvr>
                                        <p:cTn dur="600"/>
                                        <p:tgtEl>
                                          <p:spTgt spid="354"/>
                                        </p:tgtEl>
                                      </p:cBhvr>
                                    </p:animEffect>
                                  </p:childTnLst>
                                </p:cTn>
                              </p:par>
                              <p:par>
                                <p:cTn fill="hold" nodeType="withEffect" presetClass="entr" presetID="10" presetSubtype="0">
                                  <p:stCondLst>
                                    <p:cond delay="0"/>
                                  </p:stCondLst>
                                  <p:childTnLst>
                                    <p:set>
                                      <p:cBhvr>
                                        <p:cTn dur="1" fill="hold">
                                          <p:stCondLst>
                                            <p:cond delay="0"/>
                                          </p:stCondLst>
                                        </p:cTn>
                                        <p:tgtEl>
                                          <p:spTgt spid="355"/>
                                        </p:tgtEl>
                                        <p:attrNameLst>
                                          <p:attrName>style.visibility</p:attrName>
                                        </p:attrNameLst>
                                      </p:cBhvr>
                                      <p:to>
                                        <p:strVal val="visible"/>
                                      </p:to>
                                    </p:set>
                                    <p:animEffect filter="fade" transition="in">
                                      <p:cBhvr>
                                        <p:cTn dur="600"/>
                                        <p:tgtEl>
                                          <p:spTgt spid="355"/>
                                        </p:tgtEl>
                                      </p:cBhvr>
                                    </p:animEffect>
                                  </p:childTnLst>
                                </p:cTn>
                              </p:par>
                              <p:par>
                                <p:cTn fill="hold" nodeType="withEffect" presetClass="entr" presetID="10" presetSubtype="0">
                                  <p:stCondLst>
                                    <p:cond delay="0"/>
                                  </p:stCondLst>
                                  <p:childTnLst>
                                    <p:set>
                                      <p:cBhvr>
                                        <p:cTn dur="1" fill="hold">
                                          <p:stCondLst>
                                            <p:cond delay="0"/>
                                          </p:stCondLst>
                                        </p:cTn>
                                        <p:tgtEl>
                                          <p:spTgt spid="360"/>
                                        </p:tgtEl>
                                        <p:attrNameLst>
                                          <p:attrName>style.visibility</p:attrName>
                                        </p:attrNameLst>
                                      </p:cBhvr>
                                      <p:to>
                                        <p:strVal val="visible"/>
                                      </p:to>
                                    </p:set>
                                    <p:animEffect filter="fade" transition="in">
                                      <p:cBhvr>
                                        <p:cTn dur="600"/>
                                        <p:tgtEl>
                                          <p:spTgt spid="360"/>
                                        </p:tgtEl>
                                      </p:cBhvr>
                                    </p:animEffect>
                                  </p:childTnLst>
                                </p:cTn>
                              </p:par>
                              <p:par>
                                <p:cTn fill="hold" nodeType="withEffect" presetClass="entr" presetID="10" presetSubtype="0">
                                  <p:stCondLst>
                                    <p:cond delay="0"/>
                                  </p:stCondLst>
                                  <p:childTnLst>
                                    <p:set>
                                      <p:cBhvr>
                                        <p:cTn dur="1" fill="hold">
                                          <p:stCondLst>
                                            <p:cond delay="0"/>
                                          </p:stCondLst>
                                        </p:cTn>
                                        <p:tgtEl>
                                          <p:spTgt spid="356"/>
                                        </p:tgtEl>
                                        <p:attrNameLst>
                                          <p:attrName>style.visibility</p:attrName>
                                        </p:attrNameLst>
                                      </p:cBhvr>
                                      <p:to>
                                        <p:strVal val="visible"/>
                                      </p:to>
                                    </p:set>
                                    <p:animEffect filter="fade" transition="in">
                                      <p:cBhvr>
                                        <p:cTn dur="600"/>
                                        <p:tgtEl>
                                          <p:spTgt spid="356"/>
                                        </p:tgtEl>
                                      </p:cBhvr>
                                    </p:animEffect>
                                  </p:childTnLst>
                                </p:cTn>
                              </p:par>
                              <p:par>
                                <p:cTn fill="hold" nodeType="withEffect" presetClass="entr" presetID="10" presetSubtype="0">
                                  <p:stCondLst>
                                    <p:cond delay="0"/>
                                  </p:stCondLst>
                                  <p:childTnLst>
                                    <p:set>
                                      <p:cBhvr>
                                        <p:cTn dur="1" fill="hold">
                                          <p:stCondLst>
                                            <p:cond delay="0"/>
                                          </p:stCondLst>
                                        </p:cTn>
                                        <p:tgtEl>
                                          <p:spTgt spid="357"/>
                                        </p:tgtEl>
                                        <p:attrNameLst>
                                          <p:attrName>style.visibility</p:attrName>
                                        </p:attrNameLst>
                                      </p:cBhvr>
                                      <p:to>
                                        <p:strVal val="visible"/>
                                      </p:to>
                                    </p:set>
                                    <p:animEffect filter="fade" transition="in">
                                      <p:cBhvr>
                                        <p:cTn dur="600"/>
                                        <p:tgtEl>
                                          <p:spTgt spid="357"/>
                                        </p:tgtEl>
                                      </p:cBhvr>
                                    </p:animEffect>
                                  </p:childTnLst>
                                </p:cTn>
                              </p:par>
                              <p:par>
                                <p:cTn fill="hold" nodeType="withEffect" presetClass="entr" presetID="10" presetSubtype="0">
                                  <p:stCondLst>
                                    <p:cond delay="0"/>
                                  </p:stCondLst>
                                  <p:childTnLst>
                                    <p:set>
                                      <p:cBhvr>
                                        <p:cTn dur="1" fill="hold">
                                          <p:stCondLst>
                                            <p:cond delay="0"/>
                                          </p:stCondLst>
                                        </p:cTn>
                                        <p:tgtEl>
                                          <p:spTgt spid="358"/>
                                        </p:tgtEl>
                                        <p:attrNameLst>
                                          <p:attrName>style.visibility</p:attrName>
                                        </p:attrNameLst>
                                      </p:cBhvr>
                                      <p:to>
                                        <p:strVal val="visible"/>
                                      </p:to>
                                    </p:set>
                                    <p:animEffect filter="fade" transition="in">
                                      <p:cBhvr>
                                        <p:cTn dur="600"/>
                                        <p:tgtEl>
                                          <p:spTgt spid="358"/>
                                        </p:tgtEl>
                                      </p:cBhvr>
                                    </p:animEffect>
                                  </p:childTnLst>
                                </p:cTn>
                              </p:par>
                              <p:par>
                                <p:cTn fill="hold" nodeType="withEffect" presetClass="entr" presetID="10" presetSubtype="0">
                                  <p:stCondLst>
                                    <p:cond delay="0"/>
                                  </p:stCondLst>
                                  <p:childTnLst>
                                    <p:set>
                                      <p:cBhvr>
                                        <p:cTn dur="1" fill="hold">
                                          <p:stCondLst>
                                            <p:cond delay="0"/>
                                          </p:stCondLst>
                                        </p:cTn>
                                        <p:tgtEl>
                                          <p:spTgt spid="359"/>
                                        </p:tgtEl>
                                        <p:attrNameLst>
                                          <p:attrName>style.visibility</p:attrName>
                                        </p:attrNameLst>
                                      </p:cBhvr>
                                      <p:to>
                                        <p:strVal val="visible"/>
                                      </p:to>
                                    </p:set>
                                    <p:animEffect filter="fade" transition="in">
                                      <p:cBhvr>
                                        <p:cTn dur="600"/>
                                        <p:tgtEl>
                                          <p:spTgt spid="3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gtEl>
                                        <p:attrNameLst>
                                          <p:attrName>style.visibility</p:attrName>
                                        </p:attrNameLst>
                                      </p:cBhvr>
                                      <p:to>
                                        <p:strVal val="visible"/>
                                      </p:to>
                                    </p:set>
                                    <p:animEffect filter="fade" transition="in">
                                      <p:cBhvr>
                                        <p:cTn dur="600"/>
                                        <p:tgtEl>
                                          <p:spTgt spid="361"/>
                                        </p:tgtEl>
                                      </p:cBhvr>
                                    </p:animEffect>
                                  </p:childTnLst>
                                </p:cTn>
                              </p:par>
                              <p:par>
                                <p:cTn fill="hold" nodeType="withEffect" presetClass="entr" presetID="10" presetSubtype="0">
                                  <p:stCondLst>
                                    <p:cond delay="0"/>
                                  </p:stCondLst>
                                  <p:childTnLst>
                                    <p:set>
                                      <p:cBhvr>
                                        <p:cTn dur="1" fill="hold">
                                          <p:stCondLst>
                                            <p:cond delay="0"/>
                                          </p:stCondLst>
                                        </p:cTn>
                                        <p:tgtEl>
                                          <p:spTgt spid="362"/>
                                        </p:tgtEl>
                                        <p:attrNameLst>
                                          <p:attrName>style.visibility</p:attrName>
                                        </p:attrNameLst>
                                      </p:cBhvr>
                                      <p:to>
                                        <p:strVal val="visible"/>
                                      </p:to>
                                    </p:set>
                                    <p:animEffect filter="fade" transition="in">
                                      <p:cBhvr>
                                        <p:cTn dur="600"/>
                                        <p:tgtEl>
                                          <p:spTgt spid="362"/>
                                        </p:tgtEl>
                                      </p:cBhvr>
                                    </p:animEffect>
                                  </p:childTnLst>
                                </p:cTn>
                              </p:par>
                              <p:par>
                                <p:cTn fill="hold" nodeType="withEffect" presetClass="entr" presetID="10" presetSubtype="0">
                                  <p:stCondLst>
                                    <p:cond delay="0"/>
                                  </p:stCondLst>
                                  <p:childTnLst>
                                    <p:set>
                                      <p:cBhvr>
                                        <p:cTn dur="1" fill="hold">
                                          <p:stCondLst>
                                            <p:cond delay="0"/>
                                          </p:stCondLst>
                                        </p:cTn>
                                        <p:tgtEl>
                                          <p:spTgt spid="363"/>
                                        </p:tgtEl>
                                        <p:attrNameLst>
                                          <p:attrName>style.visibility</p:attrName>
                                        </p:attrNameLst>
                                      </p:cBhvr>
                                      <p:to>
                                        <p:strVal val="visible"/>
                                      </p:to>
                                    </p:set>
                                    <p:animEffect filter="fade" transition="in">
                                      <p:cBhvr>
                                        <p:cTn dur="600"/>
                                        <p:tgtEl>
                                          <p:spTgt spid="363"/>
                                        </p:tgtEl>
                                      </p:cBhvr>
                                    </p:animEffect>
                                  </p:childTnLst>
                                </p:cTn>
                              </p:par>
                              <p:par>
                                <p:cTn fill="hold" nodeType="withEffect" presetClass="entr" presetID="10" presetSubtype="0">
                                  <p:stCondLst>
                                    <p:cond delay="0"/>
                                  </p:stCondLst>
                                  <p:childTnLst>
                                    <p:set>
                                      <p:cBhvr>
                                        <p:cTn dur="1" fill="hold">
                                          <p:stCondLst>
                                            <p:cond delay="0"/>
                                          </p:stCondLst>
                                        </p:cTn>
                                        <p:tgtEl>
                                          <p:spTgt spid="369"/>
                                        </p:tgtEl>
                                        <p:attrNameLst>
                                          <p:attrName>style.visibility</p:attrName>
                                        </p:attrNameLst>
                                      </p:cBhvr>
                                      <p:to>
                                        <p:strVal val="visible"/>
                                      </p:to>
                                    </p:set>
                                    <p:animEffect filter="fade" transition="in">
                                      <p:cBhvr>
                                        <p:cTn dur="600"/>
                                        <p:tgtEl>
                                          <p:spTgt spid="369"/>
                                        </p:tgtEl>
                                      </p:cBhvr>
                                    </p:animEffect>
                                  </p:childTnLst>
                                </p:cTn>
                              </p:par>
                              <p:par>
                                <p:cTn fill="hold" nodeType="withEffect" presetClass="entr" presetID="10" presetSubtype="0">
                                  <p:stCondLst>
                                    <p:cond delay="0"/>
                                  </p:stCondLst>
                                  <p:childTnLst>
                                    <p:set>
                                      <p:cBhvr>
                                        <p:cTn dur="1" fill="hold">
                                          <p:stCondLst>
                                            <p:cond delay="0"/>
                                          </p:stCondLst>
                                        </p:cTn>
                                        <p:tgtEl>
                                          <p:spTgt spid="364"/>
                                        </p:tgtEl>
                                        <p:attrNameLst>
                                          <p:attrName>style.visibility</p:attrName>
                                        </p:attrNameLst>
                                      </p:cBhvr>
                                      <p:to>
                                        <p:strVal val="visible"/>
                                      </p:to>
                                    </p:set>
                                    <p:animEffect filter="fade" transition="in">
                                      <p:cBhvr>
                                        <p:cTn dur="600"/>
                                        <p:tgtEl>
                                          <p:spTgt spid="364"/>
                                        </p:tgtEl>
                                      </p:cBhvr>
                                    </p:animEffect>
                                  </p:childTnLst>
                                </p:cTn>
                              </p:par>
                              <p:par>
                                <p:cTn fill="hold" nodeType="withEffect" presetClass="entr" presetID="10" presetSubtype="0">
                                  <p:stCondLst>
                                    <p:cond delay="0"/>
                                  </p:stCondLst>
                                  <p:childTnLst>
                                    <p:set>
                                      <p:cBhvr>
                                        <p:cTn dur="1" fill="hold">
                                          <p:stCondLst>
                                            <p:cond delay="0"/>
                                          </p:stCondLst>
                                        </p:cTn>
                                        <p:tgtEl>
                                          <p:spTgt spid="365"/>
                                        </p:tgtEl>
                                        <p:attrNameLst>
                                          <p:attrName>style.visibility</p:attrName>
                                        </p:attrNameLst>
                                      </p:cBhvr>
                                      <p:to>
                                        <p:strVal val="visible"/>
                                      </p:to>
                                    </p:set>
                                    <p:animEffect filter="fade" transition="in">
                                      <p:cBhvr>
                                        <p:cTn dur="600"/>
                                        <p:tgtEl>
                                          <p:spTgt spid="365"/>
                                        </p:tgtEl>
                                      </p:cBhvr>
                                    </p:animEffect>
                                  </p:childTnLst>
                                </p:cTn>
                              </p:par>
                              <p:par>
                                <p:cTn fill="hold" nodeType="withEffect" presetClass="entr" presetID="10" presetSubtype="0">
                                  <p:stCondLst>
                                    <p:cond delay="0"/>
                                  </p:stCondLst>
                                  <p:childTnLst>
                                    <p:set>
                                      <p:cBhvr>
                                        <p:cTn dur="1" fill="hold">
                                          <p:stCondLst>
                                            <p:cond delay="0"/>
                                          </p:stCondLst>
                                        </p:cTn>
                                        <p:tgtEl>
                                          <p:spTgt spid="366"/>
                                        </p:tgtEl>
                                        <p:attrNameLst>
                                          <p:attrName>style.visibility</p:attrName>
                                        </p:attrNameLst>
                                      </p:cBhvr>
                                      <p:to>
                                        <p:strVal val="visible"/>
                                      </p:to>
                                    </p:set>
                                    <p:animEffect filter="fade" transition="in">
                                      <p:cBhvr>
                                        <p:cTn dur="600"/>
                                        <p:tgtEl>
                                          <p:spTgt spid="366"/>
                                        </p:tgtEl>
                                      </p:cBhvr>
                                    </p:animEffect>
                                  </p:childTnLst>
                                </p:cTn>
                              </p:par>
                              <p:par>
                                <p:cTn fill="hold" nodeType="withEffect" presetClass="entr" presetID="10" presetSubtype="0">
                                  <p:stCondLst>
                                    <p:cond delay="0"/>
                                  </p:stCondLst>
                                  <p:childTnLst>
                                    <p:set>
                                      <p:cBhvr>
                                        <p:cTn dur="1" fill="hold">
                                          <p:stCondLst>
                                            <p:cond delay="0"/>
                                          </p:stCondLst>
                                        </p:cTn>
                                        <p:tgtEl>
                                          <p:spTgt spid="367"/>
                                        </p:tgtEl>
                                        <p:attrNameLst>
                                          <p:attrName>style.visibility</p:attrName>
                                        </p:attrNameLst>
                                      </p:cBhvr>
                                      <p:to>
                                        <p:strVal val="visible"/>
                                      </p:to>
                                    </p:set>
                                    <p:animEffect filter="fade" transition="in">
                                      <p:cBhvr>
                                        <p:cTn dur="600"/>
                                        <p:tgtEl>
                                          <p:spTgt spid="367"/>
                                        </p:tgtEl>
                                      </p:cBhvr>
                                    </p:animEffect>
                                  </p:childTnLst>
                                </p:cTn>
                              </p:par>
                              <p:par>
                                <p:cTn fill="hold" nodeType="withEffect" presetClass="entr" presetID="10" presetSubtype="0">
                                  <p:stCondLst>
                                    <p:cond delay="0"/>
                                  </p:stCondLst>
                                  <p:childTnLst>
                                    <p:set>
                                      <p:cBhvr>
                                        <p:cTn dur="1" fill="hold">
                                          <p:stCondLst>
                                            <p:cond delay="0"/>
                                          </p:stCondLst>
                                        </p:cTn>
                                        <p:tgtEl>
                                          <p:spTgt spid="368"/>
                                        </p:tgtEl>
                                        <p:attrNameLst>
                                          <p:attrName>style.visibility</p:attrName>
                                        </p:attrNameLst>
                                      </p:cBhvr>
                                      <p:to>
                                        <p:strVal val="visible"/>
                                      </p:to>
                                    </p:set>
                                    <p:animEffect filter="fade" transition="in">
                                      <p:cBhvr>
                                        <p:cTn dur="600"/>
                                        <p:tgtEl>
                                          <p:spTgt spid="3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70"/>
                                        </p:tgtEl>
                                        <p:attrNameLst>
                                          <p:attrName>style.visibility</p:attrName>
                                        </p:attrNameLst>
                                      </p:cBhvr>
                                      <p:to>
                                        <p:strVal val="visible"/>
                                      </p:to>
                                    </p:set>
                                    <p:animEffect filter="fade" transition="in">
                                      <p:cBhvr>
                                        <p:cTn dur="600"/>
                                        <p:tgtEl>
                                          <p:spTgt spid="370"/>
                                        </p:tgtEl>
                                      </p:cBhvr>
                                    </p:animEffect>
                                  </p:childTnLst>
                                </p:cTn>
                              </p:par>
                              <p:par>
                                <p:cTn fill="hold" nodeType="withEffect" presetClass="entr" presetID="10" presetSubtype="0">
                                  <p:stCondLst>
                                    <p:cond delay="0"/>
                                  </p:stCondLst>
                                  <p:childTnLst>
                                    <p:set>
                                      <p:cBhvr>
                                        <p:cTn dur="1" fill="hold">
                                          <p:stCondLst>
                                            <p:cond delay="0"/>
                                          </p:stCondLst>
                                        </p:cTn>
                                        <p:tgtEl>
                                          <p:spTgt spid="371"/>
                                        </p:tgtEl>
                                        <p:attrNameLst>
                                          <p:attrName>style.visibility</p:attrName>
                                        </p:attrNameLst>
                                      </p:cBhvr>
                                      <p:to>
                                        <p:strVal val="visible"/>
                                      </p:to>
                                    </p:set>
                                    <p:animEffect filter="fade" transition="in">
                                      <p:cBhvr>
                                        <p:cTn dur="600"/>
                                        <p:tgtEl>
                                          <p:spTgt spid="371"/>
                                        </p:tgtEl>
                                      </p:cBhvr>
                                    </p:animEffect>
                                  </p:childTnLst>
                                </p:cTn>
                              </p:par>
                              <p:par>
                                <p:cTn fill="hold" nodeType="withEffect" presetClass="entr" presetID="10" presetSubtype="0">
                                  <p:stCondLst>
                                    <p:cond delay="0"/>
                                  </p:stCondLst>
                                  <p:childTnLst>
                                    <p:set>
                                      <p:cBhvr>
                                        <p:cTn dur="1" fill="hold">
                                          <p:stCondLst>
                                            <p:cond delay="0"/>
                                          </p:stCondLst>
                                        </p:cTn>
                                        <p:tgtEl>
                                          <p:spTgt spid="372"/>
                                        </p:tgtEl>
                                        <p:attrNameLst>
                                          <p:attrName>style.visibility</p:attrName>
                                        </p:attrNameLst>
                                      </p:cBhvr>
                                      <p:to>
                                        <p:strVal val="visible"/>
                                      </p:to>
                                    </p:set>
                                    <p:animEffect filter="fade" transition="in">
                                      <p:cBhvr>
                                        <p:cTn dur="600"/>
                                        <p:tgtEl>
                                          <p:spTgt spid="372"/>
                                        </p:tgtEl>
                                      </p:cBhvr>
                                    </p:animEffect>
                                  </p:childTnLst>
                                </p:cTn>
                              </p:par>
                              <p:par>
                                <p:cTn fill="hold" nodeType="withEffect" presetClass="entr" presetID="10" presetSubtype="0">
                                  <p:stCondLst>
                                    <p:cond delay="0"/>
                                  </p:stCondLst>
                                  <p:childTnLst>
                                    <p:set>
                                      <p:cBhvr>
                                        <p:cTn dur="1" fill="hold">
                                          <p:stCondLst>
                                            <p:cond delay="0"/>
                                          </p:stCondLst>
                                        </p:cTn>
                                        <p:tgtEl>
                                          <p:spTgt spid="386"/>
                                        </p:tgtEl>
                                        <p:attrNameLst>
                                          <p:attrName>style.visibility</p:attrName>
                                        </p:attrNameLst>
                                      </p:cBhvr>
                                      <p:to>
                                        <p:strVal val="visible"/>
                                      </p:to>
                                    </p:set>
                                    <p:animEffect filter="fade" transition="in">
                                      <p:cBhvr>
                                        <p:cTn dur="600"/>
                                        <p:tgtEl>
                                          <p:spTgt spid="386"/>
                                        </p:tgtEl>
                                      </p:cBhvr>
                                    </p:animEffect>
                                  </p:childTnLst>
                                </p:cTn>
                              </p:par>
                              <p:par>
                                <p:cTn fill="hold" nodeType="withEffect" presetClass="entr" presetID="10" presetSubtype="0">
                                  <p:stCondLst>
                                    <p:cond delay="0"/>
                                  </p:stCondLst>
                                  <p:childTnLst>
                                    <p:set>
                                      <p:cBhvr>
                                        <p:cTn dur="1" fill="hold">
                                          <p:stCondLst>
                                            <p:cond delay="0"/>
                                          </p:stCondLst>
                                        </p:cTn>
                                        <p:tgtEl>
                                          <p:spTgt spid="385"/>
                                        </p:tgtEl>
                                        <p:attrNameLst>
                                          <p:attrName>style.visibility</p:attrName>
                                        </p:attrNameLst>
                                      </p:cBhvr>
                                      <p:to>
                                        <p:strVal val="visible"/>
                                      </p:to>
                                    </p:set>
                                    <p:animEffect filter="fade" transition="in">
                                      <p:cBhvr>
                                        <p:cTn dur="600"/>
                                        <p:tgtEl>
                                          <p:spTgt spid="385"/>
                                        </p:tgtEl>
                                      </p:cBhvr>
                                    </p:animEffect>
                                  </p:childTnLst>
                                </p:cTn>
                              </p:par>
                              <p:par>
                                <p:cTn fill="hold" nodeType="withEffect" presetClass="entr" presetID="10" presetSubtype="0">
                                  <p:stCondLst>
                                    <p:cond delay="0"/>
                                  </p:stCondLst>
                                  <p:childTnLst>
                                    <p:set>
                                      <p:cBhvr>
                                        <p:cTn dur="1" fill="hold">
                                          <p:stCondLst>
                                            <p:cond delay="0"/>
                                          </p:stCondLst>
                                        </p:cTn>
                                        <p:tgtEl>
                                          <p:spTgt spid="373"/>
                                        </p:tgtEl>
                                        <p:attrNameLst>
                                          <p:attrName>style.visibility</p:attrName>
                                        </p:attrNameLst>
                                      </p:cBhvr>
                                      <p:to>
                                        <p:strVal val="visible"/>
                                      </p:to>
                                    </p:set>
                                    <p:animEffect filter="fade" transition="in">
                                      <p:cBhvr>
                                        <p:cTn dur="600"/>
                                        <p:tgtEl>
                                          <p:spTgt spid="373"/>
                                        </p:tgtEl>
                                      </p:cBhvr>
                                    </p:animEffect>
                                  </p:childTnLst>
                                </p:cTn>
                              </p:par>
                              <p:par>
                                <p:cTn fill="hold" nodeType="withEffect" presetClass="entr" presetID="10" presetSubtype="0">
                                  <p:stCondLst>
                                    <p:cond delay="0"/>
                                  </p:stCondLst>
                                  <p:childTnLst>
                                    <p:set>
                                      <p:cBhvr>
                                        <p:cTn dur="1" fill="hold">
                                          <p:stCondLst>
                                            <p:cond delay="0"/>
                                          </p:stCondLst>
                                        </p:cTn>
                                        <p:tgtEl>
                                          <p:spTgt spid="374"/>
                                        </p:tgtEl>
                                        <p:attrNameLst>
                                          <p:attrName>style.visibility</p:attrName>
                                        </p:attrNameLst>
                                      </p:cBhvr>
                                      <p:to>
                                        <p:strVal val="visible"/>
                                      </p:to>
                                    </p:set>
                                    <p:animEffect filter="fade" transition="in">
                                      <p:cBhvr>
                                        <p:cTn dur="600"/>
                                        <p:tgtEl>
                                          <p:spTgt spid="374"/>
                                        </p:tgtEl>
                                      </p:cBhvr>
                                    </p:animEffect>
                                  </p:childTnLst>
                                </p:cTn>
                              </p:par>
                              <p:par>
                                <p:cTn fill="hold" nodeType="withEffect" presetClass="entr" presetID="10" presetSubtype="0">
                                  <p:stCondLst>
                                    <p:cond delay="0"/>
                                  </p:stCondLst>
                                  <p:childTnLst>
                                    <p:set>
                                      <p:cBhvr>
                                        <p:cTn dur="1" fill="hold">
                                          <p:stCondLst>
                                            <p:cond delay="0"/>
                                          </p:stCondLst>
                                        </p:cTn>
                                        <p:tgtEl>
                                          <p:spTgt spid="375"/>
                                        </p:tgtEl>
                                        <p:attrNameLst>
                                          <p:attrName>style.visibility</p:attrName>
                                        </p:attrNameLst>
                                      </p:cBhvr>
                                      <p:to>
                                        <p:strVal val="visible"/>
                                      </p:to>
                                    </p:set>
                                    <p:animEffect filter="fade" transition="in">
                                      <p:cBhvr>
                                        <p:cTn dur="600"/>
                                        <p:tgtEl>
                                          <p:spTgt spid="375"/>
                                        </p:tgtEl>
                                      </p:cBhvr>
                                    </p:animEffect>
                                  </p:childTnLst>
                                </p:cTn>
                              </p:par>
                              <p:par>
                                <p:cTn fill="hold" nodeType="withEffect" presetClass="entr" presetID="10" presetSubtype="0">
                                  <p:stCondLst>
                                    <p:cond delay="0"/>
                                  </p:stCondLst>
                                  <p:childTnLst>
                                    <p:set>
                                      <p:cBhvr>
                                        <p:cTn dur="1" fill="hold">
                                          <p:stCondLst>
                                            <p:cond delay="0"/>
                                          </p:stCondLst>
                                        </p:cTn>
                                        <p:tgtEl>
                                          <p:spTgt spid="376"/>
                                        </p:tgtEl>
                                        <p:attrNameLst>
                                          <p:attrName>style.visibility</p:attrName>
                                        </p:attrNameLst>
                                      </p:cBhvr>
                                      <p:to>
                                        <p:strVal val="visible"/>
                                      </p:to>
                                    </p:set>
                                    <p:animEffect filter="fade" transition="in">
                                      <p:cBhvr>
                                        <p:cTn dur="600"/>
                                        <p:tgtEl>
                                          <p:spTgt spid="376"/>
                                        </p:tgtEl>
                                      </p:cBhvr>
                                    </p:animEffect>
                                  </p:childTnLst>
                                </p:cTn>
                              </p:par>
                              <p:par>
                                <p:cTn fill="hold" nodeType="withEffect" presetClass="entr" presetID="10" presetSubtype="0">
                                  <p:stCondLst>
                                    <p:cond delay="0"/>
                                  </p:stCondLst>
                                  <p:childTnLst>
                                    <p:set>
                                      <p:cBhvr>
                                        <p:cTn dur="1" fill="hold">
                                          <p:stCondLst>
                                            <p:cond delay="0"/>
                                          </p:stCondLst>
                                        </p:cTn>
                                        <p:tgtEl>
                                          <p:spTgt spid="377"/>
                                        </p:tgtEl>
                                        <p:attrNameLst>
                                          <p:attrName>style.visibility</p:attrName>
                                        </p:attrNameLst>
                                      </p:cBhvr>
                                      <p:to>
                                        <p:strVal val="visible"/>
                                      </p:to>
                                    </p:set>
                                    <p:animEffect filter="fade" transition="in">
                                      <p:cBhvr>
                                        <p:cTn dur="600"/>
                                        <p:tgtEl>
                                          <p:spTgt spid="377"/>
                                        </p:tgtEl>
                                      </p:cBhvr>
                                    </p:animEffect>
                                  </p:childTnLst>
                                </p:cTn>
                              </p:par>
                              <p:par>
                                <p:cTn fill="hold" nodeType="withEffect" presetClass="entr" presetID="10" presetSubtype="0">
                                  <p:stCondLst>
                                    <p:cond delay="0"/>
                                  </p:stCondLst>
                                  <p:childTnLst>
                                    <p:set>
                                      <p:cBhvr>
                                        <p:cTn dur="1" fill="hold">
                                          <p:stCondLst>
                                            <p:cond delay="0"/>
                                          </p:stCondLst>
                                        </p:cTn>
                                        <p:tgtEl>
                                          <p:spTgt spid="378"/>
                                        </p:tgtEl>
                                        <p:attrNameLst>
                                          <p:attrName>style.visibility</p:attrName>
                                        </p:attrNameLst>
                                      </p:cBhvr>
                                      <p:to>
                                        <p:strVal val="visible"/>
                                      </p:to>
                                    </p:set>
                                    <p:animEffect filter="fade" transition="in">
                                      <p:cBhvr>
                                        <p:cTn dur="600"/>
                                        <p:tgtEl>
                                          <p:spTgt spid="378"/>
                                        </p:tgtEl>
                                      </p:cBhvr>
                                    </p:animEffect>
                                  </p:childTnLst>
                                </p:cTn>
                              </p:par>
                              <p:par>
                                <p:cTn fill="hold" nodeType="withEffect" presetClass="entr" presetID="10" presetSubtype="0">
                                  <p:stCondLst>
                                    <p:cond delay="0"/>
                                  </p:stCondLst>
                                  <p:childTnLst>
                                    <p:set>
                                      <p:cBhvr>
                                        <p:cTn dur="1" fill="hold">
                                          <p:stCondLst>
                                            <p:cond delay="0"/>
                                          </p:stCondLst>
                                        </p:cTn>
                                        <p:tgtEl>
                                          <p:spTgt spid="379"/>
                                        </p:tgtEl>
                                        <p:attrNameLst>
                                          <p:attrName>style.visibility</p:attrName>
                                        </p:attrNameLst>
                                      </p:cBhvr>
                                      <p:to>
                                        <p:strVal val="visible"/>
                                      </p:to>
                                    </p:set>
                                    <p:animEffect filter="fade" transition="in">
                                      <p:cBhvr>
                                        <p:cTn dur="600"/>
                                        <p:tgtEl>
                                          <p:spTgt spid="379"/>
                                        </p:tgtEl>
                                      </p:cBhvr>
                                    </p:animEffect>
                                  </p:childTnLst>
                                </p:cTn>
                              </p:par>
                              <p:par>
                                <p:cTn fill="hold" nodeType="withEffect" presetClass="entr" presetID="10" presetSubtype="0">
                                  <p:stCondLst>
                                    <p:cond delay="0"/>
                                  </p:stCondLst>
                                  <p:childTnLst>
                                    <p:set>
                                      <p:cBhvr>
                                        <p:cTn dur="1" fill="hold">
                                          <p:stCondLst>
                                            <p:cond delay="0"/>
                                          </p:stCondLst>
                                        </p:cTn>
                                        <p:tgtEl>
                                          <p:spTgt spid="380"/>
                                        </p:tgtEl>
                                        <p:attrNameLst>
                                          <p:attrName>style.visibility</p:attrName>
                                        </p:attrNameLst>
                                      </p:cBhvr>
                                      <p:to>
                                        <p:strVal val="visible"/>
                                      </p:to>
                                    </p:set>
                                    <p:animEffect filter="fade" transition="in">
                                      <p:cBhvr>
                                        <p:cTn dur="600"/>
                                        <p:tgtEl>
                                          <p:spTgt spid="380"/>
                                        </p:tgtEl>
                                      </p:cBhvr>
                                    </p:animEffect>
                                  </p:childTnLst>
                                </p:cTn>
                              </p:par>
                              <p:par>
                                <p:cTn fill="hold" nodeType="withEffect" presetClass="entr" presetID="10" presetSubtype="0">
                                  <p:stCondLst>
                                    <p:cond delay="0"/>
                                  </p:stCondLst>
                                  <p:childTnLst>
                                    <p:set>
                                      <p:cBhvr>
                                        <p:cTn dur="1" fill="hold">
                                          <p:stCondLst>
                                            <p:cond delay="0"/>
                                          </p:stCondLst>
                                        </p:cTn>
                                        <p:tgtEl>
                                          <p:spTgt spid="381"/>
                                        </p:tgtEl>
                                        <p:attrNameLst>
                                          <p:attrName>style.visibility</p:attrName>
                                        </p:attrNameLst>
                                      </p:cBhvr>
                                      <p:to>
                                        <p:strVal val="visible"/>
                                      </p:to>
                                    </p:set>
                                    <p:animEffect filter="fade" transition="in">
                                      <p:cBhvr>
                                        <p:cTn dur="600"/>
                                        <p:tgtEl>
                                          <p:spTgt spid="381"/>
                                        </p:tgtEl>
                                      </p:cBhvr>
                                    </p:animEffect>
                                  </p:childTnLst>
                                </p:cTn>
                              </p:par>
                              <p:par>
                                <p:cTn fill="hold" nodeType="withEffect" presetClass="entr" presetID="10" presetSubtype="0">
                                  <p:stCondLst>
                                    <p:cond delay="0"/>
                                  </p:stCondLst>
                                  <p:childTnLst>
                                    <p:set>
                                      <p:cBhvr>
                                        <p:cTn dur="1" fill="hold">
                                          <p:stCondLst>
                                            <p:cond delay="0"/>
                                          </p:stCondLst>
                                        </p:cTn>
                                        <p:tgtEl>
                                          <p:spTgt spid="382"/>
                                        </p:tgtEl>
                                        <p:attrNameLst>
                                          <p:attrName>style.visibility</p:attrName>
                                        </p:attrNameLst>
                                      </p:cBhvr>
                                      <p:to>
                                        <p:strVal val="visible"/>
                                      </p:to>
                                    </p:set>
                                    <p:animEffect filter="fade" transition="in">
                                      <p:cBhvr>
                                        <p:cTn dur="600"/>
                                        <p:tgtEl>
                                          <p:spTgt spid="382"/>
                                        </p:tgtEl>
                                      </p:cBhvr>
                                    </p:animEffect>
                                  </p:childTnLst>
                                </p:cTn>
                              </p:par>
                              <p:par>
                                <p:cTn fill="hold" nodeType="withEffect" presetClass="entr" presetID="10" presetSubtype="0">
                                  <p:stCondLst>
                                    <p:cond delay="0"/>
                                  </p:stCondLst>
                                  <p:childTnLst>
                                    <p:set>
                                      <p:cBhvr>
                                        <p:cTn dur="1" fill="hold">
                                          <p:stCondLst>
                                            <p:cond delay="0"/>
                                          </p:stCondLst>
                                        </p:cTn>
                                        <p:tgtEl>
                                          <p:spTgt spid="383"/>
                                        </p:tgtEl>
                                        <p:attrNameLst>
                                          <p:attrName>style.visibility</p:attrName>
                                        </p:attrNameLst>
                                      </p:cBhvr>
                                      <p:to>
                                        <p:strVal val="visible"/>
                                      </p:to>
                                    </p:set>
                                    <p:animEffect filter="fade" transition="in">
                                      <p:cBhvr>
                                        <p:cTn dur="600"/>
                                        <p:tgtEl>
                                          <p:spTgt spid="383"/>
                                        </p:tgtEl>
                                      </p:cBhvr>
                                    </p:animEffect>
                                  </p:childTnLst>
                                </p:cTn>
                              </p:par>
                              <p:par>
                                <p:cTn fill="hold" nodeType="withEffect" presetClass="entr" presetID="10" presetSubtype="0">
                                  <p:stCondLst>
                                    <p:cond delay="0"/>
                                  </p:stCondLst>
                                  <p:childTnLst>
                                    <p:set>
                                      <p:cBhvr>
                                        <p:cTn dur="1" fill="hold">
                                          <p:stCondLst>
                                            <p:cond delay="0"/>
                                          </p:stCondLst>
                                        </p:cTn>
                                        <p:tgtEl>
                                          <p:spTgt spid="384"/>
                                        </p:tgtEl>
                                        <p:attrNameLst>
                                          <p:attrName>style.visibility</p:attrName>
                                        </p:attrNameLst>
                                      </p:cBhvr>
                                      <p:to>
                                        <p:strVal val="visible"/>
                                      </p:to>
                                    </p:set>
                                    <p:animEffect filter="fade" transition="in">
                                      <p:cBhvr>
                                        <p:cTn dur="600"/>
                                        <p:tgtEl>
                                          <p:spTgt spid="3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396" name="Shape 396"/>
        <p:cNvGrpSpPr/>
        <p:nvPr/>
      </p:nvGrpSpPr>
      <p:grpSpPr>
        <a:xfrm>
          <a:off x="0" y="0"/>
          <a:ext cx="0" cy="0"/>
          <a:chOff x="0" y="0"/>
          <a:chExt cx="0" cy="0"/>
        </a:xfrm>
      </p:grpSpPr>
      <p:sp>
        <p:nvSpPr>
          <p:cNvPr id="397" name="Google Shape;397;p17"/>
          <p:cNvSpPr txBox="1"/>
          <p:nvPr/>
        </p:nvSpPr>
        <p:spPr>
          <a:xfrm>
            <a:off x="612648" y="457200"/>
            <a:ext cx="109728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11 · DASHBOARD</a:t>
            </a:r>
            <a:endParaRPr b="0" i="0" sz="1200" u="none" cap="none" strike="noStrike">
              <a:solidFill>
                <a:schemeClr val="dk1"/>
              </a:solidFill>
              <a:latin typeface="Calibri"/>
              <a:ea typeface="Calibri"/>
              <a:cs typeface="Calibri"/>
              <a:sym typeface="Calibri"/>
            </a:endParaRPr>
          </a:p>
        </p:txBody>
      </p:sp>
      <p:sp>
        <p:nvSpPr>
          <p:cNvPr id="398" name="Google Shape;398;p17"/>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5F3EE"/>
              </a:buClr>
              <a:buSzPts val="3200"/>
              <a:buFont typeface="Arial"/>
              <a:buNone/>
            </a:pPr>
            <a:r>
              <a:rPr b="1" lang="en-US" sz="3200">
                <a:solidFill>
                  <a:srgbClr val="F5F3EE"/>
                </a:solidFill>
              </a:rPr>
              <a:t>MAKĀMIN in Action</a:t>
            </a:r>
            <a:endParaRPr b="0" i="0" sz="3200" u="none" cap="none" strike="noStrike">
              <a:solidFill>
                <a:schemeClr val="dk1"/>
              </a:solidFill>
              <a:latin typeface="Calibri"/>
              <a:ea typeface="Calibri"/>
              <a:cs typeface="Calibri"/>
              <a:sym typeface="Calibri"/>
            </a:endParaRPr>
          </a:p>
        </p:txBody>
      </p:sp>
      <p:sp>
        <p:nvSpPr>
          <p:cNvPr id="399" name="Google Shape;399;p17"/>
          <p:cNvSpPr txBox="1"/>
          <p:nvPr/>
        </p:nvSpPr>
        <p:spPr>
          <a:xfrm>
            <a:off x="612475" y="1251488"/>
            <a:ext cx="11222400" cy="3291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202"/>
              <a:buFont typeface="Arial"/>
              <a:buNone/>
            </a:pPr>
            <a:r>
              <a:rPr lang="en-US" sz="1858">
                <a:solidFill>
                  <a:srgbClr val="C3CCDA"/>
                </a:solidFill>
              </a:rPr>
              <a:t>One transaction. Three layers of investigation.</a:t>
            </a:r>
            <a:endParaRPr sz="1858">
              <a:solidFill>
                <a:srgbClr val="C3CCDA"/>
              </a:solidFill>
            </a:endParaRPr>
          </a:p>
          <a:p>
            <a:pPr indent="0" lvl="0" marL="0" marR="0" rtl="0" algn="l">
              <a:lnSpc>
                <a:spcPct val="120000"/>
              </a:lnSpc>
              <a:spcBef>
                <a:spcPts val="0"/>
              </a:spcBef>
              <a:spcAft>
                <a:spcPts val="0"/>
              </a:spcAft>
              <a:buClr>
                <a:srgbClr val="C3CCDA"/>
              </a:buClr>
              <a:buSzPts val="1858"/>
              <a:buFont typeface="Arial"/>
              <a:buNone/>
            </a:pPr>
            <a:r>
              <a:t/>
            </a:r>
            <a:endParaRPr sz="1858">
              <a:solidFill>
                <a:srgbClr val="C3CCDA"/>
              </a:solidFill>
            </a:endParaRPr>
          </a:p>
        </p:txBody>
      </p:sp>
      <p:sp>
        <p:nvSpPr>
          <p:cNvPr id="400" name="Google Shape;400;p17"/>
          <p:cNvSpPr/>
          <p:nvPr/>
        </p:nvSpPr>
        <p:spPr>
          <a:xfrm>
            <a:off x="612650" y="1715750"/>
            <a:ext cx="3609600" cy="4614000"/>
          </a:xfrm>
          <a:prstGeom prst="roundRect">
            <a:avLst>
              <a:gd fmla="val 3529" name="adj"/>
            </a:avLst>
          </a:prstGeom>
          <a:solidFill>
            <a:srgbClr val="1B2640"/>
          </a:solidFill>
          <a:ln cap="flat" cmpd="sng" w="13875">
            <a:solidFill>
              <a:srgbClr val="2C3A5A"/>
            </a:solidFill>
            <a:prstDash val="solid"/>
            <a:round/>
            <a:headEnd len="sm" w="sm" type="none"/>
            <a:tailEnd len="sm" w="sm" type="none"/>
          </a:ln>
        </p:spPr>
        <p:txBody>
          <a:bodyPr anchorCtr="0" anchor="ctr" bIns="99925" lIns="99925" spcFirstLastPara="1" rIns="99925" wrap="square" tIns="99925">
            <a:noAutofit/>
          </a:bodyPr>
          <a:lstStyle/>
          <a:p>
            <a:pPr indent="0" lvl="0" marL="0" rtl="0" algn="l">
              <a:spcBef>
                <a:spcPts val="0"/>
              </a:spcBef>
              <a:spcAft>
                <a:spcPts val="0"/>
              </a:spcAft>
              <a:buNone/>
            </a:pPr>
            <a:r>
              <a:t/>
            </a:r>
            <a:endParaRPr sz="1530"/>
          </a:p>
        </p:txBody>
      </p:sp>
      <p:sp>
        <p:nvSpPr>
          <p:cNvPr id="401" name="Google Shape;401;p17"/>
          <p:cNvSpPr txBox="1"/>
          <p:nvPr/>
        </p:nvSpPr>
        <p:spPr>
          <a:xfrm>
            <a:off x="995403" y="1789101"/>
            <a:ext cx="3048600" cy="3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421"/>
              <a:buFont typeface="Arial"/>
              <a:buNone/>
            </a:pPr>
            <a:r>
              <a:rPr b="1" i="0" lang="en-US" sz="1749" u="none" cap="none" strike="noStrike">
                <a:solidFill>
                  <a:srgbClr val="E8743B"/>
                </a:solidFill>
                <a:latin typeface="Arial"/>
                <a:ea typeface="Arial"/>
                <a:cs typeface="Arial"/>
                <a:sym typeface="Arial"/>
              </a:rPr>
              <a:t>1 · </a:t>
            </a:r>
            <a:r>
              <a:rPr b="1" lang="en-US" sz="1749">
                <a:solidFill>
                  <a:srgbClr val="E8743B"/>
                </a:solidFill>
              </a:rPr>
              <a:t> DETECT</a:t>
            </a:r>
            <a:endParaRPr b="1" sz="1749">
              <a:solidFill>
                <a:srgbClr val="E8743B"/>
              </a:solidFill>
            </a:endParaRPr>
          </a:p>
          <a:p>
            <a:pPr indent="0" lvl="0" marL="0" marR="0" rtl="0" algn="l">
              <a:spcBef>
                <a:spcPts val="0"/>
              </a:spcBef>
              <a:spcAft>
                <a:spcPts val="0"/>
              </a:spcAft>
              <a:buClr>
                <a:srgbClr val="E8743B"/>
              </a:buClr>
              <a:buSzPts val="1421"/>
              <a:buFont typeface="Arial"/>
              <a:buNone/>
            </a:pPr>
            <a:r>
              <a:t/>
            </a:r>
            <a:endParaRPr b="1" sz="1749">
              <a:solidFill>
                <a:srgbClr val="E8743B"/>
              </a:solidFill>
            </a:endParaRPr>
          </a:p>
        </p:txBody>
      </p:sp>
      <p:sp>
        <p:nvSpPr>
          <p:cNvPr id="402" name="Google Shape;402;p17"/>
          <p:cNvSpPr txBox="1"/>
          <p:nvPr/>
        </p:nvSpPr>
        <p:spPr>
          <a:xfrm>
            <a:off x="816986" y="2219352"/>
            <a:ext cx="3048600" cy="469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2077"/>
              <a:buFont typeface="Arial"/>
              <a:buNone/>
            </a:pPr>
            <a:r>
              <a:rPr b="1" lang="en-US" sz="2077">
                <a:solidFill>
                  <a:srgbClr val="F5F3EE"/>
                </a:solidFill>
              </a:rPr>
              <a:t>Risk Assessment </a:t>
            </a:r>
            <a:endParaRPr b="1" i="0" sz="2077" u="none" cap="none" strike="noStrike">
              <a:solidFill>
                <a:srgbClr val="F5F3EE"/>
              </a:solidFill>
              <a:latin typeface="Arial"/>
              <a:ea typeface="Arial"/>
              <a:cs typeface="Arial"/>
              <a:sym typeface="Arial"/>
            </a:endParaRPr>
          </a:p>
          <a:p>
            <a:pPr indent="0" lvl="0" marL="0" marR="0" rtl="0" algn="l">
              <a:spcBef>
                <a:spcPts val="0"/>
              </a:spcBef>
              <a:spcAft>
                <a:spcPts val="0"/>
              </a:spcAft>
              <a:buClr>
                <a:srgbClr val="F5F3EE"/>
              </a:buClr>
              <a:buSzPts val="2077"/>
              <a:buFont typeface="Arial"/>
              <a:buNone/>
            </a:pPr>
            <a:r>
              <a:t/>
            </a:r>
            <a:endParaRPr b="1" sz="2077">
              <a:solidFill>
                <a:srgbClr val="F5F3EE"/>
              </a:solidFill>
            </a:endParaRPr>
          </a:p>
        </p:txBody>
      </p:sp>
      <p:sp>
        <p:nvSpPr>
          <p:cNvPr id="403" name="Google Shape;403;p17"/>
          <p:cNvSpPr txBox="1"/>
          <p:nvPr/>
        </p:nvSpPr>
        <p:spPr>
          <a:xfrm>
            <a:off x="893215" y="5946410"/>
            <a:ext cx="3048600" cy="3597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202"/>
              <a:buFont typeface="Arial"/>
              <a:buNone/>
            </a:pPr>
            <a:r>
              <a:rPr lang="en-US" sz="1530">
                <a:solidFill>
                  <a:srgbClr val="C3CCDA"/>
                </a:solidFill>
              </a:rPr>
              <a:t>Assess the transaction's fraud risk. </a:t>
            </a:r>
            <a:endParaRPr sz="1530">
              <a:solidFill>
                <a:srgbClr val="C3CCDA"/>
              </a:solidFill>
            </a:endParaRPr>
          </a:p>
          <a:p>
            <a:pPr indent="0" lvl="0" marL="0" marR="0" rtl="0" algn="l">
              <a:lnSpc>
                <a:spcPct val="120000"/>
              </a:lnSpc>
              <a:spcBef>
                <a:spcPts val="0"/>
              </a:spcBef>
              <a:spcAft>
                <a:spcPts val="0"/>
              </a:spcAft>
              <a:buClr>
                <a:srgbClr val="C3CCDA"/>
              </a:buClr>
              <a:buSzPts val="1530"/>
              <a:buFont typeface="Arial"/>
              <a:buNone/>
            </a:pPr>
            <a:r>
              <a:t/>
            </a:r>
            <a:endParaRPr sz="1530">
              <a:solidFill>
                <a:srgbClr val="C3CCDA"/>
              </a:solidFill>
            </a:endParaRPr>
          </a:p>
        </p:txBody>
      </p:sp>
      <p:sp>
        <p:nvSpPr>
          <p:cNvPr id="404" name="Google Shape;404;p17"/>
          <p:cNvSpPr/>
          <p:nvPr/>
        </p:nvSpPr>
        <p:spPr>
          <a:xfrm>
            <a:off x="4418887" y="1715750"/>
            <a:ext cx="3609600" cy="4614000"/>
          </a:xfrm>
          <a:prstGeom prst="roundRect">
            <a:avLst>
              <a:gd fmla="val 3529" name="adj"/>
            </a:avLst>
          </a:prstGeom>
          <a:solidFill>
            <a:srgbClr val="1B2640"/>
          </a:solidFill>
          <a:ln cap="flat" cmpd="sng" w="13875">
            <a:solidFill>
              <a:srgbClr val="2C3A5A"/>
            </a:solidFill>
            <a:prstDash val="solid"/>
            <a:round/>
            <a:headEnd len="sm" w="sm" type="none"/>
            <a:tailEnd len="sm" w="sm" type="none"/>
          </a:ln>
        </p:spPr>
        <p:txBody>
          <a:bodyPr anchorCtr="0" anchor="ctr" bIns="99925" lIns="99925" spcFirstLastPara="1" rIns="99925" wrap="square" tIns="99925">
            <a:noAutofit/>
          </a:bodyPr>
          <a:lstStyle/>
          <a:p>
            <a:pPr indent="0" lvl="0" marL="0" rtl="0" algn="l">
              <a:spcBef>
                <a:spcPts val="0"/>
              </a:spcBef>
              <a:spcAft>
                <a:spcPts val="0"/>
              </a:spcAft>
              <a:buNone/>
            </a:pPr>
            <a:r>
              <a:t/>
            </a:r>
            <a:endParaRPr/>
          </a:p>
        </p:txBody>
      </p:sp>
      <p:sp>
        <p:nvSpPr>
          <p:cNvPr id="405" name="Google Shape;405;p17"/>
          <p:cNvSpPr txBox="1"/>
          <p:nvPr/>
        </p:nvSpPr>
        <p:spPr>
          <a:xfrm>
            <a:off x="4699477" y="1789101"/>
            <a:ext cx="3048600" cy="3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421"/>
              <a:buFont typeface="Arial"/>
              <a:buNone/>
            </a:pPr>
            <a:r>
              <a:rPr b="1" i="0" lang="en-US" sz="1749" u="none" cap="none" strike="noStrike">
                <a:solidFill>
                  <a:srgbClr val="E8743B"/>
                </a:solidFill>
                <a:latin typeface="Arial"/>
                <a:ea typeface="Arial"/>
                <a:cs typeface="Arial"/>
                <a:sym typeface="Arial"/>
              </a:rPr>
              <a:t>2 · </a:t>
            </a:r>
            <a:r>
              <a:rPr b="1" lang="en-US" sz="1749">
                <a:solidFill>
                  <a:srgbClr val="E8743B"/>
                </a:solidFill>
              </a:rPr>
              <a:t>EXPLAIN </a:t>
            </a:r>
            <a:endParaRPr b="1" sz="1749">
              <a:solidFill>
                <a:srgbClr val="E8743B"/>
              </a:solidFill>
            </a:endParaRPr>
          </a:p>
          <a:p>
            <a:pPr indent="0" lvl="0" marL="0" marR="0" rtl="0" algn="l">
              <a:spcBef>
                <a:spcPts val="0"/>
              </a:spcBef>
              <a:spcAft>
                <a:spcPts val="0"/>
              </a:spcAft>
              <a:buClr>
                <a:srgbClr val="E8743B"/>
              </a:buClr>
              <a:buSzPts val="1421"/>
              <a:buFont typeface="Arial"/>
              <a:buNone/>
            </a:pPr>
            <a:r>
              <a:t/>
            </a:r>
            <a:endParaRPr b="1" sz="1749">
              <a:solidFill>
                <a:srgbClr val="E8743B"/>
              </a:solidFill>
            </a:endParaRPr>
          </a:p>
        </p:txBody>
      </p:sp>
      <p:sp>
        <p:nvSpPr>
          <p:cNvPr id="406" name="Google Shape;406;p17"/>
          <p:cNvSpPr txBox="1"/>
          <p:nvPr/>
        </p:nvSpPr>
        <p:spPr>
          <a:xfrm>
            <a:off x="4521060" y="2219352"/>
            <a:ext cx="3048600" cy="469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2077"/>
              <a:buFont typeface="Arial"/>
              <a:buNone/>
            </a:pPr>
            <a:r>
              <a:rPr b="1" i="0" lang="en-US" sz="2077" u="none" cap="none" strike="noStrike">
                <a:solidFill>
                  <a:srgbClr val="F5F3EE"/>
                </a:solidFill>
                <a:latin typeface="Arial"/>
                <a:ea typeface="Arial"/>
                <a:cs typeface="Arial"/>
                <a:sym typeface="Arial"/>
              </a:rPr>
              <a:t> SHAP</a:t>
            </a:r>
            <a:endParaRPr b="0" i="0" sz="2077" u="none" cap="none" strike="noStrike">
              <a:solidFill>
                <a:schemeClr val="dk1"/>
              </a:solidFill>
              <a:latin typeface="Calibri"/>
              <a:ea typeface="Calibri"/>
              <a:cs typeface="Calibri"/>
              <a:sym typeface="Calibri"/>
            </a:endParaRPr>
          </a:p>
        </p:txBody>
      </p:sp>
      <p:sp>
        <p:nvSpPr>
          <p:cNvPr id="407" name="Google Shape;407;p17"/>
          <p:cNvSpPr txBox="1"/>
          <p:nvPr/>
        </p:nvSpPr>
        <p:spPr>
          <a:xfrm>
            <a:off x="4699384" y="5976416"/>
            <a:ext cx="3329100" cy="299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530"/>
              <a:buFont typeface="Arial"/>
              <a:buNone/>
            </a:pPr>
            <a:r>
              <a:rPr lang="en-US" sz="1530">
                <a:solidFill>
                  <a:srgbClr val="C3CCDA"/>
                </a:solidFill>
              </a:rPr>
              <a:t>Understand what drives the prediction. </a:t>
            </a:r>
            <a:endParaRPr b="0" i="0" sz="1530" u="none" cap="none" strike="noStrike">
              <a:solidFill>
                <a:schemeClr val="dk1"/>
              </a:solidFill>
              <a:latin typeface="Calibri"/>
              <a:ea typeface="Calibri"/>
              <a:cs typeface="Calibri"/>
              <a:sym typeface="Calibri"/>
            </a:endParaRPr>
          </a:p>
        </p:txBody>
      </p:sp>
      <p:sp>
        <p:nvSpPr>
          <p:cNvPr id="408" name="Google Shape;408;p17"/>
          <p:cNvSpPr/>
          <p:nvPr/>
        </p:nvSpPr>
        <p:spPr>
          <a:xfrm>
            <a:off x="8225124" y="1715750"/>
            <a:ext cx="3609600" cy="4614000"/>
          </a:xfrm>
          <a:prstGeom prst="roundRect">
            <a:avLst>
              <a:gd fmla="val 3529" name="adj"/>
            </a:avLst>
          </a:prstGeom>
          <a:solidFill>
            <a:srgbClr val="1B2640"/>
          </a:solidFill>
          <a:ln cap="flat" cmpd="sng" w="13875">
            <a:solidFill>
              <a:srgbClr val="2C3A5A"/>
            </a:solidFill>
            <a:prstDash val="solid"/>
            <a:round/>
            <a:headEnd len="sm" w="sm" type="none"/>
            <a:tailEnd len="sm" w="sm" type="none"/>
          </a:ln>
        </p:spPr>
        <p:txBody>
          <a:bodyPr anchorCtr="0" anchor="ctr" bIns="99925" lIns="99925" spcFirstLastPara="1" rIns="99925" wrap="square" tIns="99925">
            <a:noAutofit/>
          </a:bodyPr>
          <a:lstStyle/>
          <a:p>
            <a:pPr indent="0" lvl="0" marL="0" rtl="0" algn="l">
              <a:spcBef>
                <a:spcPts val="0"/>
              </a:spcBef>
              <a:spcAft>
                <a:spcPts val="0"/>
              </a:spcAft>
              <a:buNone/>
            </a:pPr>
            <a:r>
              <a:t/>
            </a:r>
            <a:endParaRPr/>
          </a:p>
        </p:txBody>
      </p:sp>
      <p:sp>
        <p:nvSpPr>
          <p:cNvPr id="409" name="Google Shape;409;p17"/>
          <p:cNvSpPr txBox="1"/>
          <p:nvPr/>
        </p:nvSpPr>
        <p:spPr>
          <a:xfrm>
            <a:off x="8403525" y="1789114"/>
            <a:ext cx="3048600" cy="3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1421"/>
              <a:buFont typeface="Arial"/>
              <a:buNone/>
            </a:pPr>
            <a:r>
              <a:rPr b="1" i="0" lang="en-US" sz="1421" u="none" cap="none" strike="noStrike">
                <a:solidFill>
                  <a:srgbClr val="E8743B"/>
                </a:solidFill>
                <a:latin typeface="Arial"/>
                <a:ea typeface="Arial"/>
                <a:cs typeface="Arial"/>
                <a:sym typeface="Arial"/>
              </a:rPr>
              <a:t>3 · </a:t>
            </a:r>
            <a:r>
              <a:rPr b="1" lang="en-US" sz="1421">
                <a:solidFill>
                  <a:srgbClr val="E8743B"/>
                </a:solidFill>
              </a:rPr>
              <a:t>INVESTIGATE </a:t>
            </a:r>
            <a:endParaRPr b="1" sz="1421">
              <a:solidFill>
                <a:srgbClr val="E8743B"/>
              </a:solidFill>
            </a:endParaRPr>
          </a:p>
          <a:p>
            <a:pPr indent="0" lvl="0" marL="0" marR="0" rtl="0" algn="l">
              <a:spcBef>
                <a:spcPts val="0"/>
              </a:spcBef>
              <a:spcAft>
                <a:spcPts val="0"/>
              </a:spcAft>
              <a:buClr>
                <a:srgbClr val="E8743B"/>
              </a:buClr>
              <a:buSzPts val="1421"/>
              <a:buFont typeface="Arial"/>
              <a:buNone/>
            </a:pPr>
            <a:r>
              <a:t/>
            </a:r>
            <a:endParaRPr b="1" sz="1421">
              <a:solidFill>
                <a:srgbClr val="E8743B"/>
              </a:solidFill>
            </a:endParaRPr>
          </a:p>
        </p:txBody>
      </p:sp>
      <p:sp>
        <p:nvSpPr>
          <p:cNvPr id="410" name="Google Shape;410;p17"/>
          <p:cNvSpPr txBox="1"/>
          <p:nvPr/>
        </p:nvSpPr>
        <p:spPr>
          <a:xfrm>
            <a:off x="8403525" y="2233427"/>
            <a:ext cx="3048600" cy="469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2077"/>
              <a:buFont typeface="Arial"/>
              <a:buNone/>
            </a:pPr>
            <a:r>
              <a:rPr b="1" lang="en-US" sz="2077">
                <a:solidFill>
                  <a:schemeClr val="lt1"/>
                </a:solidFill>
              </a:rPr>
              <a:t>Network Graph</a:t>
            </a:r>
            <a:r>
              <a:rPr lang="en-US" sz="2077">
                <a:solidFill>
                  <a:schemeClr val="lt1"/>
                </a:solidFill>
              </a:rPr>
              <a:t> </a:t>
            </a:r>
            <a:endParaRPr b="0" i="0" sz="2077" u="none" cap="none" strike="noStrike">
              <a:solidFill>
                <a:schemeClr val="lt1"/>
              </a:solidFill>
              <a:latin typeface="Calibri"/>
              <a:ea typeface="Calibri"/>
              <a:cs typeface="Calibri"/>
              <a:sym typeface="Calibri"/>
            </a:endParaRPr>
          </a:p>
        </p:txBody>
      </p:sp>
      <p:sp>
        <p:nvSpPr>
          <p:cNvPr id="411" name="Google Shape;411;p17"/>
          <p:cNvSpPr txBox="1"/>
          <p:nvPr/>
        </p:nvSpPr>
        <p:spPr>
          <a:xfrm>
            <a:off x="8505682" y="5976415"/>
            <a:ext cx="3048600" cy="299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C3CCDA"/>
              </a:buClr>
              <a:buSzPts val="1530"/>
              <a:buFont typeface="Arial"/>
              <a:buNone/>
            </a:pPr>
            <a:r>
              <a:rPr lang="en-US" sz="1530">
                <a:solidFill>
                  <a:srgbClr val="C3CCDA"/>
                </a:solidFill>
              </a:rPr>
              <a:t>Explore its historical relationships. </a:t>
            </a:r>
            <a:endParaRPr b="0" i="0" sz="1530" u="none" cap="none" strike="noStrike">
              <a:solidFill>
                <a:schemeClr val="dk1"/>
              </a:solidFill>
              <a:latin typeface="Calibri"/>
              <a:ea typeface="Calibri"/>
              <a:cs typeface="Calibri"/>
              <a:sym typeface="Calibri"/>
            </a:endParaRPr>
          </a:p>
        </p:txBody>
      </p:sp>
      <p:sp>
        <p:nvSpPr>
          <p:cNvPr id="412" name="Google Shape;412;p17"/>
          <p:cNvSpPr txBox="1"/>
          <p:nvPr/>
        </p:nvSpPr>
        <p:spPr>
          <a:xfrm>
            <a:off x="612650" y="6329550"/>
            <a:ext cx="8659500" cy="29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202"/>
              <a:buFont typeface="Arial"/>
              <a:buNone/>
            </a:pPr>
            <a:r>
              <a:rPr b="1" lang="en-US" sz="1740">
                <a:solidFill>
                  <a:srgbClr val="8C97AB"/>
                </a:solidFill>
              </a:rPr>
              <a:t>Historical connections provide investigation context, not proof of fraud. </a:t>
            </a:r>
            <a:endParaRPr b="1" i="0" sz="1740" u="none" cap="none" strike="noStrike">
              <a:solidFill>
                <a:schemeClr val="dk1"/>
              </a:solidFill>
              <a:latin typeface="Calibri"/>
              <a:ea typeface="Calibri"/>
              <a:cs typeface="Calibri"/>
              <a:sym typeface="Calibri"/>
            </a:endParaRPr>
          </a:p>
        </p:txBody>
      </p:sp>
      <p:sp>
        <p:nvSpPr>
          <p:cNvPr id="413" name="Google Shape;413;p17"/>
          <p:cNvSpPr txBox="1"/>
          <p:nvPr/>
        </p:nvSpPr>
        <p:spPr>
          <a:xfrm>
            <a:off x="10899755" y="6329550"/>
            <a:ext cx="935400" cy="299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202"/>
              <a:buFont typeface="Arial"/>
              <a:buNone/>
            </a:pPr>
            <a:r>
              <a:rPr b="0" i="0" lang="en-US" sz="1202" u="none" cap="none" strike="noStrike">
                <a:solidFill>
                  <a:srgbClr val="8C97AB"/>
                </a:solidFill>
                <a:latin typeface="Arial"/>
                <a:ea typeface="Arial"/>
                <a:cs typeface="Arial"/>
                <a:sym typeface="Arial"/>
              </a:rPr>
              <a:t>14</a:t>
            </a:r>
            <a:endParaRPr b="0" i="0" sz="1202" u="none" cap="none" strike="noStrike">
              <a:solidFill>
                <a:schemeClr val="dk1"/>
              </a:solidFill>
              <a:latin typeface="Calibri"/>
              <a:ea typeface="Calibri"/>
              <a:cs typeface="Calibri"/>
              <a:sym typeface="Calibri"/>
            </a:endParaRPr>
          </a:p>
        </p:txBody>
      </p:sp>
      <p:sp>
        <p:nvSpPr>
          <p:cNvPr id="414" name="Google Shape;414;p17"/>
          <p:cNvSpPr/>
          <p:nvPr/>
        </p:nvSpPr>
        <p:spPr>
          <a:xfrm>
            <a:off x="9025128" y="384048"/>
            <a:ext cx="2560200" cy="329100"/>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7"/>
          <p:cNvSpPr/>
          <p:nvPr/>
        </p:nvSpPr>
        <p:spPr>
          <a:xfrm>
            <a:off x="9144000" y="484632"/>
            <a:ext cx="128100" cy="128100"/>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7"/>
          <p:cNvSpPr txBox="1"/>
          <p:nvPr/>
        </p:nvSpPr>
        <p:spPr>
          <a:xfrm>
            <a:off x="9326880" y="384048"/>
            <a:ext cx="21945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Lujain Alqarni</a:t>
            </a:r>
            <a:endParaRPr b="0" i="0" sz="1100" u="none" cap="none" strike="noStrike">
              <a:solidFill>
                <a:schemeClr val="dk1"/>
              </a:solidFill>
              <a:latin typeface="Calibri"/>
              <a:ea typeface="Calibri"/>
              <a:cs typeface="Calibri"/>
              <a:sym typeface="Calibri"/>
            </a:endParaRPr>
          </a:p>
        </p:txBody>
      </p:sp>
      <p:sp>
        <p:nvSpPr>
          <p:cNvPr id="417" name="Google Shape;417;p17"/>
          <p:cNvSpPr txBox="1"/>
          <p:nvPr/>
        </p:nvSpPr>
        <p:spPr>
          <a:xfrm>
            <a:off x="8481110" y="3294776"/>
            <a:ext cx="2298300" cy="873300"/>
          </a:xfrm>
          <a:prstGeom prst="rect">
            <a:avLst/>
          </a:prstGeom>
          <a:noFill/>
          <a:ln>
            <a:noFill/>
          </a:ln>
        </p:spPr>
        <p:txBody>
          <a:bodyPr anchorCtr="0" anchor="t" bIns="99925" lIns="99925" spcFirstLastPara="1" rIns="99925" wrap="square" tIns="99925">
            <a:noAutofit/>
          </a:bodyPr>
          <a:lstStyle/>
          <a:p>
            <a:pPr indent="0" lvl="0" marL="0" rtl="0" algn="l">
              <a:spcBef>
                <a:spcPts val="0"/>
              </a:spcBef>
              <a:spcAft>
                <a:spcPts val="0"/>
              </a:spcAft>
              <a:buNone/>
            </a:pPr>
            <a:r>
              <a:t/>
            </a:r>
            <a:endParaRPr sz="1530"/>
          </a:p>
        </p:txBody>
      </p:sp>
      <p:pic>
        <p:nvPicPr>
          <p:cNvPr id="418" name="Google Shape;418;p17"/>
          <p:cNvPicPr preferRelativeResize="0"/>
          <p:nvPr/>
        </p:nvPicPr>
        <p:blipFill rotWithShape="1">
          <a:blip r:embed="rId3">
            <a:alphaModFix/>
          </a:blip>
          <a:srcRect b="7289" l="5509" r="5500" t="16861"/>
          <a:stretch/>
        </p:blipFill>
        <p:spPr>
          <a:xfrm>
            <a:off x="8225094" y="2594039"/>
            <a:ext cx="3431337" cy="3328979"/>
          </a:xfrm>
          <a:prstGeom prst="rect">
            <a:avLst/>
          </a:prstGeom>
          <a:noFill/>
          <a:ln>
            <a:noFill/>
          </a:ln>
        </p:spPr>
      </p:pic>
      <p:pic>
        <p:nvPicPr>
          <p:cNvPr id="419" name="Google Shape;419;p17"/>
          <p:cNvPicPr preferRelativeResize="0"/>
          <p:nvPr/>
        </p:nvPicPr>
        <p:blipFill rotWithShape="1">
          <a:blip r:embed="rId4">
            <a:alphaModFix/>
          </a:blip>
          <a:srcRect b="5828" l="2890" r="3284" t="16260"/>
          <a:stretch/>
        </p:blipFill>
        <p:spPr>
          <a:xfrm>
            <a:off x="701875" y="2531200"/>
            <a:ext cx="3431327" cy="3311350"/>
          </a:xfrm>
          <a:prstGeom prst="rect">
            <a:avLst/>
          </a:prstGeom>
          <a:solidFill>
            <a:srgbClr val="1B2640"/>
          </a:solidFill>
          <a:ln cap="flat" cmpd="sng" w="13875">
            <a:solidFill>
              <a:srgbClr val="2C3A5A"/>
            </a:solidFill>
            <a:prstDash val="solid"/>
            <a:round/>
            <a:headEnd len="sm" w="sm" type="none"/>
            <a:tailEnd len="sm" w="sm" type="none"/>
          </a:ln>
        </p:spPr>
      </p:pic>
      <p:pic>
        <p:nvPicPr>
          <p:cNvPr id="420" name="Google Shape;420;p17"/>
          <p:cNvPicPr preferRelativeResize="0"/>
          <p:nvPr/>
        </p:nvPicPr>
        <p:blipFill rotWithShape="1">
          <a:blip r:embed="rId5">
            <a:alphaModFix/>
          </a:blip>
          <a:srcRect b="6554" l="5296" r="7015" t="18713"/>
          <a:stretch/>
        </p:blipFill>
        <p:spPr>
          <a:xfrm>
            <a:off x="4497470" y="2531212"/>
            <a:ext cx="3531228" cy="3328979"/>
          </a:xfrm>
          <a:prstGeom prst="rect">
            <a:avLst/>
          </a:prstGeom>
          <a:noFill/>
          <a:ln>
            <a:noFill/>
          </a:ln>
        </p:spPr>
      </p:pic>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0"/>
                                        </p:tgtEl>
                                        <p:attrNameLst>
                                          <p:attrName>style.visibility</p:attrName>
                                        </p:attrNameLst>
                                      </p:cBhvr>
                                      <p:to>
                                        <p:strVal val="visible"/>
                                      </p:to>
                                    </p:set>
                                    <p:animEffect filter="fade" transition="in">
                                      <p:cBhvr>
                                        <p:cTn dur="600"/>
                                        <p:tgtEl>
                                          <p:spTgt spid="400"/>
                                        </p:tgtEl>
                                      </p:cBhvr>
                                    </p:animEffect>
                                  </p:childTnLst>
                                </p:cTn>
                              </p:par>
                              <p:par>
                                <p:cTn fill="hold" nodeType="withEffect" presetClass="entr" presetID="10" presetSubtype="0">
                                  <p:stCondLst>
                                    <p:cond delay="0"/>
                                  </p:stCondLst>
                                  <p:childTnLst>
                                    <p:set>
                                      <p:cBhvr>
                                        <p:cTn dur="1" fill="hold">
                                          <p:stCondLst>
                                            <p:cond delay="0"/>
                                          </p:stCondLst>
                                        </p:cTn>
                                        <p:tgtEl>
                                          <p:spTgt spid="401"/>
                                        </p:tgtEl>
                                        <p:attrNameLst>
                                          <p:attrName>style.visibility</p:attrName>
                                        </p:attrNameLst>
                                      </p:cBhvr>
                                      <p:to>
                                        <p:strVal val="visible"/>
                                      </p:to>
                                    </p:set>
                                    <p:animEffect filter="fade" transition="in">
                                      <p:cBhvr>
                                        <p:cTn dur="600"/>
                                        <p:tgtEl>
                                          <p:spTgt spid="401"/>
                                        </p:tgtEl>
                                      </p:cBhvr>
                                    </p:animEffect>
                                  </p:childTnLst>
                                </p:cTn>
                              </p:par>
                              <p:par>
                                <p:cTn fill="hold" nodeType="withEffect" presetClass="entr" presetID="10" presetSubtype="0">
                                  <p:stCondLst>
                                    <p:cond delay="0"/>
                                  </p:stCondLst>
                                  <p:childTnLst>
                                    <p:set>
                                      <p:cBhvr>
                                        <p:cTn dur="1" fill="hold">
                                          <p:stCondLst>
                                            <p:cond delay="0"/>
                                          </p:stCondLst>
                                        </p:cTn>
                                        <p:tgtEl>
                                          <p:spTgt spid="402"/>
                                        </p:tgtEl>
                                        <p:attrNameLst>
                                          <p:attrName>style.visibility</p:attrName>
                                        </p:attrNameLst>
                                      </p:cBhvr>
                                      <p:to>
                                        <p:strVal val="visible"/>
                                      </p:to>
                                    </p:set>
                                    <p:animEffect filter="fade" transition="in">
                                      <p:cBhvr>
                                        <p:cTn dur="600"/>
                                        <p:tgtEl>
                                          <p:spTgt spid="402"/>
                                        </p:tgtEl>
                                      </p:cBhvr>
                                    </p:animEffect>
                                  </p:childTnLst>
                                </p:cTn>
                              </p:par>
                              <p:par>
                                <p:cTn fill="hold" nodeType="withEffect" presetClass="entr" presetID="10" presetSubtype="0">
                                  <p:stCondLst>
                                    <p:cond delay="0"/>
                                  </p:stCondLst>
                                  <p:childTnLst>
                                    <p:set>
                                      <p:cBhvr>
                                        <p:cTn dur="1" fill="hold">
                                          <p:stCondLst>
                                            <p:cond delay="0"/>
                                          </p:stCondLst>
                                        </p:cTn>
                                        <p:tgtEl>
                                          <p:spTgt spid="403"/>
                                        </p:tgtEl>
                                        <p:attrNameLst>
                                          <p:attrName>style.visibility</p:attrName>
                                        </p:attrNameLst>
                                      </p:cBhvr>
                                      <p:to>
                                        <p:strVal val="visible"/>
                                      </p:to>
                                    </p:set>
                                    <p:animEffect filter="fade" transition="in">
                                      <p:cBhvr>
                                        <p:cTn dur="600"/>
                                        <p:tgtEl>
                                          <p:spTgt spid="4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4"/>
                                        </p:tgtEl>
                                        <p:attrNameLst>
                                          <p:attrName>style.visibility</p:attrName>
                                        </p:attrNameLst>
                                      </p:cBhvr>
                                      <p:to>
                                        <p:strVal val="visible"/>
                                      </p:to>
                                    </p:set>
                                    <p:animEffect filter="fade" transition="in">
                                      <p:cBhvr>
                                        <p:cTn dur="600"/>
                                        <p:tgtEl>
                                          <p:spTgt spid="404"/>
                                        </p:tgtEl>
                                      </p:cBhvr>
                                    </p:animEffect>
                                  </p:childTnLst>
                                </p:cTn>
                              </p:par>
                              <p:par>
                                <p:cTn fill="hold" nodeType="withEffect" presetClass="entr" presetID="10" presetSubtype="0">
                                  <p:stCondLst>
                                    <p:cond delay="0"/>
                                  </p:stCondLst>
                                  <p:childTnLst>
                                    <p:set>
                                      <p:cBhvr>
                                        <p:cTn dur="1" fill="hold">
                                          <p:stCondLst>
                                            <p:cond delay="0"/>
                                          </p:stCondLst>
                                        </p:cTn>
                                        <p:tgtEl>
                                          <p:spTgt spid="405"/>
                                        </p:tgtEl>
                                        <p:attrNameLst>
                                          <p:attrName>style.visibility</p:attrName>
                                        </p:attrNameLst>
                                      </p:cBhvr>
                                      <p:to>
                                        <p:strVal val="visible"/>
                                      </p:to>
                                    </p:set>
                                    <p:animEffect filter="fade" transition="in">
                                      <p:cBhvr>
                                        <p:cTn dur="600"/>
                                        <p:tgtEl>
                                          <p:spTgt spid="405"/>
                                        </p:tgtEl>
                                      </p:cBhvr>
                                    </p:animEffect>
                                  </p:childTnLst>
                                </p:cTn>
                              </p:par>
                              <p:par>
                                <p:cTn fill="hold" nodeType="withEffect" presetClass="entr" presetID="10" presetSubtype="0">
                                  <p:stCondLst>
                                    <p:cond delay="0"/>
                                  </p:stCondLst>
                                  <p:childTnLst>
                                    <p:set>
                                      <p:cBhvr>
                                        <p:cTn dur="1" fill="hold">
                                          <p:stCondLst>
                                            <p:cond delay="0"/>
                                          </p:stCondLst>
                                        </p:cTn>
                                        <p:tgtEl>
                                          <p:spTgt spid="406"/>
                                        </p:tgtEl>
                                        <p:attrNameLst>
                                          <p:attrName>style.visibility</p:attrName>
                                        </p:attrNameLst>
                                      </p:cBhvr>
                                      <p:to>
                                        <p:strVal val="visible"/>
                                      </p:to>
                                    </p:set>
                                    <p:animEffect filter="fade" transition="in">
                                      <p:cBhvr>
                                        <p:cTn dur="600"/>
                                        <p:tgtEl>
                                          <p:spTgt spid="406"/>
                                        </p:tgtEl>
                                      </p:cBhvr>
                                    </p:animEffect>
                                  </p:childTnLst>
                                </p:cTn>
                              </p:par>
                              <p:par>
                                <p:cTn fill="hold" nodeType="withEffect" presetClass="entr" presetID="10" presetSubtype="0">
                                  <p:stCondLst>
                                    <p:cond delay="0"/>
                                  </p:stCondLst>
                                  <p:childTnLst>
                                    <p:set>
                                      <p:cBhvr>
                                        <p:cTn dur="1" fill="hold">
                                          <p:stCondLst>
                                            <p:cond delay="0"/>
                                          </p:stCondLst>
                                        </p:cTn>
                                        <p:tgtEl>
                                          <p:spTgt spid="407"/>
                                        </p:tgtEl>
                                        <p:attrNameLst>
                                          <p:attrName>style.visibility</p:attrName>
                                        </p:attrNameLst>
                                      </p:cBhvr>
                                      <p:to>
                                        <p:strVal val="visible"/>
                                      </p:to>
                                    </p:set>
                                    <p:animEffect filter="fade" transition="in">
                                      <p:cBhvr>
                                        <p:cTn dur="600"/>
                                        <p:tgtEl>
                                          <p:spTgt spid="4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8"/>
                                        </p:tgtEl>
                                        <p:attrNameLst>
                                          <p:attrName>style.visibility</p:attrName>
                                        </p:attrNameLst>
                                      </p:cBhvr>
                                      <p:to>
                                        <p:strVal val="visible"/>
                                      </p:to>
                                    </p:set>
                                    <p:animEffect filter="fade" transition="in">
                                      <p:cBhvr>
                                        <p:cTn dur="600"/>
                                        <p:tgtEl>
                                          <p:spTgt spid="408"/>
                                        </p:tgtEl>
                                      </p:cBhvr>
                                    </p:animEffect>
                                  </p:childTnLst>
                                </p:cTn>
                              </p:par>
                              <p:par>
                                <p:cTn fill="hold" nodeType="withEffect" presetClass="entr" presetID="10" presetSubtype="0">
                                  <p:stCondLst>
                                    <p:cond delay="0"/>
                                  </p:stCondLst>
                                  <p:childTnLst>
                                    <p:set>
                                      <p:cBhvr>
                                        <p:cTn dur="1" fill="hold">
                                          <p:stCondLst>
                                            <p:cond delay="0"/>
                                          </p:stCondLst>
                                        </p:cTn>
                                        <p:tgtEl>
                                          <p:spTgt spid="409"/>
                                        </p:tgtEl>
                                        <p:attrNameLst>
                                          <p:attrName>style.visibility</p:attrName>
                                        </p:attrNameLst>
                                      </p:cBhvr>
                                      <p:to>
                                        <p:strVal val="visible"/>
                                      </p:to>
                                    </p:set>
                                    <p:animEffect filter="fade" transition="in">
                                      <p:cBhvr>
                                        <p:cTn dur="600"/>
                                        <p:tgtEl>
                                          <p:spTgt spid="409"/>
                                        </p:tgtEl>
                                      </p:cBhvr>
                                    </p:animEffect>
                                  </p:childTnLst>
                                </p:cTn>
                              </p:par>
                              <p:par>
                                <p:cTn fill="hold" nodeType="withEffect" presetClass="entr" presetID="10" presetSubtype="0">
                                  <p:stCondLst>
                                    <p:cond delay="0"/>
                                  </p:stCondLst>
                                  <p:childTnLst>
                                    <p:set>
                                      <p:cBhvr>
                                        <p:cTn dur="1" fill="hold">
                                          <p:stCondLst>
                                            <p:cond delay="0"/>
                                          </p:stCondLst>
                                        </p:cTn>
                                        <p:tgtEl>
                                          <p:spTgt spid="410"/>
                                        </p:tgtEl>
                                        <p:attrNameLst>
                                          <p:attrName>style.visibility</p:attrName>
                                        </p:attrNameLst>
                                      </p:cBhvr>
                                      <p:to>
                                        <p:strVal val="visible"/>
                                      </p:to>
                                    </p:set>
                                    <p:animEffect filter="fade" transition="in">
                                      <p:cBhvr>
                                        <p:cTn dur="600"/>
                                        <p:tgtEl>
                                          <p:spTgt spid="410"/>
                                        </p:tgtEl>
                                      </p:cBhvr>
                                    </p:animEffect>
                                  </p:childTnLst>
                                </p:cTn>
                              </p:par>
                              <p:par>
                                <p:cTn fill="hold" nodeType="withEffect" presetClass="entr" presetID="10" presetSubtype="0">
                                  <p:stCondLst>
                                    <p:cond delay="0"/>
                                  </p:stCondLst>
                                  <p:childTnLst>
                                    <p:set>
                                      <p:cBhvr>
                                        <p:cTn dur="1" fill="hold">
                                          <p:stCondLst>
                                            <p:cond delay="0"/>
                                          </p:stCondLst>
                                        </p:cTn>
                                        <p:tgtEl>
                                          <p:spTgt spid="411"/>
                                        </p:tgtEl>
                                        <p:attrNameLst>
                                          <p:attrName>style.visibility</p:attrName>
                                        </p:attrNameLst>
                                      </p:cBhvr>
                                      <p:to>
                                        <p:strVal val="visible"/>
                                      </p:to>
                                    </p:set>
                                    <p:animEffect filter="fade" transition="in">
                                      <p:cBhvr>
                                        <p:cTn dur="600"/>
                                        <p:tgtEl>
                                          <p:spTgt spid="4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425" name="Shape 425"/>
        <p:cNvGrpSpPr/>
        <p:nvPr/>
      </p:nvGrpSpPr>
      <p:grpSpPr>
        <a:xfrm>
          <a:off x="0" y="0"/>
          <a:ext cx="0" cy="0"/>
          <a:chOff x="0" y="0"/>
          <a:chExt cx="0" cy="0"/>
        </a:xfrm>
      </p:grpSpPr>
      <p:sp>
        <p:nvSpPr>
          <p:cNvPr id="426" name="Google Shape;426;p18"/>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11 · DASHBOARD DEMO</a:t>
            </a:r>
            <a:endParaRPr b="0" i="0" sz="1200" u="none" cap="none" strike="noStrike">
              <a:solidFill>
                <a:schemeClr val="dk1"/>
              </a:solidFill>
              <a:latin typeface="Calibri"/>
              <a:ea typeface="Calibri"/>
              <a:cs typeface="Calibri"/>
              <a:sym typeface="Calibri"/>
            </a:endParaRPr>
          </a:p>
        </p:txBody>
      </p:sp>
      <p:sp>
        <p:nvSpPr>
          <p:cNvPr id="427" name="Google Shape;427;p18"/>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MAKĀMIN in action</a:t>
            </a:r>
            <a:endParaRPr b="0" i="0" sz="3200" u="none" cap="none" strike="noStrike">
              <a:solidFill>
                <a:schemeClr val="dk1"/>
              </a:solidFill>
              <a:latin typeface="Calibri"/>
              <a:ea typeface="Calibri"/>
              <a:cs typeface="Calibri"/>
              <a:sym typeface="Calibri"/>
            </a:endParaRPr>
          </a:p>
        </p:txBody>
      </p:sp>
      <p:sp>
        <p:nvSpPr>
          <p:cNvPr id="428" name="Google Shape;428;p18"/>
          <p:cNvSpPr/>
          <p:nvPr/>
        </p:nvSpPr>
        <p:spPr>
          <a:xfrm>
            <a:off x="1971904" y="1499616"/>
            <a:ext cx="8247888" cy="4687443"/>
          </a:xfrm>
          <a:prstGeom prst="roundRect">
            <a:avLst>
              <a:gd fmla="val 1561" name="adj"/>
            </a:avLst>
          </a:prstGeom>
          <a:solidFill>
            <a:srgbClr val="2C3A5A"/>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8"/>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Overview → risk score → SHAP reasons → 24-hour network  ·  recording sped up 1.25×</a:t>
            </a:r>
            <a:endParaRPr b="0" i="0" sz="1100" u="none" cap="none" strike="noStrike">
              <a:solidFill>
                <a:schemeClr val="dk1"/>
              </a:solidFill>
              <a:latin typeface="Calibri"/>
              <a:ea typeface="Calibri"/>
              <a:cs typeface="Calibri"/>
              <a:sym typeface="Calibri"/>
            </a:endParaRPr>
          </a:p>
        </p:txBody>
      </p:sp>
      <p:sp>
        <p:nvSpPr>
          <p:cNvPr id="430" name="Google Shape;430;p18"/>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15</a:t>
            </a:r>
            <a:endParaRPr b="0" i="0" sz="1100" u="none" cap="none" strike="noStrike">
              <a:solidFill>
                <a:schemeClr val="dk1"/>
              </a:solidFill>
              <a:latin typeface="Calibri"/>
              <a:ea typeface="Calibri"/>
              <a:cs typeface="Calibri"/>
              <a:sym typeface="Calibri"/>
            </a:endParaRPr>
          </a:p>
        </p:txBody>
      </p:sp>
      <p:sp>
        <p:nvSpPr>
          <p:cNvPr id="431" name="Google Shape;431;p18"/>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8"/>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8"/>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Lujain Alqarni</a:t>
            </a:r>
            <a:endParaRPr b="0" i="0" sz="1100" u="none" cap="none" strike="noStrike">
              <a:solidFill>
                <a:schemeClr val="dk1"/>
              </a:solidFill>
              <a:latin typeface="Calibri"/>
              <a:ea typeface="Calibri"/>
              <a:cs typeface="Calibri"/>
              <a:sym typeface="Calibri"/>
            </a:endParaRPr>
          </a:p>
        </p:txBody>
      </p:sp>
      <p:pic>
        <p:nvPicPr>
          <p:cNvPr id="434" name="Google Shape;434;p18" title="Screen Recording 2026-09-29 222726.mp4">
            <a:hlinkClick r:id="rId3"/>
          </p:cNvPr>
          <p:cNvPicPr preferRelativeResize="0"/>
          <p:nvPr/>
        </p:nvPicPr>
        <p:blipFill>
          <a:blip r:embed="rId4">
            <a:alphaModFix/>
          </a:blip>
          <a:stretch>
            <a:fillRect/>
          </a:stretch>
        </p:blipFill>
        <p:spPr>
          <a:xfrm>
            <a:off x="2895600" y="1533906"/>
            <a:ext cx="6309360" cy="4594860"/>
          </a:xfrm>
          <a:prstGeom prst="rect">
            <a:avLst/>
          </a:prstGeom>
          <a:noFill/>
          <a:ln>
            <a:noFill/>
          </a:ln>
          <a:effectLst>
            <a:outerShdw blurRad="57150" rotWithShape="0" algn="bl" dir="5400000" dist="19050">
              <a:srgbClr val="000000">
                <a:alpha val="50000"/>
              </a:srgbClr>
            </a:outerShdw>
          </a:effectLst>
        </p:spPr>
      </p:pic>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27"/>
                                        </p:tgtEl>
                                        <p:attrNameLst>
                                          <p:attrName>style.visibility</p:attrName>
                                        </p:attrNameLst>
                                      </p:cBhvr>
                                      <p:to>
                                        <p:strVal val="visible"/>
                                      </p:to>
                                    </p:set>
                                    <p:animEffect filter="fade" transition="in">
                                      <p:cBhvr>
                                        <p:cTn dur="5000"/>
                                        <p:tgtEl>
                                          <p:spTgt spid="4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4"/>
                                        </p:tgtEl>
                                        <p:attrNameLst>
                                          <p:attrName>style.visibility</p:attrName>
                                        </p:attrNameLst>
                                      </p:cBhvr>
                                      <p:to>
                                        <p:strVal val="visible"/>
                                      </p:to>
                                    </p:set>
                                    <p:animEffect filter="fade" transition="in">
                                      <p:cBhvr>
                                        <p:cTn dur="1000"/>
                                        <p:tgtEl>
                                          <p:spTgt spid="4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439" name="Shape 439"/>
        <p:cNvGrpSpPr/>
        <p:nvPr/>
      </p:nvGrpSpPr>
      <p:grpSpPr>
        <a:xfrm>
          <a:off x="0" y="0"/>
          <a:ext cx="0" cy="0"/>
          <a:chOff x="0" y="0"/>
          <a:chExt cx="0" cy="0"/>
        </a:xfrm>
      </p:grpSpPr>
      <p:sp>
        <p:nvSpPr>
          <p:cNvPr id="440" name="Google Shape;440;p19"/>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12 · CHECKING OUR RESULTS</a:t>
            </a:r>
            <a:endParaRPr b="0" i="0" sz="1200" u="none" cap="none" strike="noStrike">
              <a:solidFill>
                <a:schemeClr val="dk1"/>
              </a:solidFill>
              <a:latin typeface="Calibri"/>
              <a:ea typeface="Calibri"/>
              <a:cs typeface="Calibri"/>
              <a:sym typeface="Calibri"/>
            </a:endParaRPr>
          </a:p>
        </p:txBody>
      </p:sp>
      <p:sp>
        <p:nvSpPr>
          <p:cNvPr id="441" name="Google Shape;441;p19"/>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Leakage-aware, but the feature gain is within noise</a:t>
            </a:r>
            <a:endParaRPr b="0" i="0" sz="3200" u="none" cap="none" strike="noStrike">
              <a:solidFill>
                <a:schemeClr val="dk1"/>
              </a:solidFill>
              <a:latin typeface="Calibri"/>
              <a:ea typeface="Calibri"/>
              <a:cs typeface="Calibri"/>
              <a:sym typeface="Calibri"/>
            </a:endParaRPr>
          </a:p>
        </p:txBody>
      </p:sp>
      <p:sp>
        <p:nvSpPr>
          <p:cNvPr id="442" name="Google Shape;442;p19"/>
          <p:cNvSpPr/>
          <p:nvPr/>
        </p:nvSpPr>
        <p:spPr>
          <a:xfrm>
            <a:off x="612648" y="1737360"/>
            <a:ext cx="5394960" cy="3566160"/>
          </a:xfrm>
          <a:prstGeom prst="roundRect">
            <a:avLst>
              <a:gd fmla="val 3077"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9"/>
          <p:cNvSpPr/>
          <p:nvPr/>
        </p:nvSpPr>
        <p:spPr>
          <a:xfrm>
            <a:off x="932688" y="2011680"/>
            <a:ext cx="457200" cy="457200"/>
          </a:xfrm>
          <a:prstGeom prst="ellipse">
            <a:avLst/>
          </a:prstGeom>
          <a:solidFill>
            <a:srgbClr val="7FB77E"/>
          </a:solidFill>
          <a:ln cap="flat" cmpd="sng" w="12700">
            <a:solidFill>
              <a:srgbClr val="7FB7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9"/>
          <p:cNvSpPr txBox="1"/>
          <p:nvPr/>
        </p:nvSpPr>
        <p:spPr>
          <a:xfrm>
            <a:off x="932688" y="201168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a:t>
            </a:r>
            <a:endParaRPr b="0" i="0" sz="1800" u="none" cap="none" strike="noStrike">
              <a:solidFill>
                <a:schemeClr val="dk1"/>
              </a:solidFill>
              <a:latin typeface="Calibri"/>
              <a:ea typeface="Calibri"/>
              <a:cs typeface="Calibri"/>
              <a:sym typeface="Calibri"/>
            </a:endParaRPr>
          </a:p>
        </p:txBody>
      </p:sp>
      <p:sp>
        <p:nvSpPr>
          <p:cNvPr id="445" name="Google Shape;445;p19"/>
          <p:cNvSpPr txBox="1"/>
          <p:nvPr/>
        </p:nvSpPr>
        <p:spPr>
          <a:xfrm>
            <a:off x="1572768" y="2011680"/>
            <a:ext cx="4114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F3EE"/>
              </a:buClr>
              <a:buSzPts val="2000"/>
              <a:buFont typeface="Arial"/>
              <a:buNone/>
            </a:pPr>
            <a:r>
              <a:rPr b="1" i="0" lang="en-US" sz="2000" u="none" cap="none" strike="noStrike">
                <a:solidFill>
                  <a:srgbClr val="F5F3EE"/>
                </a:solidFill>
                <a:latin typeface="Arial"/>
                <a:ea typeface="Arial"/>
                <a:cs typeface="Arial"/>
                <a:sym typeface="Arial"/>
              </a:rPr>
              <a:t>Done right</a:t>
            </a:r>
            <a:endParaRPr b="0" i="0" sz="2000" u="none" cap="none" strike="noStrike">
              <a:solidFill>
                <a:schemeClr val="dk1"/>
              </a:solidFill>
              <a:latin typeface="Calibri"/>
              <a:ea typeface="Calibri"/>
              <a:cs typeface="Calibri"/>
              <a:sym typeface="Calibri"/>
            </a:endParaRPr>
          </a:p>
        </p:txBody>
      </p:sp>
      <p:sp>
        <p:nvSpPr>
          <p:cNvPr id="446" name="Google Shape;446;p19"/>
          <p:cNvSpPr txBox="1"/>
          <p:nvPr/>
        </p:nvSpPr>
        <p:spPr>
          <a:xfrm>
            <a:off x="932688" y="2743200"/>
            <a:ext cx="4846320" cy="30175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Tested on future transactions only</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Preprocessing learned from training data</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Features use past data, never labels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Notebook check confirms time order</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Labelled network kept out of the model</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AP instead of accuracy for 3.5% fraud</a:t>
            </a:r>
            <a:endParaRPr b="0" i="0" sz="1500" u="none" cap="none" strike="noStrike">
              <a:solidFill>
                <a:schemeClr val="dk1"/>
              </a:solidFill>
              <a:latin typeface="Calibri"/>
              <a:ea typeface="Calibri"/>
              <a:cs typeface="Calibri"/>
              <a:sym typeface="Calibri"/>
            </a:endParaRPr>
          </a:p>
        </p:txBody>
      </p:sp>
      <p:sp>
        <p:nvSpPr>
          <p:cNvPr id="447" name="Google Shape;447;p19"/>
          <p:cNvSpPr/>
          <p:nvPr/>
        </p:nvSpPr>
        <p:spPr>
          <a:xfrm>
            <a:off x="6190488" y="1737360"/>
            <a:ext cx="5394960" cy="3566160"/>
          </a:xfrm>
          <a:prstGeom prst="roundRect">
            <a:avLst>
              <a:gd fmla="val 3077"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9"/>
          <p:cNvSpPr/>
          <p:nvPr/>
        </p:nvSpPr>
        <p:spPr>
          <a:xfrm>
            <a:off x="6510528" y="2011680"/>
            <a:ext cx="457200" cy="45720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9"/>
          <p:cNvSpPr txBox="1"/>
          <p:nvPr/>
        </p:nvSpPr>
        <p:spPr>
          <a:xfrm>
            <a:off x="6510528" y="201168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A2E"/>
              </a:buClr>
              <a:buSzPts val="1800"/>
              <a:buFont typeface="Arial"/>
              <a:buNone/>
            </a:pPr>
            <a:r>
              <a:rPr b="1" i="0" lang="en-US" sz="1800" u="none" cap="none" strike="noStrike">
                <a:solidFill>
                  <a:srgbClr val="111A2E"/>
                </a:solidFill>
                <a:latin typeface="Arial"/>
                <a:ea typeface="Arial"/>
                <a:cs typeface="Arial"/>
                <a:sym typeface="Arial"/>
              </a:rPr>
              <a:t>!</a:t>
            </a:r>
            <a:endParaRPr b="0" i="0" sz="1800" u="none" cap="none" strike="noStrike">
              <a:solidFill>
                <a:schemeClr val="dk1"/>
              </a:solidFill>
              <a:latin typeface="Calibri"/>
              <a:ea typeface="Calibri"/>
              <a:cs typeface="Calibri"/>
              <a:sym typeface="Calibri"/>
            </a:endParaRPr>
          </a:p>
        </p:txBody>
      </p:sp>
      <p:sp>
        <p:nvSpPr>
          <p:cNvPr id="450" name="Google Shape;450;p19"/>
          <p:cNvSpPr txBox="1"/>
          <p:nvPr/>
        </p:nvSpPr>
        <p:spPr>
          <a:xfrm>
            <a:off x="7150608" y="2011680"/>
            <a:ext cx="4114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F3EE"/>
              </a:buClr>
              <a:buSzPts val="2000"/>
              <a:buFont typeface="Arial"/>
              <a:buNone/>
            </a:pPr>
            <a:r>
              <a:rPr b="1" i="0" lang="en-US" sz="2000" u="none" cap="none" strike="noStrike">
                <a:solidFill>
                  <a:srgbClr val="F5F3EE"/>
                </a:solidFill>
                <a:latin typeface="Arial"/>
                <a:ea typeface="Arial"/>
                <a:cs typeface="Arial"/>
                <a:sym typeface="Arial"/>
              </a:rPr>
              <a:t>Watch out</a:t>
            </a:r>
            <a:endParaRPr b="0" i="0" sz="2000" u="none" cap="none" strike="noStrike">
              <a:solidFill>
                <a:schemeClr val="dk1"/>
              </a:solidFill>
              <a:latin typeface="Calibri"/>
              <a:ea typeface="Calibri"/>
              <a:cs typeface="Calibri"/>
              <a:sym typeface="Calibri"/>
            </a:endParaRPr>
          </a:p>
        </p:txBody>
      </p:sp>
      <p:sp>
        <p:nvSpPr>
          <p:cNvPr id="451" name="Google Shape;451;p19"/>
          <p:cNvSpPr txBox="1"/>
          <p:nvPr/>
        </p:nvSpPr>
        <p:spPr>
          <a:xfrm>
            <a:off x="6510528" y="2743200"/>
            <a:ext cx="4846320" cy="30175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ANN early stopping watched validation data</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One split, one run: +0.0017 may be noise</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XGBoost training scores not recorded</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C3CCDA"/>
              </a:buClr>
              <a:buSzPts val="1500"/>
              <a:buFont typeface="Arial"/>
              <a:buChar char="•"/>
            </a:pPr>
            <a:r>
              <a:rPr b="0" i="0" lang="en-US" sz="1500" u="none" cap="none" strike="noStrike">
                <a:solidFill>
                  <a:srgbClr val="C3CCDA"/>
                </a:solidFill>
                <a:latin typeface="Arial"/>
                <a:ea typeface="Arial"/>
                <a:cs typeface="Arial"/>
                <a:sym typeface="Arial"/>
              </a:rPr>
              <a:t>ANN validation score unstable across epochs</a:t>
            </a:r>
            <a:endParaRPr b="0" i="0" sz="1500" u="none" cap="none" strike="noStrike">
              <a:solidFill>
                <a:schemeClr val="dk1"/>
              </a:solidFill>
              <a:latin typeface="Calibri"/>
              <a:ea typeface="Calibri"/>
              <a:cs typeface="Calibri"/>
              <a:sym typeface="Calibri"/>
            </a:endParaRPr>
          </a:p>
        </p:txBody>
      </p:sp>
      <p:sp>
        <p:nvSpPr>
          <p:cNvPr id="452" name="Google Shape;452;p19"/>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453" name="Google Shape;453;p19"/>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16</a:t>
            </a:r>
            <a:endParaRPr b="0" i="0" sz="1100" u="none" cap="none" strike="noStrike">
              <a:solidFill>
                <a:schemeClr val="dk1"/>
              </a:solidFill>
              <a:latin typeface="Calibri"/>
              <a:ea typeface="Calibri"/>
              <a:cs typeface="Calibri"/>
              <a:sym typeface="Calibri"/>
            </a:endParaRPr>
          </a:p>
        </p:txBody>
      </p:sp>
      <p:sp>
        <p:nvSpPr>
          <p:cNvPr id="454" name="Google Shape;454;p19"/>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9"/>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9"/>
          <p:cNvSpPr txBox="1"/>
          <p:nvPr/>
        </p:nvSpPr>
        <p:spPr>
          <a:xfrm>
            <a:off x="9326875" y="585275"/>
            <a:ext cx="2194500" cy="128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3CCDA"/>
              </a:buClr>
              <a:buSzPts val="1100"/>
              <a:buFont typeface="Arial"/>
              <a:buNone/>
            </a:pPr>
            <a:r>
              <a:rPr b="1" lang="en-US" sz="1100">
                <a:solidFill>
                  <a:srgbClr val="C3CCDA"/>
                </a:solidFill>
              </a:rPr>
              <a:t>Lujain Alqarni</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C3CCDA"/>
              </a:buClr>
              <a:buSzPts val="1100"/>
              <a:buFont typeface="Arial"/>
              <a:buNone/>
            </a:pPr>
            <a:r>
              <a:t/>
            </a:r>
            <a:endParaRPr b="1" sz="1100">
              <a:solidFill>
                <a:srgbClr val="C3CCDA"/>
              </a:solidFill>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461" name="Shape 461"/>
        <p:cNvGrpSpPr/>
        <p:nvPr/>
      </p:nvGrpSpPr>
      <p:grpSpPr>
        <a:xfrm>
          <a:off x="0" y="0"/>
          <a:ext cx="0" cy="0"/>
          <a:chOff x="0" y="0"/>
          <a:chExt cx="0" cy="0"/>
        </a:xfrm>
      </p:grpSpPr>
      <p:sp>
        <p:nvSpPr>
          <p:cNvPr id="462" name="Google Shape;462;p20"/>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04A16"/>
              </a:buClr>
              <a:buSzPts val="1200"/>
              <a:buFont typeface="Arial"/>
              <a:buNone/>
            </a:pPr>
            <a:r>
              <a:rPr b="1" i="0" lang="en-US" sz="1200" u="none" cap="none" strike="noStrike">
                <a:solidFill>
                  <a:srgbClr val="B04A16"/>
                </a:solidFill>
                <a:latin typeface="Arial"/>
                <a:ea typeface="Arial"/>
                <a:cs typeface="Arial"/>
                <a:sym typeface="Arial"/>
              </a:rPr>
              <a:t>13 · LIMITATIONS AND NEXT STEPS</a:t>
            </a:r>
            <a:endParaRPr b="0" i="0" sz="1200" u="none" cap="none" strike="noStrike">
              <a:solidFill>
                <a:schemeClr val="dk1"/>
              </a:solidFill>
              <a:latin typeface="Calibri"/>
              <a:ea typeface="Calibri"/>
              <a:cs typeface="Calibri"/>
              <a:sym typeface="Calibri"/>
            </a:endParaRPr>
          </a:p>
        </p:txBody>
      </p:sp>
      <p:sp>
        <p:nvSpPr>
          <p:cNvPr id="463" name="Google Shape;463;p20"/>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3200"/>
              <a:buFont typeface="Arial"/>
              <a:buNone/>
            </a:pPr>
            <a:r>
              <a:rPr b="1" i="0" lang="en-US" sz="3200" u="none" cap="none" strike="noStrike">
                <a:solidFill>
                  <a:srgbClr val="111A2E"/>
                </a:solidFill>
                <a:latin typeface="Arial"/>
                <a:ea typeface="Arial"/>
                <a:cs typeface="Arial"/>
                <a:sym typeface="Arial"/>
              </a:rPr>
              <a:t>What limits the results, and what comes next</a:t>
            </a:r>
            <a:endParaRPr b="0" i="0" sz="3200" u="none" cap="none" strike="noStrike">
              <a:solidFill>
                <a:schemeClr val="dk1"/>
              </a:solidFill>
              <a:latin typeface="Calibri"/>
              <a:ea typeface="Calibri"/>
              <a:cs typeface="Calibri"/>
              <a:sym typeface="Calibri"/>
            </a:endParaRPr>
          </a:p>
        </p:txBody>
      </p:sp>
      <p:sp>
        <p:nvSpPr>
          <p:cNvPr id="464" name="Google Shape;464;p20"/>
          <p:cNvSpPr/>
          <p:nvPr/>
        </p:nvSpPr>
        <p:spPr>
          <a:xfrm>
            <a:off x="612648" y="1737360"/>
            <a:ext cx="5394960" cy="3566160"/>
          </a:xfrm>
          <a:prstGeom prst="roundRect">
            <a:avLst>
              <a:gd fmla="val 3077" name="adj"/>
            </a:avLst>
          </a:prstGeom>
          <a:solidFill>
            <a:srgbClr val="FCFBF8"/>
          </a:solidFill>
          <a:ln cap="flat" cmpd="sng" w="12700">
            <a:solidFill>
              <a:srgbClr val="DDD8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0"/>
          <p:cNvSpPr txBox="1"/>
          <p:nvPr/>
        </p:nvSpPr>
        <p:spPr>
          <a:xfrm>
            <a:off x="932688" y="19659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2000"/>
              <a:buFont typeface="Arial"/>
              <a:buNone/>
            </a:pPr>
            <a:r>
              <a:rPr b="1" i="0" lang="en-US" sz="2000" u="none" cap="none" strike="noStrike">
                <a:solidFill>
                  <a:srgbClr val="111A2E"/>
                </a:solidFill>
                <a:latin typeface="Arial"/>
                <a:ea typeface="Arial"/>
                <a:cs typeface="Arial"/>
                <a:sym typeface="Arial"/>
              </a:rPr>
              <a:t>Limitations</a:t>
            </a:r>
            <a:endParaRPr b="0" i="0" sz="2000" u="none" cap="none" strike="noStrike">
              <a:solidFill>
                <a:schemeClr val="dk1"/>
              </a:solidFill>
              <a:latin typeface="Calibri"/>
              <a:ea typeface="Calibri"/>
              <a:cs typeface="Calibri"/>
              <a:sym typeface="Calibri"/>
            </a:endParaRPr>
          </a:p>
        </p:txBody>
      </p:sp>
      <p:sp>
        <p:nvSpPr>
          <p:cNvPr id="466" name="Google Shape;466;p20"/>
          <p:cNvSpPr txBox="1"/>
          <p:nvPr/>
        </p:nvSpPr>
        <p:spPr>
          <a:xfrm>
            <a:off x="932688" y="2606040"/>
            <a:ext cx="4846320" cy="31089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A5C"/>
              </a:buClr>
              <a:buSzPts val="1500"/>
              <a:buFont typeface="Arial"/>
              <a:buChar char="•"/>
            </a:pPr>
            <a:r>
              <a:rPr b="0" i="0" lang="en-US" sz="1500" u="none" cap="none" strike="noStrike">
                <a:solidFill>
                  <a:srgbClr val="3F4A5C"/>
                </a:solidFill>
                <a:latin typeface="Arial"/>
                <a:ea typeface="Arial"/>
                <a:cs typeface="Arial"/>
                <a:sym typeface="Arial"/>
              </a:rPr>
              <a:t>GNN experiments not in the final notebook</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Arial"/>
              <a:buChar char="•"/>
            </a:pPr>
            <a:r>
              <a:rPr b="0" i="0" lang="en-US" sz="1500" u="none" cap="none" strike="noStrike">
                <a:solidFill>
                  <a:srgbClr val="3F4A5C"/>
                </a:solidFill>
                <a:latin typeface="Arial"/>
                <a:ea typeface="Arial"/>
                <a:cs typeface="Arial"/>
                <a:sym typeface="Arial"/>
              </a:rPr>
              <a:t>Many top features are anonymised</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Arial"/>
              <a:buChar char="•"/>
            </a:pPr>
            <a:r>
              <a:rPr b="0" i="0" lang="en-US" sz="1500" u="none" cap="none" strike="noStrike">
                <a:solidFill>
                  <a:srgbClr val="3F4A5C"/>
                </a:solidFill>
                <a:latin typeface="Arial"/>
                <a:ea typeface="Arial"/>
                <a:cs typeface="Arial"/>
                <a:sym typeface="Arial"/>
              </a:rPr>
              <a:t>Card and address are not true customer IDs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Arial"/>
              <a:buChar char="•"/>
            </a:pPr>
            <a:r>
              <a:rPr b="0" i="0" lang="en-US" sz="1500" u="none" cap="none" strike="noStrike">
                <a:solidFill>
                  <a:srgbClr val="3F4A5C"/>
                </a:solidFill>
                <a:latin typeface="Arial"/>
                <a:ea typeface="Arial"/>
                <a:cs typeface="Arial"/>
                <a:sym typeface="Arial"/>
              </a:rPr>
              <a:t>Little hyperparameter tuning; CPU only</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Arial"/>
              <a:buChar char="•"/>
            </a:pPr>
            <a:r>
              <a:rPr b="0" i="0" lang="en-US" sz="1500" u="none" cap="none" strike="noStrike">
                <a:solidFill>
                  <a:srgbClr val="3F4A5C"/>
                </a:solidFill>
                <a:latin typeface="Arial"/>
                <a:ea typeface="Arial"/>
                <a:cs typeface="Arial"/>
                <a:sym typeface="Arial"/>
              </a:rPr>
              <a:t>Real fraud labels arrive late</a:t>
            </a:r>
            <a:endParaRPr b="0" i="0" sz="1500" u="none" cap="none" strike="noStrike">
              <a:solidFill>
                <a:schemeClr val="dk1"/>
              </a:solidFill>
              <a:latin typeface="Calibri"/>
              <a:ea typeface="Calibri"/>
              <a:cs typeface="Calibri"/>
              <a:sym typeface="Calibri"/>
            </a:endParaRPr>
          </a:p>
        </p:txBody>
      </p:sp>
      <p:sp>
        <p:nvSpPr>
          <p:cNvPr id="467" name="Google Shape;467;p20"/>
          <p:cNvSpPr/>
          <p:nvPr/>
        </p:nvSpPr>
        <p:spPr>
          <a:xfrm>
            <a:off x="6190488" y="1737360"/>
            <a:ext cx="5394960" cy="3566160"/>
          </a:xfrm>
          <a:prstGeom prst="roundRect">
            <a:avLst>
              <a:gd fmla="val 3077" name="adj"/>
            </a:avLst>
          </a:prstGeom>
          <a:solidFill>
            <a:srgbClr val="FCFBF8"/>
          </a:solidFill>
          <a:ln cap="flat" cmpd="sng" w="254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0"/>
          <p:cNvSpPr txBox="1"/>
          <p:nvPr/>
        </p:nvSpPr>
        <p:spPr>
          <a:xfrm>
            <a:off x="6510528" y="19659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A2E"/>
              </a:buClr>
              <a:buSzPts val="2000"/>
              <a:buFont typeface="Arial"/>
              <a:buNone/>
            </a:pPr>
            <a:r>
              <a:rPr b="1" i="0" lang="en-US" sz="2000" u="none" cap="none" strike="noStrike">
                <a:solidFill>
                  <a:srgbClr val="111A2E"/>
                </a:solidFill>
                <a:latin typeface="Arial"/>
                <a:ea typeface="Arial"/>
                <a:cs typeface="Arial"/>
                <a:sym typeface="Arial"/>
              </a:rPr>
              <a:t>Future work</a:t>
            </a:r>
            <a:endParaRPr b="0" i="0" sz="2000" u="none" cap="none" strike="noStrike">
              <a:solidFill>
                <a:schemeClr val="dk1"/>
              </a:solidFill>
              <a:latin typeface="Calibri"/>
              <a:ea typeface="Calibri"/>
              <a:cs typeface="Calibri"/>
              <a:sym typeface="Calibri"/>
            </a:endParaRPr>
          </a:p>
        </p:txBody>
      </p:sp>
      <p:sp>
        <p:nvSpPr>
          <p:cNvPr id="469" name="Google Shape;469;p20"/>
          <p:cNvSpPr txBox="1"/>
          <p:nvPr/>
        </p:nvSpPr>
        <p:spPr>
          <a:xfrm>
            <a:off x="6510528" y="2606040"/>
            <a:ext cx="4846320" cy="31089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A5C"/>
              </a:buClr>
              <a:buSzPts val="1500"/>
              <a:buFont typeface="Calibri"/>
              <a:buAutoNum type="arabicPeriod"/>
            </a:pPr>
            <a:r>
              <a:rPr b="0" i="0" lang="en-US" sz="1500" u="none" cap="none" strike="noStrike">
                <a:solidFill>
                  <a:srgbClr val="3F4A5C"/>
                </a:solidFill>
                <a:latin typeface="Arial"/>
                <a:ea typeface="Arial"/>
                <a:cs typeface="Arial"/>
                <a:sym typeface="Arial"/>
              </a:rPr>
              <a:t>Revisit GNNs with a richer entity graph</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Calibri"/>
              <a:buAutoNum type="arabicPeriod"/>
            </a:pPr>
            <a:r>
              <a:rPr b="0" i="0" lang="en-US" sz="1500" u="none" cap="none" strike="noStrike">
                <a:solidFill>
                  <a:srgbClr val="3F4A5C"/>
                </a:solidFill>
                <a:latin typeface="Arial"/>
                <a:ea typeface="Arial"/>
                <a:cs typeface="Arial"/>
                <a:sym typeface="Arial"/>
              </a:rPr>
              <a:t>Time-based cross-validation + final test set</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Calibri"/>
              <a:buAutoNum type="arabicPeriod"/>
            </a:pPr>
            <a:r>
              <a:rPr b="0" i="0" lang="en-US" sz="1500" u="none" cap="none" strike="noStrike">
                <a:solidFill>
                  <a:srgbClr val="3F4A5C"/>
                </a:solidFill>
                <a:latin typeface="Arial"/>
                <a:ea typeface="Arial"/>
                <a:cs typeface="Arial"/>
                <a:sym typeface="Arial"/>
              </a:rPr>
              <a:t>Tune XGBoost, report training scores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Calibri"/>
              <a:buAutoNum type="arabicPeriod"/>
            </a:pPr>
            <a:r>
              <a:rPr b="0" i="0" lang="en-US" sz="1500" u="none" cap="none" strike="noStrike">
                <a:solidFill>
                  <a:srgbClr val="3F4A5C"/>
                </a:solidFill>
                <a:latin typeface="Arial"/>
                <a:ea typeface="Arial"/>
                <a:cs typeface="Arial"/>
                <a:sym typeface="Arial"/>
              </a:rPr>
              <a:t>Stronger customer identifiers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3F4A5C"/>
              </a:buClr>
              <a:buSzPts val="1500"/>
              <a:buFont typeface="Calibri"/>
              <a:buAutoNum type="arabicPeriod"/>
            </a:pPr>
            <a:r>
              <a:rPr b="0" i="0" lang="en-US" sz="1500" u="none" cap="none" strike="noStrike">
                <a:solidFill>
                  <a:srgbClr val="3F4A5C"/>
                </a:solidFill>
                <a:latin typeface="Arial"/>
                <a:ea typeface="Arial"/>
                <a:cs typeface="Arial"/>
                <a:sym typeface="Arial"/>
              </a:rPr>
              <a:t>Cost-based threshold; host MAKĀMIN permanently</a:t>
            </a:r>
            <a:endParaRPr b="0" i="0" sz="1500" u="none" cap="none" strike="noStrike">
              <a:solidFill>
                <a:schemeClr val="dk1"/>
              </a:solidFill>
              <a:latin typeface="Calibri"/>
              <a:ea typeface="Calibri"/>
              <a:cs typeface="Calibri"/>
              <a:sym typeface="Calibri"/>
            </a:endParaRPr>
          </a:p>
        </p:txBody>
      </p:sp>
      <p:sp>
        <p:nvSpPr>
          <p:cNvPr id="470" name="Google Shape;470;p20"/>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471" name="Google Shape;471;p20"/>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E6778"/>
              </a:buClr>
              <a:buSzPts val="1100"/>
              <a:buFont typeface="Arial"/>
              <a:buNone/>
            </a:pPr>
            <a:r>
              <a:rPr b="0" i="0" lang="en-US" sz="1100" u="none" cap="none" strike="noStrike">
                <a:solidFill>
                  <a:srgbClr val="5E6778"/>
                </a:solidFill>
                <a:latin typeface="Arial"/>
                <a:ea typeface="Arial"/>
                <a:cs typeface="Arial"/>
                <a:sym typeface="Arial"/>
              </a:rPr>
              <a:t>17</a:t>
            </a:r>
            <a:endParaRPr b="0" i="0" sz="1100" u="none" cap="none" strike="noStrike">
              <a:solidFill>
                <a:schemeClr val="dk1"/>
              </a:solidFill>
              <a:latin typeface="Calibri"/>
              <a:ea typeface="Calibri"/>
              <a:cs typeface="Calibri"/>
              <a:sym typeface="Calibri"/>
            </a:endParaRPr>
          </a:p>
        </p:txBody>
      </p:sp>
      <p:sp>
        <p:nvSpPr>
          <p:cNvPr id="472" name="Google Shape;472;p20"/>
          <p:cNvSpPr/>
          <p:nvPr/>
        </p:nvSpPr>
        <p:spPr>
          <a:xfrm>
            <a:off x="9025128" y="384048"/>
            <a:ext cx="2560320" cy="329184"/>
          </a:xfrm>
          <a:prstGeom prst="roundRect">
            <a:avLst>
              <a:gd fmla="val 50000" name="adj"/>
            </a:avLst>
          </a:prstGeom>
          <a:solidFill>
            <a:srgbClr val="EBE6DA"/>
          </a:solidFill>
          <a:ln cap="flat" cmpd="sng" w="12700">
            <a:solidFill>
              <a:srgbClr val="EBE6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0"/>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0"/>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638"/>
              </a:buClr>
              <a:buSzPts val="1100"/>
              <a:buFont typeface="Arial"/>
              <a:buNone/>
            </a:pPr>
            <a:r>
              <a:rPr b="1" i="0" lang="en-US" sz="1100" u="none" cap="none" strike="noStrike">
                <a:solidFill>
                  <a:srgbClr val="1E2638"/>
                </a:solidFill>
                <a:latin typeface="Arial"/>
                <a:ea typeface="Arial"/>
                <a:cs typeface="Arial"/>
                <a:sym typeface="Arial"/>
              </a:rPr>
              <a:t>Remas Almutairi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479" name="Shape 479"/>
        <p:cNvGrpSpPr/>
        <p:nvPr/>
      </p:nvGrpSpPr>
      <p:grpSpPr>
        <a:xfrm>
          <a:off x="0" y="0"/>
          <a:ext cx="0" cy="0"/>
          <a:chOff x="0" y="0"/>
          <a:chExt cx="0" cy="0"/>
        </a:xfrm>
      </p:grpSpPr>
      <p:sp>
        <p:nvSpPr>
          <p:cNvPr id="480" name="Google Shape;480;p21"/>
          <p:cNvSpPr txBox="1"/>
          <p:nvPr/>
        </p:nvSpPr>
        <p:spPr>
          <a:xfrm>
            <a:off x="612648" y="457200"/>
            <a:ext cx="10972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43B"/>
              </a:buClr>
              <a:buSzPts val="1200"/>
              <a:buFont typeface="Arial"/>
              <a:buNone/>
            </a:pPr>
            <a:r>
              <a:rPr b="1" i="0" lang="en-US" sz="1200" u="none" cap="none" strike="noStrike">
                <a:solidFill>
                  <a:srgbClr val="E8743B"/>
                </a:solidFill>
                <a:latin typeface="Arial"/>
                <a:ea typeface="Arial"/>
                <a:cs typeface="Arial"/>
                <a:sym typeface="Arial"/>
              </a:rPr>
              <a:t>14 · CONCLUSION</a:t>
            </a:r>
            <a:endParaRPr b="0" i="0" sz="1200" u="none" cap="none" strike="noStrike">
              <a:solidFill>
                <a:schemeClr val="dk1"/>
              </a:solidFill>
              <a:latin typeface="Calibri"/>
              <a:ea typeface="Calibri"/>
              <a:cs typeface="Calibri"/>
              <a:sym typeface="Calibri"/>
            </a:endParaRPr>
          </a:p>
        </p:txBody>
      </p:sp>
      <p:sp>
        <p:nvSpPr>
          <p:cNvPr id="481" name="Google Shape;481;p21"/>
          <p:cNvSpPr txBox="1"/>
          <p:nvPr/>
        </p:nvSpPr>
        <p:spPr>
          <a:xfrm>
            <a:off x="612648" y="777240"/>
            <a:ext cx="109728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3200"/>
              <a:buFont typeface="Arial"/>
              <a:buNone/>
            </a:pPr>
            <a:r>
              <a:rPr b="1" i="0" lang="en-US" sz="3200" u="none" cap="none" strike="noStrike">
                <a:solidFill>
                  <a:srgbClr val="F5F3EE"/>
                </a:solidFill>
                <a:latin typeface="Arial"/>
                <a:ea typeface="Arial"/>
                <a:cs typeface="Arial"/>
                <a:sym typeface="Arial"/>
              </a:rPr>
              <a:t>Our hypothesis is partly supported</a:t>
            </a:r>
            <a:endParaRPr b="0" i="0" sz="3200" u="none" cap="none" strike="noStrike">
              <a:solidFill>
                <a:schemeClr val="dk1"/>
              </a:solidFill>
              <a:latin typeface="Calibri"/>
              <a:ea typeface="Calibri"/>
              <a:cs typeface="Calibri"/>
              <a:sym typeface="Calibri"/>
            </a:endParaRPr>
          </a:p>
        </p:txBody>
      </p:sp>
      <p:sp>
        <p:nvSpPr>
          <p:cNvPr id="482" name="Google Shape;482;p21"/>
          <p:cNvSpPr txBox="1"/>
          <p:nvPr/>
        </p:nvSpPr>
        <p:spPr>
          <a:xfrm>
            <a:off x="612648" y="1828800"/>
            <a:ext cx="64008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4000"/>
              <a:buFont typeface="Arial"/>
              <a:buNone/>
            </a:pPr>
            <a:r>
              <a:rPr b="1" i="0" lang="en-US" sz="4000" u="none" cap="none" strike="noStrike">
                <a:solidFill>
                  <a:srgbClr val="E8743B"/>
                </a:solidFill>
                <a:latin typeface="Arial"/>
                <a:ea typeface="Arial"/>
                <a:cs typeface="Arial"/>
                <a:sym typeface="Arial"/>
              </a:rPr>
              <a:t>1</a:t>
            </a:r>
            <a:endParaRPr b="0" i="0" sz="4000" u="none" cap="none" strike="noStrike">
              <a:solidFill>
                <a:schemeClr val="dk1"/>
              </a:solidFill>
              <a:latin typeface="Calibri"/>
              <a:ea typeface="Calibri"/>
              <a:cs typeface="Calibri"/>
              <a:sym typeface="Calibri"/>
            </a:endParaRPr>
          </a:p>
        </p:txBody>
      </p:sp>
      <p:sp>
        <p:nvSpPr>
          <p:cNvPr id="483" name="Google Shape;483;p21"/>
          <p:cNvSpPr txBox="1"/>
          <p:nvPr/>
        </p:nvSpPr>
        <p:spPr>
          <a:xfrm>
            <a:off x="1435608" y="1874520"/>
            <a:ext cx="10058400" cy="914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5F3EE"/>
              </a:buClr>
              <a:buSzPts val="2100"/>
              <a:buFont typeface="Arial"/>
              <a:buNone/>
            </a:pPr>
            <a:r>
              <a:rPr b="0" i="0" lang="en-US" sz="2100" u="none" cap="none" strike="noStrike">
                <a:solidFill>
                  <a:srgbClr val="F5F3EE"/>
                </a:solidFill>
                <a:latin typeface="Arial"/>
                <a:ea typeface="Arial"/>
                <a:cs typeface="Arial"/>
                <a:sym typeface="Arial"/>
              </a:rPr>
              <a:t>Coordinated fraud is real: up to 35 fraudulent transactions share one card and address.</a:t>
            </a:r>
            <a:endParaRPr b="0" i="0" sz="2100" u="none" cap="none" strike="noStrike">
              <a:solidFill>
                <a:schemeClr val="dk1"/>
              </a:solidFill>
              <a:latin typeface="Calibri"/>
              <a:ea typeface="Calibri"/>
              <a:cs typeface="Calibri"/>
              <a:sym typeface="Calibri"/>
            </a:endParaRPr>
          </a:p>
        </p:txBody>
      </p:sp>
      <p:sp>
        <p:nvSpPr>
          <p:cNvPr id="484" name="Google Shape;484;p21"/>
          <p:cNvSpPr txBox="1"/>
          <p:nvPr/>
        </p:nvSpPr>
        <p:spPr>
          <a:xfrm>
            <a:off x="612648" y="3154680"/>
            <a:ext cx="64008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4000"/>
              <a:buFont typeface="Arial"/>
              <a:buNone/>
            </a:pPr>
            <a:r>
              <a:rPr b="1" i="0" lang="en-US" sz="4000" u="none" cap="none" strike="noStrike">
                <a:solidFill>
                  <a:srgbClr val="E8743B"/>
                </a:solidFill>
                <a:latin typeface="Arial"/>
                <a:ea typeface="Arial"/>
                <a:cs typeface="Arial"/>
                <a:sym typeface="Arial"/>
              </a:rPr>
              <a:t>2</a:t>
            </a:r>
            <a:endParaRPr b="0" i="0" sz="4000" u="none" cap="none" strike="noStrike">
              <a:solidFill>
                <a:schemeClr val="dk1"/>
              </a:solidFill>
              <a:latin typeface="Calibri"/>
              <a:ea typeface="Calibri"/>
              <a:cs typeface="Calibri"/>
              <a:sym typeface="Calibri"/>
            </a:endParaRPr>
          </a:p>
        </p:txBody>
      </p:sp>
      <p:sp>
        <p:nvSpPr>
          <p:cNvPr id="485" name="Google Shape;485;p21"/>
          <p:cNvSpPr txBox="1"/>
          <p:nvPr/>
        </p:nvSpPr>
        <p:spPr>
          <a:xfrm>
            <a:off x="1435608" y="3200400"/>
            <a:ext cx="10058400" cy="914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5F3EE"/>
              </a:buClr>
              <a:buSzPts val="2100"/>
              <a:buFont typeface="Arial"/>
              <a:buNone/>
            </a:pPr>
            <a:r>
              <a:rPr b="0" i="0" lang="en-US" sz="2100" u="none" cap="none" strike="noStrike">
                <a:solidFill>
                  <a:srgbClr val="F5F3EE"/>
                </a:solidFill>
                <a:latin typeface="Arial"/>
                <a:ea typeface="Arial"/>
                <a:cs typeface="Arial"/>
                <a:sym typeface="Arial"/>
              </a:rPr>
              <a:t>Relationship features are safe and used by the model, but add only a little on top of XGBoost.</a:t>
            </a:r>
            <a:endParaRPr b="0" i="0" sz="2100" u="none" cap="none" strike="noStrike">
              <a:solidFill>
                <a:schemeClr val="dk1"/>
              </a:solidFill>
              <a:latin typeface="Calibri"/>
              <a:ea typeface="Calibri"/>
              <a:cs typeface="Calibri"/>
              <a:sym typeface="Calibri"/>
            </a:endParaRPr>
          </a:p>
        </p:txBody>
      </p:sp>
      <p:sp>
        <p:nvSpPr>
          <p:cNvPr id="486" name="Google Shape;486;p21"/>
          <p:cNvSpPr txBox="1"/>
          <p:nvPr/>
        </p:nvSpPr>
        <p:spPr>
          <a:xfrm>
            <a:off x="612648" y="4480560"/>
            <a:ext cx="64008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4000"/>
              <a:buFont typeface="Arial"/>
              <a:buNone/>
            </a:pPr>
            <a:r>
              <a:rPr b="1" i="0" lang="en-US" sz="4000" u="none" cap="none" strike="noStrike">
                <a:solidFill>
                  <a:srgbClr val="E8743B"/>
                </a:solidFill>
                <a:latin typeface="Arial"/>
                <a:ea typeface="Arial"/>
                <a:cs typeface="Arial"/>
                <a:sym typeface="Arial"/>
              </a:rPr>
              <a:t>3</a:t>
            </a:r>
            <a:endParaRPr b="0" i="0" sz="4000" u="none" cap="none" strike="noStrike">
              <a:solidFill>
                <a:schemeClr val="dk1"/>
              </a:solidFill>
              <a:latin typeface="Calibri"/>
              <a:ea typeface="Calibri"/>
              <a:cs typeface="Calibri"/>
              <a:sym typeface="Calibri"/>
            </a:endParaRPr>
          </a:p>
        </p:txBody>
      </p:sp>
      <p:sp>
        <p:nvSpPr>
          <p:cNvPr id="487" name="Google Shape;487;p21"/>
          <p:cNvSpPr txBox="1"/>
          <p:nvPr/>
        </p:nvSpPr>
        <p:spPr>
          <a:xfrm>
            <a:off x="1435608" y="4526280"/>
            <a:ext cx="10058400" cy="914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5F3EE"/>
              </a:buClr>
              <a:buSzPts val="2100"/>
              <a:buFont typeface="Arial"/>
              <a:buNone/>
            </a:pPr>
            <a:r>
              <a:rPr b="0" i="0" lang="en-US" sz="2100" u="none" cap="none" strike="noStrike">
                <a:solidFill>
                  <a:srgbClr val="F5F3EE"/>
                </a:solidFill>
                <a:latin typeface="Arial"/>
                <a:ea typeface="Arial"/>
                <a:cs typeface="Arial"/>
                <a:sym typeface="Arial"/>
              </a:rPr>
              <a:t>The most complex models were not the best: XGBoost beat the ANN, GraphSAGE and RGCN, catching 74% of fraud.</a:t>
            </a:r>
            <a:endParaRPr b="0" i="0" sz="2100" u="none" cap="none" strike="noStrike">
              <a:solidFill>
                <a:schemeClr val="dk1"/>
              </a:solidFill>
              <a:latin typeface="Calibri"/>
              <a:ea typeface="Calibri"/>
              <a:cs typeface="Calibri"/>
              <a:sym typeface="Calibri"/>
            </a:endParaRPr>
          </a:p>
        </p:txBody>
      </p:sp>
      <p:sp>
        <p:nvSpPr>
          <p:cNvPr id="488" name="Google Shape;488;p21"/>
          <p:cNvSpPr txBox="1"/>
          <p:nvPr/>
        </p:nvSpPr>
        <p:spPr>
          <a:xfrm>
            <a:off x="612648" y="635508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MAKĀMIN · Group 8</a:t>
            </a:r>
            <a:endParaRPr b="0" i="0" sz="1100" u="none" cap="none" strike="noStrike">
              <a:solidFill>
                <a:schemeClr val="dk1"/>
              </a:solidFill>
              <a:latin typeface="Calibri"/>
              <a:ea typeface="Calibri"/>
              <a:cs typeface="Calibri"/>
              <a:sym typeface="Calibri"/>
            </a:endParaRPr>
          </a:p>
        </p:txBody>
      </p:sp>
      <p:sp>
        <p:nvSpPr>
          <p:cNvPr id="489" name="Google Shape;489;p21"/>
          <p:cNvSpPr txBox="1"/>
          <p:nvPr/>
        </p:nvSpPr>
        <p:spPr>
          <a:xfrm>
            <a:off x="10671048" y="6355080"/>
            <a:ext cx="9144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97AB"/>
              </a:buClr>
              <a:buSzPts val="1100"/>
              <a:buFont typeface="Arial"/>
              <a:buNone/>
            </a:pPr>
            <a:r>
              <a:rPr b="0" i="0" lang="en-US" sz="1100" u="none" cap="none" strike="noStrike">
                <a:solidFill>
                  <a:srgbClr val="8C97AB"/>
                </a:solidFill>
                <a:latin typeface="Arial"/>
                <a:ea typeface="Arial"/>
                <a:cs typeface="Arial"/>
                <a:sym typeface="Arial"/>
              </a:rPr>
              <a:t>18</a:t>
            </a:r>
            <a:endParaRPr b="0" i="0" sz="1100" u="none" cap="none" strike="noStrike">
              <a:solidFill>
                <a:schemeClr val="dk1"/>
              </a:solidFill>
              <a:latin typeface="Calibri"/>
              <a:ea typeface="Calibri"/>
              <a:cs typeface="Calibri"/>
              <a:sym typeface="Calibri"/>
            </a:endParaRPr>
          </a:p>
        </p:txBody>
      </p:sp>
      <p:sp>
        <p:nvSpPr>
          <p:cNvPr id="490" name="Google Shape;490;p21"/>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1"/>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1"/>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Remas Almutairi</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2"/>
                                        </p:tgtEl>
                                        <p:attrNameLst>
                                          <p:attrName>style.visibility</p:attrName>
                                        </p:attrNameLst>
                                      </p:cBhvr>
                                      <p:to>
                                        <p:strVal val="visible"/>
                                      </p:to>
                                    </p:set>
                                    <p:animEffect filter="fade" transition="in">
                                      <p:cBhvr>
                                        <p:cTn dur="600"/>
                                        <p:tgtEl>
                                          <p:spTgt spid="482"/>
                                        </p:tgtEl>
                                      </p:cBhvr>
                                    </p:animEffect>
                                  </p:childTnLst>
                                </p:cTn>
                              </p:par>
                              <p:par>
                                <p:cTn fill="hold" nodeType="withEffect" presetClass="entr" presetID="10" presetSubtype="0">
                                  <p:stCondLst>
                                    <p:cond delay="0"/>
                                  </p:stCondLst>
                                  <p:childTnLst>
                                    <p:set>
                                      <p:cBhvr>
                                        <p:cTn dur="1" fill="hold">
                                          <p:stCondLst>
                                            <p:cond delay="0"/>
                                          </p:stCondLst>
                                        </p:cTn>
                                        <p:tgtEl>
                                          <p:spTgt spid="483"/>
                                        </p:tgtEl>
                                        <p:attrNameLst>
                                          <p:attrName>style.visibility</p:attrName>
                                        </p:attrNameLst>
                                      </p:cBhvr>
                                      <p:to>
                                        <p:strVal val="visible"/>
                                      </p:to>
                                    </p:set>
                                    <p:animEffect filter="fade" transition="in">
                                      <p:cBhvr>
                                        <p:cTn dur="600"/>
                                        <p:tgtEl>
                                          <p:spTgt spid="4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4"/>
                                        </p:tgtEl>
                                        <p:attrNameLst>
                                          <p:attrName>style.visibility</p:attrName>
                                        </p:attrNameLst>
                                      </p:cBhvr>
                                      <p:to>
                                        <p:strVal val="visible"/>
                                      </p:to>
                                    </p:set>
                                    <p:animEffect filter="fade" transition="in">
                                      <p:cBhvr>
                                        <p:cTn dur="600"/>
                                        <p:tgtEl>
                                          <p:spTgt spid="484"/>
                                        </p:tgtEl>
                                      </p:cBhvr>
                                    </p:animEffect>
                                  </p:childTnLst>
                                </p:cTn>
                              </p:par>
                              <p:par>
                                <p:cTn fill="hold" nodeType="withEffect" presetClass="entr" presetID="10" presetSubtype="0">
                                  <p:stCondLst>
                                    <p:cond delay="0"/>
                                  </p:stCondLst>
                                  <p:childTnLst>
                                    <p:set>
                                      <p:cBhvr>
                                        <p:cTn dur="1" fill="hold">
                                          <p:stCondLst>
                                            <p:cond delay="0"/>
                                          </p:stCondLst>
                                        </p:cTn>
                                        <p:tgtEl>
                                          <p:spTgt spid="485"/>
                                        </p:tgtEl>
                                        <p:attrNameLst>
                                          <p:attrName>style.visibility</p:attrName>
                                        </p:attrNameLst>
                                      </p:cBhvr>
                                      <p:to>
                                        <p:strVal val="visible"/>
                                      </p:to>
                                    </p:set>
                                    <p:animEffect filter="fade" transition="in">
                                      <p:cBhvr>
                                        <p:cTn dur="600"/>
                                        <p:tgtEl>
                                          <p:spTgt spid="48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6"/>
                                        </p:tgtEl>
                                        <p:attrNameLst>
                                          <p:attrName>style.visibility</p:attrName>
                                        </p:attrNameLst>
                                      </p:cBhvr>
                                      <p:to>
                                        <p:strVal val="visible"/>
                                      </p:to>
                                    </p:set>
                                    <p:animEffect filter="fade" transition="in">
                                      <p:cBhvr>
                                        <p:cTn dur="600"/>
                                        <p:tgtEl>
                                          <p:spTgt spid="486"/>
                                        </p:tgtEl>
                                      </p:cBhvr>
                                    </p:animEffect>
                                  </p:childTnLst>
                                </p:cTn>
                              </p:par>
                              <p:par>
                                <p:cTn fill="hold" nodeType="withEffect" presetClass="entr" presetID="10" presetSubtype="0">
                                  <p:stCondLst>
                                    <p:cond delay="0"/>
                                  </p:stCondLst>
                                  <p:childTnLst>
                                    <p:set>
                                      <p:cBhvr>
                                        <p:cTn dur="1" fill="hold">
                                          <p:stCondLst>
                                            <p:cond delay="0"/>
                                          </p:stCondLst>
                                        </p:cTn>
                                        <p:tgtEl>
                                          <p:spTgt spid="487"/>
                                        </p:tgtEl>
                                        <p:attrNameLst>
                                          <p:attrName>style.visibility</p:attrName>
                                        </p:attrNameLst>
                                      </p:cBhvr>
                                      <p:to>
                                        <p:strVal val="visible"/>
                                      </p:to>
                                    </p:set>
                                    <p:animEffect filter="fade" transition="in">
                                      <p:cBhvr>
                                        <p:cTn dur="600"/>
                                        <p:tgtEl>
                                          <p:spTgt spid="4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A2E"/>
        </a:solidFill>
      </p:bgPr>
    </p:bg>
    <p:spTree>
      <p:nvGrpSpPr>
        <p:cNvPr id="497" name="Shape 497"/>
        <p:cNvGrpSpPr/>
        <p:nvPr/>
      </p:nvGrpSpPr>
      <p:grpSpPr>
        <a:xfrm>
          <a:off x="0" y="0"/>
          <a:ext cx="0" cy="0"/>
          <a:chOff x="0" y="0"/>
          <a:chExt cx="0" cy="0"/>
        </a:xfrm>
      </p:grpSpPr>
      <p:cxnSp>
        <p:nvCxnSpPr>
          <p:cNvPr id="498" name="Google Shape;498;p22"/>
          <p:cNvCxnSpPr/>
          <p:nvPr/>
        </p:nvCxnSpPr>
        <p:spPr>
          <a:xfrm flipH="1" rot="10800000">
            <a:off x="7676147" y="1648326"/>
            <a:ext cx="1039528" cy="389823"/>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499" name="Google Shape;499;p22"/>
          <p:cNvCxnSpPr/>
          <p:nvPr/>
        </p:nvCxnSpPr>
        <p:spPr>
          <a:xfrm>
            <a:off x="7676147" y="2038149"/>
            <a:ext cx="649705"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0" name="Google Shape;500;p22"/>
          <p:cNvCxnSpPr/>
          <p:nvPr/>
        </p:nvCxnSpPr>
        <p:spPr>
          <a:xfrm flipH="1" rot="10800000">
            <a:off x="8325853" y="1648326"/>
            <a:ext cx="389823" cy="1299411"/>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1" name="Google Shape;501;p22"/>
          <p:cNvCxnSpPr/>
          <p:nvPr/>
        </p:nvCxnSpPr>
        <p:spPr>
          <a:xfrm>
            <a:off x="8715676" y="1648326"/>
            <a:ext cx="1039528" cy="649705"/>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2" name="Google Shape;502;p22"/>
          <p:cNvCxnSpPr/>
          <p:nvPr/>
        </p:nvCxnSpPr>
        <p:spPr>
          <a:xfrm flipH="1" rot="10800000">
            <a:off x="9755204" y="1778267"/>
            <a:ext cx="909587" cy="519764"/>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3" name="Google Shape;503;p22"/>
          <p:cNvCxnSpPr/>
          <p:nvPr/>
        </p:nvCxnSpPr>
        <p:spPr>
          <a:xfrm>
            <a:off x="8325853" y="2947737"/>
            <a:ext cx="584735" cy="1169469"/>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4" name="Google Shape;504;p22"/>
          <p:cNvCxnSpPr/>
          <p:nvPr/>
        </p:nvCxnSpPr>
        <p:spPr>
          <a:xfrm>
            <a:off x="10145027" y="3597442"/>
            <a:ext cx="779646"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5" name="Google Shape;505;p22"/>
          <p:cNvCxnSpPr/>
          <p:nvPr/>
        </p:nvCxnSpPr>
        <p:spPr>
          <a:xfrm flipH="1" rot="10800000">
            <a:off x="8065971" y="4117206"/>
            <a:ext cx="844617" cy="779646"/>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6" name="Google Shape;506;p22"/>
          <p:cNvCxnSpPr/>
          <p:nvPr/>
        </p:nvCxnSpPr>
        <p:spPr>
          <a:xfrm>
            <a:off x="8910587" y="4117206"/>
            <a:ext cx="844617" cy="909587"/>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7" name="Google Shape;507;p22"/>
          <p:cNvCxnSpPr/>
          <p:nvPr/>
        </p:nvCxnSpPr>
        <p:spPr>
          <a:xfrm flipH="1" rot="10800000">
            <a:off x="9755204" y="4507029"/>
            <a:ext cx="1169469" cy="519764"/>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8" name="Google Shape;508;p22"/>
          <p:cNvCxnSpPr/>
          <p:nvPr/>
        </p:nvCxnSpPr>
        <p:spPr>
          <a:xfrm flipH="1" rot="10800000">
            <a:off x="10145027" y="1778267"/>
            <a:ext cx="519764" cy="1819175"/>
          </a:xfrm>
          <a:prstGeom prst="straightConnector1">
            <a:avLst/>
          </a:prstGeom>
          <a:noFill/>
          <a:ln cap="flat" cmpd="sng" w="25400">
            <a:solidFill>
              <a:srgbClr val="3B6FD4">
                <a:alpha val="60000"/>
              </a:srgbClr>
            </a:solidFill>
            <a:prstDash val="solid"/>
            <a:round/>
            <a:headEnd len="sm" w="sm" type="none"/>
            <a:tailEnd len="sm" w="sm" type="none"/>
          </a:ln>
        </p:spPr>
      </p:cxnSp>
      <p:cxnSp>
        <p:nvCxnSpPr>
          <p:cNvPr id="509" name="Google Shape;509;p22"/>
          <p:cNvCxnSpPr/>
          <p:nvPr/>
        </p:nvCxnSpPr>
        <p:spPr>
          <a:xfrm flipH="1" rot="10800000">
            <a:off x="8325853" y="2298032"/>
            <a:ext cx="1429352" cy="649705"/>
          </a:xfrm>
          <a:prstGeom prst="straightConnector1">
            <a:avLst/>
          </a:prstGeom>
          <a:noFill/>
          <a:ln cap="flat" cmpd="sng" w="44450">
            <a:solidFill>
              <a:srgbClr val="E8743B"/>
            </a:solidFill>
            <a:prstDash val="solid"/>
            <a:round/>
            <a:headEnd len="sm" w="sm" type="none"/>
            <a:tailEnd len="sm" w="sm" type="none"/>
          </a:ln>
        </p:spPr>
      </p:cxnSp>
      <p:cxnSp>
        <p:nvCxnSpPr>
          <p:cNvPr id="510" name="Google Shape;510;p22"/>
          <p:cNvCxnSpPr/>
          <p:nvPr/>
        </p:nvCxnSpPr>
        <p:spPr>
          <a:xfrm>
            <a:off x="9755204" y="2298032"/>
            <a:ext cx="389823" cy="1299411"/>
          </a:xfrm>
          <a:prstGeom prst="straightConnector1">
            <a:avLst/>
          </a:prstGeom>
          <a:noFill/>
          <a:ln cap="flat" cmpd="sng" w="44450">
            <a:solidFill>
              <a:srgbClr val="E8743B"/>
            </a:solidFill>
            <a:prstDash val="solid"/>
            <a:round/>
            <a:headEnd len="sm" w="sm" type="none"/>
            <a:tailEnd len="sm" w="sm" type="none"/>
          </a:ln>
        </p:spPr>
      </p:cxnSp>
      <p:cxnSp>
        <p:nvCxnSpPr>
          <p:cNvPr id="511" name="Google Shape;511;p22"/>
          <p:cNvCxnSpPr/>
          <p:nvPr/>
        </p:nvCxnSpPr>
        <p:spPr>
          <a:xfrm flipH="1" rot="10800000">
            <a:off x="8910587" y="3597442"/>
            <a:ext cx="1234440" cy="519764"/>
          </a:xfrm>
          <a:prstGeom prst="straightConnector1">
            <a:avLst/>
          </a:prstGeom>
          <a:noFill/>
          <a:ln cap="flat" cmpd="sng" w="44450">
            <a:solidFill>
              <a:srgbClr val="E8743B"/>
            </a:solidFill>
            <a:prstDash val="solid"/>
            <a:round/>
            <a:headEnd len="sm" w="sm" type="none"/>
            <a:tailEnd len="sm" w="sm" type="none"/>
          </a:ln>
        </p:spPr>
      </p:cxnSp>
      <p:cxnSp>
        <p:nvCxnSpPr>
          <p:cNvPr id="512" name="Google Shape;512;p22"/>
          <p:cNvCxnSpPr/>
          <p:nvPr/>
        </p:nvCxnSpPr>
        <p:spPr>
          <a:xfrm>
            <a:off x="8325853" y="2947737"/>
            <a:ext cx="584735" cy="1169469"/>
          </a:xfrm>
          <a:prstGeom prst="straightConnector1">
            <a:avLst/>
          </a:prstGeom>
          <a:noFill/>
          <a:ln cap="flat" cmpd="sng" w="44450">
            <a:solidFill>
              <a:srgbClr val="E8743B"/>
            </a:solidFill>
            <a:prstDash val="solid"/>
            <a:round/>
            <a:headEnd len="sm" w="sm" type="none"/>
            <a:tailEnd len="sm" w="sm" type="none"/>
          </a:ln>
        </p:spPr>
      </p:cxnSp>
      <p:cxnSp>
        <p:nvCxnSpPr>
          <p:cNvPr id="513" name="Google Shape;513;p22"/>
          <p:cNvCxnSpPr/>
          <p:nvPr/>
        </p:nvCxnSpPr>
        <p:spPr>
          <a:xfrm>
            <a:off x="8325853" y="2947737"/>
            <a:ext cx="1819175" cy="649705"/>
          </a:xfrm>
          <a:prstGeom prst="straightConnector1">
            <a:avLst/>
          </a:prstGeom>
          <a:noFill/>
          <a:ln cap="flat" cmpd="sng" w="44450">
            <a:solidFill>
              <a:srgbClr val="E8743B"/>
            </a:solidFill>
            <a:prstDash val="solid"/>
            <a:round/>
            <a:headEnd len="sm" w="sm" type="none"/>
            <a:tailEnd len="sm" w="sm" type="none"/>
          </a:ln>
        </p:spPr>
      </p:cxnSp>
      <p:sp>
        <p:nvSpPr>
          <p:cNvPr id="514" name="Google Shape;514;p22"/>
          <p:cNvSpPr/>
          <p:nvPr/>
        </p:nvSpPr>
        <p:spPr>
          <a:xfrm>
            <a:off x="7585189" y="1947191"/>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2"/>
          <p:cNvSpPr/>
          <p:nvPr/>
        </p:nvSpPr>
        <p:spPr>
          <a:xfrm>
            <a:off x="8624717" y="1557368"/>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2"/>
          <p:cNvSpPr/>
          <p:nvPr/>
        </p:nvSpPr>
        <p:spPr>
          <a:xfrm>
            <a:off x="10573833" y="1687309"/>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2"/>
          <p:cNvSpPr/>
          <p:nvPr/>
        </p:nvSpPr>
        <p:spPr>
          <a:xfrm>
            <a:off x="10833715" y="4416071"/>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2"/>
          <p:cNvSpPr/>
          <p:nvPr/>
        </p:nvSpPr>
        <p:spPr>
          <a:xfrm>
            <a:off x="7975012" y="4805894"/>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2"/>
          <p:cNvSpPr/>
          <p:nvPr/>
        </p:nvSpPr>
        <p:spPr>
          <a:xfrm>
            <a:off x="9664245" y="4935835"/>
            <a:ext cx="181917" cy="181917"/>
          </a:xfrm>
          <a:prstGeom prst="ellipse">
            <a:avLst/>
          </a:prstGeom>
          <a:solidFill>
            <a:srgbClr val="C3CCDA"/>
          </a:solidFill>
          <a:ln cap="flat" cmpd="sng" w="12700">
            <a:solidFill>
              <a:srgbClr val="C3CC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2"/>
          <p:cNvSpPr/>
          <p:nvPr/>
        </p:nvSpPr>
        <p:spPr>
          <a:xfrm>
            <a:off x="8065971" y="2687855"/>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22"/>
          <p:cNvSpPr/>
          <p:nvPr/>
        </p:nvSpPr>
        <p:spPr>
          <a:xfrm>
            <a:off x="9495322" y="2038149"/>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2"/>
          <p:cNvSpPr/>
          <p:nvPr/>
        </p:nvSpPr>
        <p:spPr>
          <a:xfrm>
            <a:off x="9885145" y="3337560"/>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2"/>
          <p:cNvSpPr/>
          <p:nvPr/>
        </p:nvSpPr>
        <p:spPr>
          <a:xfrm>
            <a:off x="8650705" y="3857324"/>
            <a:ext cx="519764" cy="519764"/>
          </a:xfrm>
          <a:prstGeom prst="ellipse">
            <a:avLst/>
          </a:prstGeom>
          <a:solidFill>
            <a:srgbClr val="E8743B">
              <a:alpha val="20000"/>
            </a:srgbClr>
          </a:solidFill>
          <a:ln cap="flat" cmpd="sng" w="19050">
            <a:solidFill>
              <a:srgbClr val="E8743B">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2"/>
          <p:cNvSpPr/>
          <p:nvPr/>
        </p:nvSpPr>
        <p:spPr>
          <a:xfrm>
            <a:off x="8182917" y="2804802"/>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2"/>
          <p:cNvSpPr/>
          <p:nvPr/>
        </p:nvSpPr>
        <p:spPr>
          <a:xfrm>
            <a:off x="9612269" y="2155096"/>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2"/>
          <p:cNvSpPr/>
          <p:nvPr/>
        </p:nvSpPr>
        <p:spPr>
          <a:xfrm>
            <a:off x="10002092" y="3454507"/>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2"/>
          <p:cNvSpPr/>
          <p:nvPr/>
        </p:nvSpPr>
        <p:spPr>
          <a:xfrm>
            <a:off x="8767652" y="3974271"/>
            <a:ext cx="285870" cy="285870"/>
          </a:xfrm>
          <a:prstGeom prst="ellipse">
            <a:avLst/>
          </a:prstGeom>
          <a:solidFill>
            <a:srgbClr val="E8743B"/>
          </a:solidFill>
          <a:ln cap="flat" cmpd="sng" w="12700">
            <a:solidFill>
              <a:srgbClr val="E8743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2"/>
          <p:cNvSpPr txBox="1"/>
          <p:nvPr/>
        </p:nvSpPr>
        <p:spPr>
          <a:xfrm>
            <a:off x="612648" y="2377440"/>
            <a:ext cx="64008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F3EE"/>
              </a:buClr>
              <a:buSzPts val="6000"/>
              <a:buFont typeface="Arial"/>
              <a:buNone/>
            </a:pPr>
            <a:r>
              <a:rPr b="1" i="0" lang="en-US" sz="6000" u="none" cap="none" strike="noStrike">
                <a:solidFill>
                  <a:srgbClr val="F5F3EE"/>
                </a:solidFill>
                <a:latin typeface="Arial"/>
                <a:ea typeface="Arial"/>
                <a:cs typeface="Arial"/>
                <a:sym typeface="Arial"/>
              </a:rPr>
              <a:t>Thank you</a:t>
            </a:r>
            <a:endParaRPr b="0" i="0" sz="6000" u="none" cap="none" strike="noStrike">
              <a:solidFill>
                <a:schemeClr val="dk1"/>
              </a:solidFill>
              <a:latin typeface="Calibri"/>
              <a:ea typeface="Calibri"/>
              <a:cs typeface="Calibri"/>
              <a:sym typeface="Calibri"/>
            </a:endParaRPr>
          </a:p>
        </p:txBody>
      </p:sp>
      <p:sp>
        <p:nvSpPr>
          <p:cNvPr id="529" name="Google Shape;529;p22"/>
          <p:cNvSpPr txBox="1"/>
          <p:nvPr/>
        </p:nvSpPr>
        <p:spPr>
          <a:xfrm>
            <a:off x="612648" y="3566160"/>
            <a:ext cx="64008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43B"/>
              </a:buClr>
              <a:buSzPts val="2600"/>
              <a:buFont typeface="Arial"/>
              <a:buNone/>
            </a:pPr>
            <a:r>
              <a:rPr b="0" i="0" lang="en-US" sz="2600" u="none" cap="none" strike="noStrike">
                <a:solidFill>
                  <a:srgbClr val="E8743B"/>
                </a:solidFill>
                <a:latin typeface="Arial"/>
                <a:ea typeface="Arial"/>
                <a:cs typeface="Arial"/>
                <a:sym typeface="Arial"/>
              </a:rPr>
              <a:t>Questions?</a:t>
            </a:r>
            <a:endParaRPr b="0" i="0" sz="2600" u="none" cap="none" strike="noStrike">
              <a:solidFill>
                <a:schemeClr val="dk1"/>
              </a:solidFill>
              <a:latin typeface="Calibri"/>
              <a:ea typeface="Calibri"/>
              <a:cs typeface="Calibri"/>
              <a:sym typeface="Calibri"/>
            </a:endParaRPr>
          </a:p>
        </p:txBody>
      </p:sp>
      <p:sp>
        <p:nvSpPr>
          <p:cNvPr id="530" name="Google Shape;530;p22"/>
          <p:cNvSpPr txBox="1"/>
          <p:nvPr/>
        </p:nvSpPr>
        <p:spPr>
          <a:xfrm>
            <a:off x="612648" y="5577840"/>
            <a:ext cx="8229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3CCDA"/>
              </a:buClr>
              <a:buSzPts val="1300"/>
              <a:buFont typeface="Arial"/>
              <a:buNone/>
            </a:pPr>
            <a:r>
              <a:rPr b="0" i="0" lang="en-US" sz="1300" u="none" cap="none" strike="noStrike">
                <a:solidFill>
                  <a:srgbClr val="C3CCDA"/>
                </a:solidFill>
                <a:latin typeface="Arial"/>
                <a:ea typeface="Arial"/>
                <a:cs typeface="Arial"/>
                <a:sym typeface="Arial"/>
              </a:rPr>
              <a:t>Nada Aljaafari · Lujain Alqarni · Alia AlGhamdi · Remas Almutairi</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3CCDA"/>
              </a:buClr>
              <a:buSzPts val="1300"/>
              <a:buFont typeface="Arial"/>
              <a:buNone/>
            </a:pPr>
            <a:r>
              <a:rPr b="0" i="0" lang="en-US" sz="1300" u="none" cap="none" strike="noStrike">
                <a:solidFill>
                  <a:srgbClr val="C3CCDA"/>
                </a:solidFill>
                <a:latin typeface="Arial"/>
                <a:ea typeface="Arial"/>
                <a:cs typeface="Arial"/>
                <a:sym typeface="Arial"/>
              </a:rPr>
              <a:t>Data: IEEE-CIS Fraud Detection (Kaggle, 2019)</a:t>
            </a:r>
            <a:endParaRPr b="0" i="0" sz="1300" u="none" cap="none" strike="noStrike">
              <a:solidFill>
                <a:schemeClr val="dk1"/>
              </a:solidFill>
              <a:latin typeface="Calibri"/>
              <a:ea typeface="Calibri"/>
              <a:cs typeface="Calibri"/>
              <a:sym typeface="Calibri"/>
            </a:endParaRPr>
          </a:p>
        </p:txBody>
      </p:sp>
      <p:sp>
        <p:nvSpPr>
          <p:cNvPr id="531" name="Google Shape;531;p22"/>
          <p:cNvSpPr/>
          <p:nvPr/>
        </p:nvSpPr>
        <p:spPr>
          <a:xfrm>
            <a:off x="9025128" y="384048"/>
            <a:ext cx="2560320" cy="329184"/>
          </a:xfrm>
          <a:prstGeom prst="roundRect">
            <a:avLst>
              <a:gd fmla="val 50000" name="adj"/>
            </a:avLst>
          </a:prstGeom>
          <a:solidFill>
            <a:srgbClr val="1B2640"/>
          </a:solidFill>
          <a:ln cap="flat" cmpd="sng" w="12700">
            <a:solidFill>
              <a:srgbClr val="2C3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2"/>
          <p:cNvSpPr/>
          <p:nvPr/>
        </p:nvSpPr>
        <p:spPr>
          <a:xfrm>
            <a:off x="9144000" y="484632"/>
            <a:ext cx="128016" cy="128016"/>
          </a:xfrm>
          <a:prstGeom prst="ellipse">
            <a:avLst/>
          </a:prstGeom>
          <a:solidFill>
            <a:srgbClr val="E874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22"/>
          <p:cNvSpPr txBox="1"/>
          <p:nvPr/>
        </p:nvSpPr>
        <p:spPr>
          <a:xfrm>
            <a:off x="9326880" y="384048"/>
            <a:ext cx="21945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3CCDA"/>
              </a:buClr>
              <a:buSzPts val="1100"/>
              <a:buFont typeface="Arial"/>
              <a:buNone/>
            </a:pPr>
            <a:r>
              <a:rPr b="1" i="0" lang="en-US" sz="1100" u="none" cap="none" strike="noStrike">
                <a:solidFill>
                  <a:srgbClr val="C3CCDA"/>
                </a:solidFill>
                <a:latin typeface="Arial"/>
                <a:ea typeface="Arial"/>
                <a:cs typeface="Arial"/>
                <a:sym typeface="Arial"/>
              </a:rPr>
              <a:t>Everyone</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