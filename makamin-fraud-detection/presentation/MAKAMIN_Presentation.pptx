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Above average</c:v>
                </c:pt>
              </c:strCache>
            </c:strRef>
          </c:tx>
          <c:spPr>
            <a:solidFill>
              <a:srgbClr val="E874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Product code C   11.7%</c:v>
                  </c:pt>
                  <c:pt idx="1">
                    <c:v>Mobile device   10.2%</c:v>
                  </c:pt>
                  <c:pt idx="2">
                    <c:v>Discover card   7.7%</c:v>
                  </c:pt>
                  <c:pt idx="3">
                    <c:v>Credit card   6.7%</c:v>
                  </c:pt>
                  <c:pt idx="4">
                    <c:v>Desktop device   6.5%</c:v>
                  </c:pt>
                  <c:pt idx="5">
                    <c:v>All transactions (average)   3.5%</c:v>
                  </c:pt>
                  <c:pt idx="6">
                    <c:v>Debit card   2.4%</c:v>
                  </c:pt>
                  <c:pt idx="7">
                    <c:v>No device info   2.1%</c:v>
                  </c:pt>
                  <c:pt idx="8">
                    <c:v>Product code W   2.0%</c:v>
                  </c:pt>
                </c:lvl>
              </c:multiLvlStrCache>
            </c:multiLvlStrRef>
          </c:cat>
          <c:val>
            <c:numRef>
              <c:f>Sheet1!$B$2:$B$10</c:f>
              <c:numCache>
                <c:formatCode>General</c:formatCode>
                <c:ptCount val="9"/>
                <c:pt idx="0">
                  <c:v>11.7</c:v>
                </c:pt>
                <c:pt idx="1">
                  <c:v>10.2</c:v>
                </c:pt>
                <c:pt idx="2">
                  <c:v>7.7</c:v>
                </c:pt>
                <c:pt idx="3">
                  <c:v>6.7</c:v>
                </c:pt>
                <c:pt idx="4">
                  <c:v>6.5</c:v>
                </c:pt>
                <c:pt idx="5">
                  <c:v>0</c:v>
                </c:pt>
                <c:pt idx="6">
                  <c:v>0</c:v>
                </c:pt>
                <c:pt idx="7">
                  <c:v>0</c:v>
                </c:pt>
                <c:pt idx="8">
                  <c:v>0</c:v>
                </c:pt>
              </c:numCache>
            </c:numRef>
          </c:val>
        </c:ser>
        <c:ser>
          <c:idx val="1"/>
          <c:order val="1"/>
          <c:tx>
            <c:strRef>
              <c:f>Sheet1!$C$1</c:f>
              <c:strCache>
                <c:ptCount val="1"/>
                <c:pt idx="0">
                  <c:v>Average</c:v>
                </c:pt>
              </c:strCache>
            </c:strRef>
          </c:tx>
          <c:spPr>
            <a:solidFill>
              <a:srgbClr val="111A2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Product code C   11.7%</c:v>
                  </c:pt>
                  <c:pt idx="1">
                    <c:v>Mobile device   10.2%</c:v>
                  </c:pt>
                  <c:pt idx="2">
                    <c:v>Discover card   7.7%</c:v>
                  </c:pt>
                  <c:pt idx="3">
                    <c:v>Credit card   6.7%</c:v>
                  </c:pt>
                  <c:pt idx="4">
                    <c:v>Desktop device   6.5%</c:v>
                  </c:pt>
                  <c:pt idx="5">
                    <c:v>All transactions (average)   3.5%</c:v>
                  </c:pt>
                  <c:pt idx="6">
                    <c:v>Debit card   2.4%</c:v>
                  </c:pt>
                  <c:pt idx="7">
                    <c:v>No device info   2.1%</c:v>
                  </c:pt>
                  <c:pt idx="8">
                    <c:v>Product code W   2.0%</c:v>
                  </c:pt>
                </c:lvl>
              </c:multiLvlStrCache>
            </c:multiLvlStrRef>
          </c:cat>
          <c:val>
            <c:numRef>
              <c:f>Sheet1!$C$2:$C$10</c:f>
              <c:numCache>
                <c:formatCode>General</c:formatCode>
                <c:ptCount val="9"/>
                <c:pt idx="0">
                  <c:v>0</c:v>
                </c:pt>
                <c:pt idx="1">
                  <c:v>0</c:v>
                </c:pt>
                <c:pt idx="2">
                  <c:v>0</c:v>
                </c:pt>
                <c:pt idx="3">
                  <c:v>0</c:v>
                </c:pt>
                <c:pt idx="4">
                  <c:v>0</c:v>
                </c:pt>
                <c:pt idx="5">
                  <c:v>3.5</c:v>
                </c:pt>
                <c:pt idx="6">
                  <c:v>0</c:v>
                </c:pt>
                <c:pt idx="7">
                  <c:v>0</c:v>
                </c:pt>
                <c:pt idx="8">
                  <c:v>0</c:v>
                </c:pt>
              </c:numCache>
            </c:numRef>
          </c:val>
        </c:ser>
        <c:ser>
          <c:idx val="2"/>
          <c:order val="2"/>
          <c:tx>
            <c:strRef>
              <c:f>Sheet1!$D$1</c:f>
              <c:strCache>
                <c:ptCount val="1"/>
                <c:pt idx="0">
                  <c:v>Below average</c:v>
                </c:pt>
              </c:strCache>
            </c:strRef>
          </c:tx>
          <c:spPr>
            <a:solidFill>
              <a:srgbClr val="3B6FD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Product code C   11.7%</c:v>
                  </c:pt>
                  <c:pt idx="1">
                    <c:v>Mobile device   10.2%</c:v>
                  </c:pt>
                  <c:pt idx="2">
                    <c:v>Discover card   7.7%</c:v>
                  </c:pt>
                  <c:pt idx="3">
                    <c:v>Credit card   6.7%</c:v>
                  </c:pt>
                  <c:pt idx="4">
                    <c:v>Desktop device   6.5%</c:v>
                  </c:pt>
                  <c:pt idx="5">
                    <c:v>All transactions (average)   3.5%</c:v>
                  </c:pt>
                  <c:pt idx="6">
                    <c:v>Debit card   2.4%</c:v>
                  </c:pt>
                  <c:pt idx="7">
                    <c:v>No device info   2.1%</c:v>
                  </c:pt>
                  <c:pt idx="8">
                    <c:v>Product code W   2.0%</c:v>
                  </c:pt>
                </c:lvl>
              </c:multiLvlStrCache>
            </c:multiLvlStrRef>
          </c:cat>
          <c:val>
            <c:numRef>
              <c:f>Sheet1!$D$2:$D$10</c:f>
              <c:numCache>
                <c:formatCode>General</c:formatCode>
                <c:ptCount val="9"/>
                <c:pt idx="0">
                  <c:v>0</c:v>
                </c:pt>
                <c:pt idx="1">
                  <c:v>0</c:v>
                </c:pt>
                <c:pt idx="2">
                  <c:v>0</c:v>
                </c:pt>
                <c:pt idx="3">
                  <c:v>0</c:v>
                </c:pt>
                <c:pt idx="4">
                  <c:v>0</c:v>
                </c:pt>
                <c:pt idx="5">
                  <c:v>0</c:v>
                </c:pt>
                <c:pt idx="6">
                  <c:v>2.4</c:v>
                </c:pt>
                <c:pt idx="7">
                  <c:v>2.1</c:v>
                </c:pt>
                <c:pt idx="8">
                  <c:v>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E2638"/>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E6778"/>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8C97AB"/>
                </a:solidFill>
                <a:latin typeface="Arial"/>
              </a:defRPr>
            </a:pPr>
            <a:r>
              <a:rPr sz="1200" b="0" i="0" u="none" strike="noStrike">
                <a:solidFill>
                  <a:srgbClr val="8C97AB"/>
                </a:solidFill>
                <a:latin typeface="Arial"/>
              </a:rPr>
              <a:t>Average Precision (higher is better)</a:t>
            </a:r>
          </a:p>
        </c:rich>
      </c:tx>
      <c:layout/>
      <c:overlay val="0"/>
    </c:title>
    <c:autoTitleDeleted val="0"/>
    <c:plotArea>
      <c:layout/>
      <c:barChart>
        <c:barDir val="bar"/>
        <c:grouping val="stacked"/>
        <c:varyColors val="0"/>
        <c:ser>
          <c:idx val="0"/>
          <c:order val="0"/>
          <c:tx>
            <c:strRef>
              <c:f>Sheet1!$B$1</c:f>
              <c:strCache>
                <c:ptCount val="1"/>
                <c:pt idx="0">
                  <c:v>Final model</c:v>
                </c:pt>
              </c:strCache>
            </c:strRef>
          </c:tx>
          <c:spPr>
            <a:solidFill>
              <a:srgbClr val="E874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XGBoost + features   AP 0.521 · ROC 0.909</c:v>
                  </c:pt>
                  <c:pt idx="1">
                    <c:v>XGBoost   AP 0.519 · ROC 0.908</c:v>
                  </c:pt>
                  <c:pt idx="2">
                    <c:v>ANN   AP 0.451 · ROC 0.861</c:v>
                  </c:pt>
                  <c:pt idx="3">
                    <c:v>ANN + features   AP 0.440 · ROC 0.873</c:v>
                  </c:pt>
                  <c:pt idx="4">
                    <c:v>Random guess   AP 0.034 · ROC 0.500</c:v>
                  </c:pt>
                </c:lvl>
              </c:multiLvlStrCache>
            </c:multiLvlStrRef>
          </c:cat>
          <c:val>
            <c:numRef>
              <c:f>Sheet1!$B$2:$B$6</c:f>
              <c:numCache>
                <c:formatCode>General</c:formatCode>
                <c:ptCount val="5"/>
                <c:pt idx="0">
                  <c:v>0.521</c:v>
                </c:pt>
                <c:pt idx="1">
                  <c:v>0</c:v>
                </c:pt>
                <c:pt idx="2">
                  <c:v>0</c:v>
                </c:pt>
                <c:pt idx="3">
                  <c:v>0</c:v>
                </c:pt>
                <c:pt idx="4">
                  <c:v>0</c:v>
                </c:pt>
              </c:numCache>
            </c:numRef>
          </c:val>
        </c:ser>
        <c:ser>
          <c:idx val="1"/>
          <c:order val="1"/>
          <c:tx>
            <c:strRef>
              <c:f>Sheet1!$C$1</c:f>
              <c:strCache>
                <c:ptCount val="1"/>
                <c:pt idx="0">
                  <c:v>XGBoost</c:v>
                </c:pt>
              </c:strCache>
            </c:strRef>
          </c:tx>
          <c:spPr>
            <a:solidFill>
              <a:srgbClr val="B85A2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XGBoost + features   AP 0.521 · ROC 0.909</c:v>
                  </c:pt>
                  <c:pt idx="1">
                    <c:v>XGBoost   AP 0.519 · ROC 0.908</c:v>
                  </c:pt>
                  <c:pt idx="2">
                    <c:v>ANN   AP 0.451 · ROC 0.861</c:v>
                  </c:pt>
                  <c:pt idx="3">
                    <c:v>ANN + features   AP 0.440 · ROC 0.873</c:v>
                  </c:pt>
                  <c:pt idx="4">
                    <c:v>Random guess   AP 0.034 · ROC 0.500</c:v>
                  </c:pt>
                </c:lvl>
              </c:multiLvlStrCache>
            </c:multiLvlStrRef>
          </c:cat>
          <c:val>
            <c:numRef>
              <c:f>Sheet1!$C$2:$C$6</c:f>
              <c:numCache>
                <c:formatCode>General</c:formatCode>
                <c:ptCount val="5"/>
                <c:pt idx="0">
                  <c:v>0</c:v>
                </c:pt>
                <c:pt idx="1">
                  <c:v>0.519</c:v>
                </c:pt>
                <c:pt idx="2">
                  <c:v>0</c:v>
                </c:pt>
                <c:pt idx="3">
                  <c:v>0</c:v>
                </c:pt>
                <c:pt idx="4">
                  <c:v>0</c:v>
                </c:pt>
              </c:numCache>
            </c:numRef>
          </c:val>
        </c:ser>
        <c:ser>
          <c:idx val="2"/>
          <c:order val="2"/>
          <c:tx>
            <c:strRef>
              <c:f>Sheet1!$D$1</c:f>
              <c:strCache>
                <c:ptCount val="1"/>
                <c:pt idx="0">
                  <c:v>ANN</c:v>
                </c:pt>
              </c:strCache>
            </c:strRef>
          </c:tx>
          <c:spPr>
            <a:solidFill>
              <a:srgbClr val="6F9BE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XGBoost + features   AP 0.521 · ROC 0.909</c:v>
                  </c:pt>
                  <c:pt idx="1">
                    <c:v>XGBoost   AP 0.519 · ROC 0.908</c:v>
                  </c:pt>
                  <c:pt idx="2">
                    <c:v>ANN   AP 0.451 · ROC 0.861</c:v>
                  </c:pt>
                  <c:pt idx="3">
                    <c:v>ANN + features   AP 0.440 · ROC 0.873</c:v>
                  </c:pt>
                  <c:pt idx="4">
                    <c:v>Random guess   AP 0.034 · ROC 0.500</c:v>
                  </c:pt>
                </c:lvl>
              </c:multiLvlStrCache>
            </c:multiLvlStrRef>
          </c:cat>
          <c:val>
            <c:numRef>
              <c:f>Sheet1!$D$2:$D$6</c:f>
              <c:numCache>
                <c:formatCode>General</c:formatCode>
                <c:ptCount val="5"/>
                <c:pt idx="0">
                  <c:v>0</c:v>
                </c:pt>
                <c:pt idx="1">
                  <c:v>0</c:v>
                </c:pt>
                <c:pt idx="2">
                  <c:v>0.451</c:v>
                </c:pt>
                <c:pt idx="3">
                  <c:v>0.44</c:v>
                </c:pt>
                <c:pt idx="4">
                  <c:v>0</c:v>
                </c:pt>
              </c:numCache>
            </c:numRef>
          </c:val>
        </c:ser>
        <c:ser>
          <c:idx val="3"/>
          <c:order val="3"/>
          <c:tx>
            <c:strRef>
              <c:f>Sheet1!$E$1</c:f>
              <c:strCache>
                <c:ptCount val="1"/>
                <c:pt idx="0">
                  <c:v>Random</c:v>
                </c:pt>
              </c:strCache>
            </c:strRef>
          </c:tx>
          <c:spPr>
            <a:solidFill>
              <a:srgbClr val="4A567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XGBoost + features   AP 0.521 · ROC 0.909</c:v>
                  </c:pt>
                  <c:pt idx="1">
                    <c:v>XGBoost   AP 0.519 · ROC 0.908</c:v>
                  </c:pt>
                  <c:pt idx="2">
                    <c:v>ANN   AP 0.451 · ROC 0.861</c:v>
                  </c:pt>
                  <c:pt idx="3">
                    <c:v>ANN + features   AP 0.440 · ROC 0.873</c:v>
                  </c:pt>
                  <c:pt idx="4">
                    <c:v>Random guess   AP 0.034 · ROC 0.500</c:v>
                  </c:pt>
                </c:lvl>
              </c:multiLvlStrCache>
            </c:multiLvlStrRef>
          </c:cat>
          <c:val>
            <c:numRef>
              <c:f>Sheet1!$E$2:$E$6</c:f>
              <c:numCache>
                <c:formatCode>General</c:formatCode>
                <c:ptCount val="5"/>
                <c:pt idx="0">
                  <c:v>0</c:v>
                </c:pt>
                <c:pt idx="1">
                  <c:v>0</c:v>
                </c:pt>
                <c:pt idx="2">
                  <c:v>0</c:v>
                </c:pt>
                <c:pt idx="3">
                  <c:v>0</c:v>
                </c:pt>
                <c:pt idx="4">
                  <c:v>0.034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400" b="0" i="0" u="none" strike="noStrike">
                <a:solidFill>
                  <a:srgbClr val="E4E8EF"/>
                </a:solidFill>
                <a:latin typeface="Arial"/>
              </a:defRPr>
            </a:pPr>
            <a:endParaRPr lang="en-US"/>
          </a:p>
        </c:txPr>
        <c:crossAx val="2094734552"/>
        <c:crosses val="autoZero"/>
        <c:auto val="1"/>
        <c:lblAlgn val="ctr"/>
        <c:noMultiLvlLbl val="1"/>
      </c:catAx>
      <c:valAx>
        <c:axId val="2094734552"/>
        <c:scaling>
          <c:orientation val="minMax"/>
          <c:max val="0.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Recall</c:v>
                </c:pt>
              </c:strCache>
            </c:strRef>
          </c:tx>
          <c:spPr>
            <a:solidFill>
              <a:srgbClr val="3B6FD4"/>
            </a:solidFill>
            <a:ln w="38100" cap="flat">
              <a:solidFill>
                <a:srgbClr val="3B6F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3B6FD4"/>
              </a:solidFill>
              <a:ln w="9525" cap="flat">
                <a:solidFill>
                  <a:srgbClr val="3B6FD4"/>
                </a:solidFill>
                <a:prstDash val="solid"/>
                <a:round/>
              </a:ln>
              <a:effectLst/>
            </c:spPr>
          </c:marker>
          <c:cat>
            <c:multiLvlStrRef>
              <c:f>Sheet1!$A$2:$A$7</c:f>
              <c:multiLvlStrCache>
                <c:ptCount val="6"/>
                <c:lvl>
                  <c:pt idx="0">
                    <c:v>0.30</c:v>
                  </c:pt>
                  <c:pt idx="1">
                    <c:v>0.40</c:v>
                  </c:pt>
                  <c:pt idx="2">
                    <c:v>0.50</c:v>
                  </c:pt>
                  <c:pt idx="3">
                    <c:v>0.60</c:v>
                  </c:pt>
                  <c:pt idx="4">
                    <c:v>0.70</c:v>
                  </c:pt>
                  <c:pt idx="5">
                    <c:v>0.80</c:v>
                  </c:pt>
                </c:lvl>
              </c:multiLvlStrCache>
            </c:multiLvlStrRef>
          </c:cat>
          <c:val>
            <c:numRef>
              <c:f>Sheet1!$B$2:$B$7</c:f>
              <c:numCache>
                <c:formatCode>General</c:formatCode>
                <c:ptCount val="6"/>
                <c:pt idx="0">
                  <c:v>87.3</c:v>
                </c:pt>
                <c:pt idx="1">
                  <c:v>81</c:v>
                </c:pt>
                <c:pt idx="2">
                  <c:v>74.2</c:v>
                </c:pt>
                <c:pt idx="3">
                  <c:v>66.8</c:v>
                </c:pt>
                <c:pt idx="4">
                  <c:v>57.8</c:v>
                </c:pt>
                <c:pt idx="5">
                  <c:v>47.7</c:v>
                </c:pt>
              </c:numCache>
            </c:numRef>
          </c:val>
          <c:smooth val="0"/>
        </c:ser>
        <c:ser>
          <c:idx val="1"/>
          <c:order val="1"/>
          <c:tx>
            <c:strRef>
              <c:f>Sheet1!$C$1</c:f>
              <c:strCache>
                <c:ptCount val="1"/>
                <c:pt idx="0">
                  <c:v>Precision</c:v>
                </c:pt>
              </c:strCache>
            </c:strRef>
          </c:tx>
          <c:spPr>
            <a:solidFill>
              <a:srgbClr val="E8743B"/>
            </a:solidFill>
            <a:ln w="38100" cap="flat">
              <a:solidFill>
                <a:srgbClr val="E874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8743B"/>
              </a:solidFill>
              <a:ln w="9525" cap="flat">
                <a:solidFill>
                  <a:srgbClr val="E8743B"/>
                </a:solidFill>
                <a:prstDash val="solid"/>
                <a:round/>
              </a:ln>
              <a:effectLst/>
            </c:spPr>
          </c:marker>
          <c:cat>
            <c:multiLvlStrRef>
              <c:f>Sheet1!$A$2:$A$7</c:f>
              <c:multiLvlStrCache>
                <c:ptCount val="6"/>
                <c:lvl>
                  <c:pt idx="0">
                    <c:v>0.30</c:v>
                  </c:pt>
                  <c:pt idx="1">
                    <c:v>0.40</c:v>
                  </c:pt>
                  <c:pt idx="2">
                    <c:v>0.50</c:v>
                  </c:pt>
                  <c:pt idx="3">
                    <c:v>0.60</c:v>
                  </c:pt>
                  <c:pt idx="4">
                    <c:v>0.70</c:v>
                  </c:pt>
                  <c:pt idx="5">
                    <c:v>0.80</c:v>
                  </c:pt>
                </c:lvl>
              </c:multiLvlStrCache>
            </c:multiLvlStrRef>
          </c:cat>
          <c:val>
            <c:numRef>
              <c:f>Sheet1!$C$2:$C$7</c:f>
              <c:numCache>
                <c:formatCode>General</c:formatCode>
                <c:ptCount val="6"/>
                <c:pt idx="0">
                  <c:v>12.2</c:v>
                </c:pt>
                <c:pt idx="1">
                  <c:v>16.6</c:v>
                </c:pt>
                <c:pt idx="2">
                  <c:v>21.3</c:v>
                </c:pt>
                <c:pt idx="3">
                  <c:v>28.2</c:v>
                </c:pt>
                <c:pt idx="4">
                  <c:v>37.3</c:v>
                </c:pt>
                <c:pt idx="5">
                  <c:v>51.9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E6778"/>
                    </a:solidFill>
                    <a:latin typeface="Arial"/>
                  </a:defRPr>
                </a:pPr>
                <a:r>
                  <a:rPr sz="1100" b="0" i="0" u="none" strike="noStrike">
                    <a:solidFill>
                      <a:srgbClr val="5E6778"/>
                    </a:solidFill>
                    <a:latin typeface="Arial"/>
                  </a:rPr>
                  <a:t>Decision threshold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778"/>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0DCD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778"/>
                </a:solidFill>
                <a:latin typeface="Arial"/>
              </a:defRPr>
            </a:pPr>
            <a:endParaRPr lang="en-US"/>
          </a:p>
        </c:txPr>
        <c:crossAx val="2094734554"/>
        <c:crosses val="autoZero"/>
        <c:crossBetween val="between"/>
        <c:majorUnit val="25"/>
      </c:valAx>
      <c:spPr>
        <a:noFill/>
        <a:ln>
          <a:noFill/>
        </a:ln>
        <a:effectLst/>
      </c:spPr>
    </c:plotArea>
    <c:legend>
      <c:legendPos val="t"/>
      <c:overlay val="0"/>
      <c:txPr>
        <a:bodyPr/>
        <a:lstStyle/>
        <a:p>
          <a:pPr>
            <a:defRPr sz="1200">
              <a:solidFill>
                <a:srgbClr val="1E2638"/>
              </a:solidFill>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question. Fraud is often coordinated: several transactions sharing a card, address or device. Our project asks whether using those relationships improves detection compared with looking at each transaction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problem: coordinated fraud that looks normal one transaction at a time. Be upfront that the proposal planned graph neural networks (GraphSAGE, RGCN); we tried both, but neither performed better than XGBoost, so the final comparison uses an ANN, which runs on the same features and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IEEE-CIS Fraud Detection competition data from Kaggle. Two tables joined on TransactionID. The key numbers: 3.5% fraud, so the classes are very imbalanced, and 76% of transactions have no identity data, so missing values are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EDA findings. Product C and mobile devices have fraud rates three to five times the average. Credit cards are nearly three times riskier than debit. Transactions with no device info have the lowest rate, so missingness itself carries signal. Amount alone separates poorly (median $75 fraud vs $68.50 legitimate). These are associations, not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The key design choice is the time-based split: a random split would let the model learn from later fraud when predicting earlier fraud. Every preprocessing step (dropping 9 columns over 95% empty, category encoding, medians and scaling for the ANN) was learned from the training period only. Class imbalance was handled with a weight of 27.5 on fraud rather than resampling.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linking rules first. Single attributes like email domain linked too broadly. Card plus address was a good balance, and the 24-hour window made links meaningful. The network has 12,922 nodes, 12,226 edges and 7,519 components. The biggest has 35 transactions on one card, one address and one email domain, across 3 devices over 73 hours. Stress that this graph is exploratory because it uses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used relationships safely. The proposal mentioned neighbourhood fraud density, but counting known fraud would leak the label. So instead we count how busy each identifier was in the past 24 hours. Only past transactions count, which is exactly the information available when a real transaction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XGBoost is the standard strong model for tabular data and was our proposal baseline. The ANN is the deep learning comparison. We also tried GraphSAGE and RGCN from the proposal; neither performed better than XGBoost, so they are not in the final notebook. Keeping everything identical except the five features means any change in score comes from the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rank by Average Precision because it measures how well fraud rises to the top of the list. ROC-AUC can look strong even with many false alerts. XGBoost beats the ANN clearly; the ANN validation PR-AUC jumped between epochs, a sign of unstable training. The historical features helped XGBoost only slightly.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number. AP 0.521 versus 0.034 for random, ROC-AUC 0.909, and at the default 0.50 threshold it catches 74% of fraud. Be honest that the gain over plain XGBoost is small. The most complex model, the ANN, was not the best.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gives a probability; the threshold turns it into an alert. Lower thresholds catch more fraud but flood the team with false alerts. At 0.50, only about 1 in 5 alerts is real fraud. Accuracy at 0.50 is 89.7%, but that mostly reflects the legitimate majority.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transaction; right means pushed toward fraud; red means a high feature value. Amount and card type lead. Among our five features, card count ranks 17th, then address 36th, email 56th, device 61st, card plus address 82nd. Their effect is non-linear.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MAKĀMIN (مكامن, "Uncovering Hidden Fraud Patterns") takes the 5,000 validation transactions that have SHAP explanations. For a selected transaction it shows the risk score and decision at 0.50, the ten strongest SHAP reasons, and an interactive network of earlier transactions from the previous 24 hours that share its card, address, email domain or device. Future transactions are never used, and fraud labels are added only after links are found. Built with Streamlit, Plotly and PyVis; runs from Kaggle through a temporary link for the demo. If possible, show the live dashboard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against leakage from the start. The honest caveats: the ANN used validation PR-AUC for early stopping, so its score is slightly optimistic; the threshold table also used validation data. With one split and one run, the small gain from our features may not hold. Recording XGBoost training scores would show the overfitting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GraphSAGE and RGCN and neither beat XGBoost, but those runs are not in the final notebook, so we cannot show their scores. A stronger customer ID, for example card plus address plus account start date, would make the relationship features sharper.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to reveal each takeaway. Relationships exist and can be used without leakage, but a strong tabular model already captures most of the signal. MAKĀMIN shows how an investigator could use the score, its reasons and the related transactions together. Even the graph neural networks we tried did not beat XGBoost.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Why not GNNs? Why AP instead of accuracy? How do you know there is no leakage? Why weighting instead of SMOTE? Why is the gain from the features so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2E"/>
        </a:solidFill>
      </p:bgPr>
    </p:bg>
    <p:spTree>
      <p:nvGrpSpPr>
        <p:cNvPr id="1" name=""/>
        <p:cNvGrpSpPr/>
        <p:nvPr/>
      </p:nvGrpSpPr>
      <p:grpSpPr>
        <a:xfrm>
          <a:off x="0" y="0"/>
          <a:ext cx="0" cy="0"/>
          <a:chOff x="0" y="0"/>
          <a:chExt cx="0" cy="0"/>
        </a:xfrm>
      </p:grpSpPr>
      <p:sp>
        <p:nvSpPr>
          <p:cNvPr id="2" name="nl0"/>
          <p:cNvSpPr/>
          <p:nvPr/>
        </p:nvSpPr>
        <p:spPr>
          <a:xfrm flipV="1">
            <a:off x="7676147" y="1648326"/>
            <a:ext cx="1039528" cy="389823"/>
          </a:xfrm>
          <a:prstGeom prst="line">
            <a:avLst/>
          </a:prstGeom>
          <a:noFill/>
          <a:ln w="25400">
            <a:solidFill>
              <a:srgbClr val="3B6FD4">
                <a:alpha val="60000"/>
              </a:srgbClr>
            </a:solidFill>
            <a:prstDash val="solid"/>
          </a:ln>
        </p:spPr>
      </p:sp>
      <p:sp>
        <p:nvSpPr>
          <p:cNvPr id="3" name="nl1"/>
          <p:cNvSpPr/>
          <p:nvPr/>
        </p:nvSpPr>
        <p:spPr>
          <a:xfrm>
            <a:off x="7676147" y="2038149"/>
            <a:ext cx="649705" cy="909587"/>
          </a:xfrm>
          <a:prstGeom prst="line">
            <a:avLst/>
          </a:prstGeom>
          <a:noFill/>
          <a:ln w="25400">
            <a:solidFill>
              <a:srgbClr val="3B6FD4">
                <a:alpha val="60000"/>
              </a:srgbClr>
            </a:solidFill>
            <a:prstDash val="solid"/>
          </a:ln>
        </p:spPr>
      </p:sp>
      <p:sp>
        <p:nvSpPr>
          <p:cNvPr id="4" name="nl2"/>
          <p:cNvSpPr/>
          <p:nvPr/>
        </p:nvSpPr>
        <p:spPr>
          <a:xfrm flipV="1">
            <a:off x="8325853" y="1648326"/>
            <a:ext cx="389823" cy="1299411"/>
          </a:xfrm>
          <a:prstGeom prst="line">
            <a:avLst/>
          </a:prstGeom>
          <a:noFill/>
          <a:ln w="25400">
            <a:solidFill>
              <a:srgbClr val="3B6FD4">
                <a:alpha val="60000"/>
              </a:srgbClr>
            </a:solidFill>
            <a:prstDash val="solid"/>
          </a:ln>
        </p:spPr>
      </p:sp>
      <p:sp>
        <p:nvSpPr>
          <p:cNvPr id="5" name="nl3"/>
          <p:cNvSpPr/>
          <p:nvPr/>
        </p:nvSpPr>
        <p:spPr>
          <a:xfrm>
            <a:off x="8715676" y="1648326"/>
            <a:ext cx="1039528" cy="649705"/>
          </a:xfrm>
          <a:prstGeom prst="line">
            <a:avLst/>
          </a:prstGeom>
          <a:noFill/>
          <a:ln w="25400">
            <a:solidFill>
              <a:srgbClr val="3B6FD4">
                <a:alpha val="60000"/>
              </a:srgbClr>
            </a:solidFill>
            <a:prstDash val="solid"/>
          </a:ln>
        </p:spPr>
      </p:sp>
      <p:sp>
        <p:nvSpPr>
          <p:cNvPr id="6" name="nl4"/>
          <p:cNvSpPr/>
          <p:nvPr/>
        </p:nvSpPr>
        <p:spPr>
          <a:xfrm flipV="1">
            <a:off x="9755204" y="1778267"/>
            <a:ext cx="909587" cy="519764"/>
          </a:xfrm>
          <a:prstGeom prst="line">
            <a:avLst/>
          </a:prstGeom>
          <a:noFill/>
          <a:ln w="25400">
            <a:solidFill>
              <a:srgbClr val="3B6FD4">
                <a:alpha val="60000"/>
              </a:srgbClr>
            </a:solidFill>
            <a:prstDash val="solid"/>
          </a:ln>
        </p:spPr>
      </p:sp>
      <p:sp>
        <p:nvSpPr>
          <p:cNvPr id="7" name="nl5"/>
          <p:cNvSpPr/>
          <p:nvPr/>
        </p:nvSpPr>
        <p:spPr>
          <a:xfrm>
            <a:off x="8325853" y="2947737"/>
            <a:ext cx="584735" cy="1169469"/>
          </a:xfrm>
          <a:prstGeom prst="line">
            <a:avLst/>
          </a:prstGeom>
          <a:noFill/>
          <a:ln w="25400">
            <a:solidFill>
              <a:srgbClr val="3B6FD4">
                <a:alpha val="60000"/>
              </a:srgbClr>
            </a:solidFill>
            <a:prstDash val="solid"/>
          </a:ln>
        </p:spPr>
      </p:sp>
      <p:sp>
        <p:nvSpPr>
          <p:cNvPr id="8" name="nl6"/>
          <p:cNvSpPr/>
          <p:nvPr/>
        </p:nvSpPr>
        <p:spPr>
          <a:xfrm>
            <a:off x="10145027" y="3597442"/>
            <a:ext cx="779646" cy="909587"/>
          </a:xfrm>
          <a:prstGeom prst="line">
            <a:avLst/>
          </a:prstGeom>
          <a:noFill/>
          <a:ln w="25400">
            <a:solidFill>
              <a:srgbClr val="3B6FD4">
                <a:alpha val="60000"/>
              </a:srgbClr>
            </a:solidFill>
            <a:prstDash val="solid"/>
          </a:ln>
        </p:spPr>
      </p:sp>
      <p:sp>
        <p:nvSpPr>
          <p:cNvPr id="9" name="nl7"/>
          <p:cNvSpPr/>
          <p:nvPr/>
        </p:nvSpPr>
        <p:spPr>
          <a:xfrm flipV="1">
            <a:off x="8065971" y="4117206"/>
            <a:ext cx="844617" cy="779646"/>
          </a:xfrm>
          <a:prstGeom prst="line">
            <a:avLst/>
          </a:prstGeom>
          <a:noFill/>
          <a:ln w="25400">
            <a:solidFill>
              <a:srgbClr val="3B6FD4">
                <a:alpha val="60000"/>
              </a:srgbClr>
            </a:solidFill>
            <a:prstDash val="solid"/>
          </a:ln>
        </p:spPr>
      </p:sp>
      <p:sp>
        <p:nvSpPr>
          <p:cNvPr id="10" name="nl8"/>
          <p:cNvSpPr/>
          <p:nvPr/>
        </p:nvSpPr>
        <p:spPr>
          <a:xfrm>
            <a:off x="8910587" y="4117206"/>
            <a:ext cx="844617" cy="909587"/>
          </a:xfrm>
          <a:prstGeom prst="line">
            <a:avLst/>
          </a:prstGeom>
          <a:noFill/>
          <a:ln w="25400">
            <a:solidFill>
              <a:srgbClr val="3B6FD4">
                <a:alpha val="60000"/>
              </a:srgbClr>
            </a:solidFill>
            <a:prstDash val="solid"/>
          </a:ln>
        </p:spPr>
      </p:sp>
      <p:sp>
        <p:nvSpPr>
          <p:cNvPr id="11" name="nl9"/>
          <p:cNvSpPr/>
          <p:nvPr/>
        </p:nvSpPr>
        <p:spPr>
          <a:xfrm flipV="1">
            <a:off x="9755204" y="4507029"/>
            <a:ext cx="1169469" cy="519764"/>
          </a:xfrm>
          <a:prstGeom prst="line">
            <a:avLst/>
          </a:prstGeom>
          <a:noFill/>
          <a:ln w="25400">
            <a:solidFill>
              <a:srgbClr val="3B6FD4">
                <a:alpha val="60000"/>
              </a:srgbClr>
            </a:solidFill>
            <a:prstDash val="solid"/>
          </a:ln>
        </p:spPr>
      </p:sp>
      <p:sp>
        <p:nvSpPr>
          <p:cNvPr id="12" name="nl10"/>
          <p:cNvSpPr/>
          <p:nvPr/>
        </p:nvSpPr>
        <p:spPr>
          <a:xfrm flipV="1">
            <a:off x="10145027" y="1778267"/>
            <a:ext cx="519764" cy="1819175"/>
          </a:xfrm>
          <a:prstGeom prst="line">
            <a:avLst/>
          </a:prstGeom>
          <a:noFill/>
          <a:ln w="25400">
            <a:solidFill>
              <a:srgbClr val="3B6FD4">
                <a:alpha val="60000"/>
              </a:srgbClr>
            </a:solidFill>
            <a:prstDash val="solid"/>
          </a:ln>
        </p:spPr>
      </p:sp>
      <p:sp>
        <p:nvSpPr>
          <p:cNvPr id="13" name="nr0"/>
          <p:cNvSpPr/>
          <p:nvPr/>
        </p:nvSpPr>
        <p:spPr>
          <a:xfrm flipV="1">
            <a:off x="8325853" y="2298032"/>
            <a:ext cx="1429352" cy="649705"/>
          </a:xfrm>
          <a:prstGeom prst="line">
            <a:avLst/>
          </a:prstGeom>
          <a:noFill/>
          <a:ln w="44450">
            <a:solidFill>
              <a:srgbClr val="E8743B"/>
            </a:solidFill>
            <a:prstDash val="solid"/>
          </a:ln>
        </p:spPr>
      </p:sp>
      <p:sp>
        <p:nvSpPr>
          <p:cNvPr id="14" name="nr1"/>
          <p:cNvSpPr/>
          <p:nvPr/>
        </p:nvSpPr>
        <p:spPr>
          <a:xfrm>
            <a:off x="9755204" y="2298032"/>
            <a:ext cx="389823" cy="1299411"/>
          </a:xfrm>
          <a:prstGeom prst="line">
            <a:avLst/>
          </a:prstGeom>
          <a:noFill/>
          <a:ln w="44450">
            <a:solidFill>
              <a:srgbClr val="E8743B"/>
            </a:solidFill>
            <a:prstDash val="solid"/>
          </a:ln>
        </p:spPr>
      </p:sp>
      <p:sp>
        <p:nvSpPr>
          <p:cNvPr id="15" name="nr2"/>
          <p:cNvSpPr/>
          <p:nvPr/>
        </p:nvSpPr>
        <p:spPr>
          <a:xfrm flipV="1">
            <a:off x="8910587" y="3597442"/>
            <a:ext cx="1234440" cy="519764"/>
          </a:xfrm>
          <a:prstGeom prst="line">
            <a:avLst/>
          </a:prstGeom>
          <a:noFill/>
          <a:ln w="44450">
            <a:solidFill>
              <a:srgbClr val="E8743B"/>
            </a:solidFill>
            <a:prstDash val="solid"/>
          </a:ln>
        </p:spPr>
      </p:sp>
      <p:sp>
        <p:nvSpPr>
          <p:cNvPr id="16" name="nr3"/>
          <p:cNvSpPr/>
          <p:nvPr/>
        </p:nvSpPr>
        <p:spPr>
          <a:xfrm>
            <a:off x="8325853" y="2947737"/>
            <a:ext cx="584735" cy="1169469"/>
          </a:xfrm>
          <a:prstGeom prst="line">
            <a:avLst/>
          </a:prstGeom>
          <a:noFill/>
          <a:ln w="44450">
            <a:solidFill>
              <a:srgbClr val="E8743B"/>
            </a:solidFill>
            <a:prstDash val="solid"/>
          </a:ln>
        </p:spPr>
      </p:sp>
      <p:sp>
        <p:nvSpPr>
          <p:cNvPr id="17" name="nr4"/>
          <p:cNvSpPr/>
          <p:nvPr/>
        </p:nvSpPr>
        <p:spPr>
          <a:xfrm>
            <a:off x="8325853" y="2947737"/>
            <a:ext cx="1819175" cy="649705"/>
          </a:xfrm>
          <a:prstGeom prst="line">
            <a:avLst/>
          </a:prstGeom>
          <a:noFill/>
          <a:ln w="44450">
            <a:solidFill>
              <a:srgbClr val="E8743B"/>
            </a:solidFill>
            <a:prstDash val="solid"/>
          </a:ln>
        </p:spPr>
      </p:sp>
      <p:sp>
        <p:nvSpPr>
          <p:cNvPr id="18" name="nn0"/>
          <p:cNvSpPr/>
          <p:nvPr/>
        </p:nvSpPr>
        <p:spPr>
          <a:xfrm>
            <a:off x="7585189" y="1947191"/>
            <a:ext cx="181917" cy="181917"/>
          </a:xfrm>
          <a:prstGeom prst="ellipse">
            <a:avLst/>
          </a:prstGeom>
          <a:solidFill>
            <a:srgbClr val="C3CCDA"/>
          </a:solidFill>
          <a:ln w="12700">
            <a:solidFill>
              <a:srgbClr val="C3CCDA"/>
            </a:solidFill>
            <a:prstDash val="solid"/>
          </a:ln>
        </p:spPr>
      </p:sp>
      <p:sp>
        <p:nvSpPr>
          <p:cNvPr id="19" name="nn1"/>
          <p:cNvSpPr/>
          <p:nvPr/>
        </p:nvSpPr>
        <p:spPr>
          <a:xfrm>
            <a:off x="8624717" y="1557368"/>
            <a:ext cx="181917" cy="181917"/>
          </a:xfrm>
          <a:prstGeom prst="ellipse">
            <a:avLst/>
          </a:prstGeom>
          <a:solidFill>
            <a:srgbClr val="C3CCDA"/>
          </a:solidFill>
          <a:ln w="12700">
            <a:solidFill>
              <a:srgbClr val="C3CCDA"/>
            </a:solidFill>
            <a:prstDash val="solid"/>
          </a:ln>
        </p:spPr>
      </p:sp>
      <p:sp>
        <p:nvSpPr>
          <p:cNvPr id="20" name="nn2"/>
          <p:cNvSpPr/>
          <p:nvPr/>
        </p:nvSpPr>
        <p:spPr>
          <a:xfrm>
            <a:off x="10573833" y="1687309"/>
            <a:ext cx="181917" cy="181917"/>
          </a:xfrm>
          <a:prstGeom prst="ellipse">
            <a:avLst/>
          </a:prstGeom>
          <a:solidFill>
            <a:srgbClr val="C3CCDA"/>
          </a:solidFill>
          <a:ln w="12700">
            <a:solidFill>
              <a:srgbClr val="C3CCDA"/>
            </a:solidFill>
            <a:prstDash val="solid"/>
          </a:ln>
        </p:spPr>
      </p:sp>
      <p:sp>
        <p:nvSpPr>
          <p:cNvPr id="21" name="nn3"/>
          <p:cNvSpPr/>
          <p:nvPr/>
        </p:nvSpPr>
        <p:spPr>
          <a:xfrm>
            <a:off x="10833715" y="4416071"/>
            <a:ext cx="181917" cy="181917"/>
          </a:xfrm>
          <a:prstGeom prst="ellipse">
            <a:avLst/>
          </a:prstGeom>
          <a:solidFill>
            <a:srgbClr val="C3CCDA"/>
          </a:solidFill>
          <a:ln w="12700">
            <a:solidFill>
              <a:srgbClr val="C3CCDA"/>
            </a:solidFill>
            <a:prstDash val="solid"/>
          </a:ln>
        </p:spPr>
      </p:sp>
      <p:sp>
        <p:nvSpPr>
          <p:cNvPr id="22" name="nn4"/>
          <p:cNvSpPr/>
          <p:nvPr/>
        </p:nvSpPr>
        <p:spPr>
          <a:xfrm>
            <a:off x="7975012" y="4805894"/>
            <a:ext cx="181917" cy="181917"/>
          </a:xfrm>
          <a:prstGeom prst="ellipse">
            <a:avLst/>
          </a:prstGeom>
          <a:solidFill>
            <a:srgbClr val="C3CCDA"/>
          </a:solidFill>
          <a:ln w="12700">
            <a:solidFill>
              <a:srgbClr val="C3CCDA"/>
            </a:solidFill>
            <a:prstDash val="solid"/>
          </a:ln>
        </p:spPr>
      </p:sp>
      <p:sp>
        <p:nvSpPr>
          <p:cNvPr id="23" name="nn5"/>
          <p:cNvSpPr/>
          <p:nvPr/>
        </p:nvSpPr>
        <p:spPr>
          <a:xfrm>
            <a:off x="9664245" y="4935835"/>
            <a:ext cx="181917" cy="181917"/>
          </a:xfrm>
          <a:prstGeom prst="ellipse">
            <a:avLst/>
          </a:prstGeom>
          <a:solidFill>
            <a:srgbClr val="C3CCDA"/>
          </a:solidFill>
          <a:ln w="12700">
            <a:solidFill>
              <a:srgbClr val="C3CCDA"/>
            </a:solidFill>
            <a:prstDash val="solid"/>
          </a:ln>
        </p:spPr>
      </p:sp>
      <p:sp>
        <p:nvSpPr>
          <p:cNvPr id="24" name="nh0"/>
          <p:cNvSpPr/>
          <p:nvPr/>
        </p:nvSpPr>
        <p:spPr>
          <a:xfrm>
            <a:off x="8065971" y="2687855"/>
            <a:ext cx="519764" cy="519764"/>
          </a:xfrm>
          <a:prstGeom prst="ellipse">
            <a:avLst/>
          </a:prstGeom>
          <a:solidFill>
            <a:srgbClr val="E8743B">
              <a:alpha val="20000"/>
            </a:srgbClr>
          </a:solidFill>
          <a:ln w="19050">
            <a:solidFill>
              <a:srgbClr val="E8743B">
                <a:alpha val="50000"/>
              </a:srgbClr>
            </a:solidFill>
            <a:prstDash val="solid"/>
          </a:ln>
        </p:spPr>
      </p:sp>
      <p:sp>
        <p:nvSpPr>
          <p:cNvPr id="25" name="nh1"/>
          <p:cNvSpPr/>
          <p:nvPr/>
        </p:nvSpPr>
        <p:spPr>
          <a:xfrm>
            <a:off x="9495322" y="2038149"/>
            <a:ext cx="519764" cy="519764"/>
          </a:xfrm>
          <a:prstGeom prst="ellipse">
            <a:avLst/>
          </a:prstGeom>
          <a:solidFill>
            <a:srgbClr val="E8743B">
              <a:alpha val="20000"/>
            </a:srgbClr>
          </a:solidFill>
          <a:ln w="19050">
            <a:solidFill>
              <a:srgbClr val="E8743B">
                <a:alpha val="50000"/>
              </a:srgbClr>
            </a:solidFill>
            <a:prstDash val="solid"/>
          </a:ln>
        </p:spPr>
      </p:sp>
      <p:sp>
        <p:nvSpPr>
          <p:cNvPr id="26" name="nh2"/>
          <p:cNvSpPr/>
          <p:nvPr/>
        </p:nvSpPr>
        <p:spPr>
          <a:xfrm>
            <a:off x="9885145" y="3337560"/>
            <a:ext cx="519764" cy="519764"/>
          </a:xfrm>
          <a:prstGeom prst="ellipse">
            <a:avLst/>
          </a:prstGeom>
          <a:solidFill>
            <a:srgbClr val="E8743B">
              <a:alpha val="20000"/>
            </a:srgbClr>
          </a:solidFill>
          <a:ln w="19050">
            <a:solidFill>
              <a:srgbClr val="E8743B">
                <a:alpha val="50000"/>
              </a:srgbClr>
            </a:solidFill>
            <a:prstDash val="solid"/>
          </a:ln>
        </p:spPr>
      </p:sp>
      <p:sp>
        <p:nvSpPr>
          <p:cNvPr id="27" name="nh3"/>
          <p:cNvSpPr/>
          <p:nvPr/>
        </p:nvSpPr>
        <p:spPr>
          <a:xfrm>
            <a:off x="8650705" y="3857324"/>
            <a:ext cx="519764" cy="519764"/>
          </a:xfrm>
          <a:prstGeom prst="ellipse">
            <a:avLst/>
          </a:prstGeom>
          <a:solidFill>
            <a:srgbClr val="E8743B">
              <a:alpha val="20000"/>
            </a:srgbClr>
          </a:solidFill>
          <a:ln w="19050">
            <a:solidFill>
              <a:srgbClr val="E8743B">
                <a:alpha val="50000"/>
              </a:srgbClr>
            </a:solidFill>
            <a:prstDash val="solid"/>
          </a:ln>
        </p:spPr>
      </p:sp>
      <p:sp>
        <p:nvSpPr>
          <p:cNvPr id="28" name="nf0"/>
          <p:cNvSpPr/>
          <p:nvPr/>
        </p:nvSpPr>
        <p:spPr>
          <a:xfrm>
            <a:off x="8182917" y="2804802"/>
            <a:ext cx="285870" cy="285870"/>
          </a:xfrm>
          <a:prstGeom prst="ellipse">
            <a:avLst/>
          </a:prstGeom>
          <a:solidFill>
            <a:srgbClr val="E8743B"/>
          </a:solidFill>
          <a:ln w="12700">
            <a:solidFill>
              <a:srgbClr val="E8743B"/>
            </a:solidFill>
            <a:prstDash val="solid"/>
          </a:ln>
        </p:spPr>
      </p:sp>
      <p:sp>
        <p:nvSpPr>
          <p:cNvPr id="29" name="nf1"/>
          <p:cNvSpPr/>
          <p:nvPr/>
        </p:nvSpPr>
        <p:spPr>
          <a:xfrm>
            <a:off x="9612269" y="2155096"/>
            <a:ext cx="285870" cy="285870"/>
          </a:xfrm>
          <a:prstGeom prst="ellipse">
            <a:avLst/>
          </a:prstGeom>
          <a:solidFill>
            <a:srgbClr val="E8743B"/>
          </a:solidFill>
          <a:ln w="12700">
            <a:solidFill>
              <a:srgbClr val="E8743B"/>
            </a:solidFill>
            <a:prstDash val="solid"/>
          </a:ln>
        </p:spPr>
      </p:sp>
      <p:sp>
        <p:nvSpPr>
          <p:cNvPr id="30" name="nf2"/>
          <p:cNvSpPr/>
          <p:nvPr/>
        </p:nvSpPr>
        <p:spPr>
          <a:xfrm>
            <a:off x="10002092" y="3454507"/>
            <a:ext cx="285870" cy="285870"/>
          </a:xfrm>
          <a:prstGeom prst="ellipse">
            <a:avLst/>
          </a:prstGeom>
          <a:solidFill>
            <a:srgbClr val="E8743B"/>
          </a:solidFill>
          <a:ln w="12700">
            <a:solidFill>
              <a:srgbClr val="E8743B"/>
            </a:solidFill>
            <a:prstDash val="solid"/>
          </a:ln>
        </p:spPr>
      </p:sp>
      <p:sp>
        <p:nvSpPr>
          <p:cNvPr id="31" name="nf3"/>
          <p:cNvSpPr/>
          <p:nvPr/>
        </p:nvSpPr>
        <p:spPr>
          <a:xfrm>
            <a:off x="8767652" y="3974271"/>
            <a:ext cx="285870" cy="285870"/>
          </a:xfrm>
          <a:prstGeom prst="ellipse">
            <a:avLst/>
          </a:prstGeom>
          <a:solidFill>
            <a:srgbClr val="E8743B"/>
          </a:solidFill>
          <a:ln w="12700">
            <a:solidFill>
              <a:srgbClr val="E8743B"/>
            </a:solidFill>
            <a:prstDash val="solid"/>
          </a:ln>
        </p:spPr>
      </p:sp>
      <p:sp>
        <p:nvSpPr>
          <p:cNvPr id="32" name="Text 30"/>
          <p:cNvSpPr txBox="1"/>
          <p:nvPr/>
        </p:nvSpPr>
        <p:spPr>
          <a:xfrm>
            <a:off x="612648" y="1828800"/>
            <a:ext cx="6400800" cy="365760"/>
          </a:xfrm>
          <a:prstGeom prst="rect">
            <a:avLst/>
          </a:prstGeom>
          <a:noFill/>
          <a:ln/>
        </p:spPr>
        <p:txBody>
          <a:bodyPr wrap="square" lIns="0" tIns="0" rIns="0" bIns="0" rtlCol="0" anchor="t"/>
          <a:lstStyle/>
          <a:p>
            <a:pPr indent="0" marL="0">
              <a:buNone/>
            </a:pPr>
            <a:r>
              <a:rPr lang="en-US" sz="1400" b="1" spc="300" kern="0" dirty="0">
                <a:solidFill>
                  <a:srgbClr val="E8743B"/>
                </a:solidFill>
                <a:latin typeface="Arial" pitchFamily="34" charset="0"/>
                <a:ea typeface="Arial" pitchFamily="34" charset="-122"/>
                <a:cs typeface="Arial" pitchFamily="34" charset="-120"/>
              </a:rPr>
              <a:t>GROUP 8 · DATA SCIENCE CAPSTONE</a:t>
            </a:r>
            <a:endParaRPr lang="en-US" sz="1400" dirty="0"/>
          </a:p>
        </p:txBody>
      </p:sp>
      <p:sp>
        <p:nvSpPr>
          <p:cNvPr id="33" name="Text 31"/>
          <p:cNvSpPr txBox="1"/>
          <p:nvPr/>
        </p:nvSpPr>
        <p:spPr>
          <a:xfrm>
            <a:off x="612648" y="2286000"/>
            <a:ext cx="6400800" cy="1828800"/>
          </a:xfrm>
          <a:prstGeom prst="rect">
            <a:avLst/>
          </a:prstGeom>
          <a:noFill/>
          <a:ln/>
        </p:spPr>
        <p:txBody>
          <a:bodyPr wrap="square" lIns="0" tIns="0" rIns="0" bIns="0" rtlCol="0" anchor="t"/>
          <a:lstStyle/>
          <a:p>
            <a:pPr indent="0" marL="0">
              <a:lnSpc>
                <a:spcPct val="90000"/>
              </a:lnSpc>
              <a:buNone/>
            </a:pPr>
            <a:r>
              <a:rPr lang="en-US" sz="6000" b="1" dirty="0">
                <a:solidFill>
                  <a:srgbClr val="F5F3EE"/>
                </a:solidFill>
                <a:latin typeface="Arial" pitchFamily="34" charset="0"/>
                <a:ea typeface="Arial" pitchFamily="34" charset="-122"/>
                <a:cs typeface="Arial" pitchFamily="34" charset="-120"/>
              </a:rPr>
              <a:t>Fraud Ring</a:t>
            </a:r>
            <a:endParaRPr lang="en-US" sz="6000" dirty="0"/>
          </a:p>
          <a:p>
            <a:pPr indent="0" marL="0">
              <a:lnSpc>
                <a:spcPct val="90000"/>
              </a:lnSpc>
              <a:buNone/>
            </a:pPr>
            <a:r>
              <a:rPr lang="en-US" sz="6000" b="1" dirty="0">
                <a:solidFill>
                  <a:srgbClr val="F5F3EE"/>
                </a:solidFill>
                <a:latin typeface="Arial" pitchFamily="34" charset="0"/>
                <a:ea typeface="Arial" pitchFamily="34" charset="-122"/>
                <a:cs typeface="Arial" pitchFamily="34" charset="-120"/>
              </a:rPr>
              <a:t>Detection</a:t>
            </a:r>
            <a:endParaRPr lang="en-US" sz="6000" dirty="0"/>
          </a:p>
        </p:txBody>
      </p:sp>
      <p:sp>
        <p:nvSpPr>
          <p:cNvPr id="34" name="Text 32"/>
          <p:cNvSpPr txBox="1"/>
          <p:nvPr/>
        </p:nvSpPr>
        <p:spPr>
          <a:xfrm>
            <a:off x="612648" y="4251960"/>
            <a:ext cx="5669280" cy="822960"/>
          </a:xfrm>
          <a:prstGeom prst="rect">
            <a:avLst/>
          </a:prstGeom>
          <a:noFill/>
          <a:ln/>
        </p:spPr>
        <p:txBody>
          <a:bodyPr wrap="square" lIns="0" tIns="0" rIns="0" bIns="0" rtlCol="0" anchor="t"/>
          <a:lstStyle/>
          <a:p>
            <a:pPr indent="0" marL="0">
              <a:buNone/>
            </a:pPr>
            <a:r>
              <a:rPr lang="en-US" sz="2000" dirty="0">
                <a:solidFill>
                  <a:srgbClr val="C3CCDA"/>
                </a:solidFill>
                <a:latin typeface="Arial" pitchFamily="34" charset="0"/>
                <a:ea typeface="Arial" pitchFamily="34" charset="-122"/>
                <a:cs typeface="Arial" pitchFamily="34" charset="-120"/>
              </a:rPr>
              <a:t>Do relationships between transactions help us catch fraud?</a:t>
            </a:r>
            <a:endParaRPr lang="en-US" sz="2000" dirty="0"/>
          </a:p>
        </p:txBody>
      </p:sp>
      <p:sp>
        <p:nvSpPr>
          <p:cNvPr id="35" name="Text 33"/>
          <p:cNvSpPr txBox="1"/>
          <p:nvPr/>
        </p:nvSpPr>
        <p:spPr>
          <a:xfrm>
            <a:off x="612648" y="5989320"/>
            <a:ext cx="8229600" cy="365760"/>
          </a:xfrm>
          <a:prstGeom prst="rect">
            <a:avLst/>
          </a:prstGeom>
          <a:noFill/>
          <a:ln/>
        </p:spPr>
        <p:txBody>
          <a:bodyPr wrap="square" lIns="0" tIns="0" rIns="0" bIns="0" rtlCol="0" anchor="t"/>
          <a:lstStyle/>
          <a:p>
            <a:pPr indent="0" marL="0">
              <a:buNone/>
            </a:pPr>
            <a:r>
              <a:rPr lang="en-US" sz="1400" dirty="0">
                <a:solidFill>
                  <a:srgbClr val="C3CCDA"/>
                </a:solidFill>
                <a:latin typeface="Arial" pitchFamily="34" charset="0"/>
                <a:ea typeface="Arial" pitchFamily="34" charset="-122"/>
                <a:cs typeface="Arial" pitchFamily="34" charset="-120"/>
              </a:rPr>
              <a:t>Nada Aljaafari · Lujain Alqarni · Alia AlGhamdi · Remas Almutairi</a:t>
            </a:r>
            <a:endParaRPr lang="en-US" sz="14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
                                      <p:cBhvr>
                                        <p:cTn id="7" dur="500"/>
                                        <p:tgtEl>
                                          <p:spTgt spid="2"/>
                                        </p:tgtEl>
                                      </p:cBhvr>
                                    </p:animEffect>
                                  </p:childTnLst>
                                </p:cTn>
                              </p:par>
                              <p:par>
                                <p:cTn id="8" presetID="22" presetClass="entr" presetSubtype="8" fill="hold" grpId="0" nodeType="withEffect">
                                  <p:stCondLst>
                                    <p:cond delay="110"/>
                                  </p:stCondLst>
                                  <p:childTnLst>
                                    <p:set>
                                      <p:cBhvr>
                                        <p:cTn id="9" dur="1" fill="hold">
                                          <p:stCondLst>
                                            <p:cond delay="0"/>
                                          </p:stCondLst>
                                        </p:cTn>
                                        <p:tgtEl>
                                          <p:spTgt spid="3"/>
                                        </p:tgtEl>
                                        <p:attrNameLst>
                                          <p:attrName>style.visibility</p:attrName>
                                        </p:attrNameLst>
                                      </p:cBhvr>
                                      <p:to>
                                        <p:strVal val="visible"/>
                                      </p:to>
                                    </p:set>
                                    <p:animEffect transition="in" filter="wipe">
                                      <p:cBhvr>
                                        <p:cTn id="10" dur="500"/>
                                        <p:tgtEl>
                                          <p:spTgt spid="3"/>
                                        </p:tgtEl>
                                      </p:cBhvr>
                                    </p:animEffect>
                                  </p:childTnLst>
                                </p:cTn>
                              </p:par>
                              <p:par>
                                <p:cTn id="11" presetID="22" presetClass="entr" presetSubtype="8" fill="hold" grpId="0" nodeType="withEffect">
                                  <p:stCondLst>
                                    <p:cond delay="220"/>
                                  </p:stCondLst>
                                  <p:childTnLst>
                                    <p:set>
                                      <p:cBhvr>
                                        <p:cTn id="12" dur="1" fill="hold">
                                          <p:stCondLst>
                                            <p:cond delay="0"/>
                                          </p:stCondLst>
                                        </p:cTn>
                                        <p:tgtEl>
                                          <p:spTgt spid="4"/>
                                        </p:tgtEl>
                                        <p:attrNameLst>
                                          <p:attrName>style.visibility</p:attrName>
                                        </p:attrNameLst>
                                      </p:cBhvr>
                                      <p:to>
                                        <p:strVal val="visible"/>
                                      </p:to>
                                    </p:set>
                                    <p:animEffect transition="in" filter="wipe">
                                      <p:cBhvr>
                                        <p:cTn id="13" dur="500"/>
                                        <p:tgtEl>
                                          <p:spTgt spid="4"/>
                                        </p:tgtEl>
                                      </p:cBhvr>
                                    </p:animEffect>
                                  </p:childTnLst>
                                </p:cTn>
                              </p:par>
                              <p:par>
                                <p:cTn id="14" presetID="22" presetClass="entr" presetSubtype="8" fill="hold" grpId="0" nodeType="withEffect">
                                  <p:stCondLst>
                                    <p:cond delay="330"/>
                                  </p:stCondLst>
                                  <p:childTnLst>
                                    <p:set>
                                      <p:cBhvr>
                                        <p:cTn id="15" dur="1" fill="hold">
                                          <p:stCondLst>
                                            <p:cond delay="0"/>
                                          </p:stCondLst>
                                        </p:cTn>
                                        <p:tgtEl>
                                          <p:spTgt spid="5"/>
                                        </p:tgtEl>
                                        <p:attrNameLst>
                                          <p:attrName>style.visibility</p:attrName>
                                        </p:attrNameLst>
                                      </p:cBhvr>
                                      <p:to>
                                        <p:strVal val="visible"/>
                                      </p:to>
                                    </p:set>
                                    <p:animEffect transition="in" filter="wipe">
                                      <p:cBhvr>
                                        <p:cTn id="16" dur="500"/>
                                        <p:tgtEl>
                                          <p:spTgt spid="5"/>
                                        </p:tgtEl>
                                      </p:cBhvr>
                                    </p:animEffect>
                                  </p:childTnLst>
                                </p:cTn>
                              </p:par>
                              <p:par>
                                <p:cTn id="17" presetID="22" presetClass="entr" presetSubtype="8" fill="hold" grpId="0" nodeType="withEffect">
                                  <p:stCondLst>
                                    <p:cond delay="440"/>
                                  </p:stCondLst>
                                  <p:childTnLst>
                                    <p:set>
                                      <p:cBhvr>
                                        <p:cTn id="18" dur="1" fill="hold">
                                          <p:stCondLst>
                                            <p:cond delay="0"/>
                                          </p:stCondLst>
                                        </p:cTn>
                                        <p:tgtEl>
                                          <p:spTgt spid="6"/>
                                        </p:tgtEl>
                                        <p:attrNameLst>
                                          <p:attrName>style.visibility</p:attrName>
                                        </p:attrNameLst>
                                      </p:cBhvr>
                                      <p:to>
                                        <p:strVal val="visible"/>
                                      </p:to>
                                    </p:set>
                                    <p:animEffect transition="in" filter="wipe">
                                      <p:cBhvr>
                                        <p:cTn id="19" dur="500"/>
                                        <p:tgtEl>
                                          <p:spTgt spid="6"/>
                                        </p:tgtEl>
                                      </p:cBhvr>
                                    </p:animEffect>
                                  </p:childTnLst>
                                </p:cTn>
                              </p:par>
                              <p:par>
                                <p:cTn id="20" presetID="22" presetClass="entr" presetSubtype="8" fill="hold" grpId="0" nodeType="withEffect">
                                  <p:stCondLst>
                                    <p:cond delay="550"/>
                                  </p:stCondLst>
                                  <p:childTnLst>
                                    <p:set>
                                      <p:cBhvr>
                                        <p:cTn id="21" dur="1" fill="hold">
                                          <p:stCondLst>
                                            <p:cond delay="0"/>
                                          </p:stCondLst>
                                        </p:cTn>
                                        <p:tgtEl>
                                          <p:spTgt spid="7"/>
                                        </p:tgtEl>
                                        <p:attrNameLst>
                                          <p:attrName>style.visibility</p:attrName>
                                        </p:attrNameLst>
                                      </p:cBhvr>
                                      <p:to>
                                        <p:strVal val="visible"/>
                                      </p:to>
                                    </p:set>
                                    <p:animEffect transition="in" filter="wipe">
                                      <p:cBhvr>
                                        <p:cTn id="22" dur="500"/>
                                        <p:tgtEl>
                                          <p:spTgt spid="7"/>
                                        </p:tgtEl>
                                      </p:cBhvr>
                                    </p:animEffect>
                                  </p:childTnLst>
                                </p:cTn>
                              </p:par>
                              <p:par>
                                <p:cTn id="23" presetID="22" presetClass="entr" presetSubtype="8" fill="hold" grpId="0" nodeType="withEffect">
                                  <p:stCondLst>
                                    <p:cond delay="660"/>
                                  </p:stCondLst>
                                  <p:childTnLst>
                                    <p:set>
                                      <p:cBhvr>
                                        <p:cTn id="24" dur="1" fill="hold">
                                          <p:stCondLst>
                                            <p:cond delay="0"/>
                                          </p:stCondLst>
                                        </p:cTn>
                                        <p:tgtEl>
                                          <p:spTgt spid="8"/>
                                        </p:tgtEl>
                                        <p:attrNameLst>
                                          <p:attrName>style.visibility</p:attrName>
                                        </p:attrNameLst>
                                      </p:cBhvr>
                                      <p:to>
                                        <p:strVal val="visible"/>
                                      </p:to>
                                    </p:set>
                                    <p:animEffect transition="in" filter="wipe">
                                      <p:cBhvr>
                                        <p:cTn id="25" dur="500"/>
                                        <p:tgtEl>
                                          <p:spTgt spid="8"/>
                                        </p:tgtEl>
                                      </p:cBhvr>
                                    </p:animEffect>
                                  </p:childTnLst>
                                </p:cTn>
                              </p:par>
                              <p:par>
                                <p:cTn id="26" presetID="22" presetClass="entr" presetSubtype="8" fill="hold" grpId="0" nodeType="withEffect">
                                  <p:stCondLst>
                                    <p:cond delay="770"/>
                                  </p:stCondLst>
                                  <p:childTnLst>
                                    <p:set>
                                      <p:cBhvr>
                                        <p:cTn id="27" dur="1" fill="hold">
                                          <p:stCondLst>
                                            <p:cond delay="0"/>
                                          </p:stCondLst>
                                        </p:cTn>
                                        <p:tgtEl>
                                          <p:spTgt spid="9"/>
                                        </p:tgtEl>
                                        <p:attrNameLst>
                                          <p:attrName>style.visibility</p:attrName>
                                        </p:attrNameLst>
                                      </p:cBhvr>
                                      <p:to>
                                        <p:strVal val="visible"/>
                                      </p:to>
                                    </p:set>
                                    <p:animEffect transition="in" filter="wipe">
                                      <p:cBhvr>
                                        <p:cTn id="28" dur="500"/>
                                        <p:tgtEl>
                                          <p:spTgt spid="9"/>
                                        </p:tgtEl>
                                      </p:cBhvr>
                                    </p:animEffect>
                                  </p:childTnLst>
                                </p:cTn>
                              </p:par>
                              <p:par>
                                <p:cTn id="29" presetID="22" presetClass="entr" presetSubtype="8" fill="hold" grpId="0" nodeType="withEffect">
                                  <p:stCondLst>
                                    <p:cond delay="880"/>
                                  </p:stCondLst>
                                  <p:childTnLst>
                                    <p:set>
                                      <p:cBhvr>
                                        <p:cTn id="30" dur="1" fill="hold">
                                          <p:stCondLst>
                                            <p:cond delay="0"/>
                                          </p:stCondLst>
                                        </p:cTn>
                                        <p:tgtEl>
                                          <p:spTgt spid="10"/>
                                        </p:tgtEl>
                                        <p:attrNameLst>
                                          <p:attrName>style.visibility</p:attrName>
                                        </p:attrNameLst>
                                      </p:cBhvr>
                                      <p:to>
                                        <p:strVal val="visible"/>
                                      </p:to>
                                    </p:set>
                                    <p:animEffect transition="in" filter="wipe">
                                      <p:cBhvr>
                                        <p:cTn id="31" dur="500"/>
                                        <p:tgtEl>
                                          <p:spTgt spid="10"/>
                                        </p:tgtEl>
                                      </p:cBhvr>
                                    </p:animEffect>
                                  </p:childTnLst>
                                </p:cTn>
                              </p:par>
                              <p:par>
                                <p:cTn id="32" presetID="22" presetClass="entr" presetSubtype="8" fill="hold" grpId="0" nodeType="withEffect">
                                  <p:stCondLst>
                                    <p:cond delay="990"/>
                                  </p:stCondLst>
                                  <p:childTnLst>
                                    <p:set>
                                      <p:cBhvr>
                                        <p:cTn id="33" dur="1" fill="hold">
                                          <p:stCondLst>
                                            <p:cond delay="0"/>
                                          </p:stCondLst>
                                        </p:cTn>
                                        <p:tgtEl>
                                          <p:spTgt spid="11"/>
                                        </p:tgtEl>
                                        <p:attrNameLst>
                                          <p:attrName>style.visibility</p:attrName>
                                        </p:attrNameLst>
                                      </p:cBhvr>
                                      <p:to>
                                        <p:strVal val="visible"/>
                                      </p:to>
                                    </p:set>
                                    <p:animEffect transition="in" filter="wipe">
                                      <p:cBhvr>
                                        <p:cTn id="34" dur="500"/>
                                        <p:tgtEl>
                                          <p:spTgt spid="11"/>
                                        </p:tgtEl>
                                      </p:cBhvr>
                                    </p:animEffect>
                                  </p:childTnLst>
                                </p:cTn>
                              </p:par>
                              <p:par>
                                <p:cTn id="35" presetID="22" presetClass="entr" presetSubtype="8" fill="hold" grpId="0" nodeType="withEffect">
                                  <p:stCondLst>
                                    <p:cond delay="1100"/>
                                  </p:stCondLst>
                                  <p:childTnLst>
                                    <p:set>
                                      <p:cBhvr>
                                        <p:cTn id="36" dur="1" fill="hold">
                                          <p:stCondLst>
                                            <p:cond delay="0"/>
                                          </p:stCondLst>
                                        </p:cTn>
                                        <p:tgtEl>
                                          <p:spTgt spid="12"/>
                                        </p:tgtEl>
                                        <p:attrNameLst>
                                          <p:attrName>style.visibility</p:attrName>
                                        </p:attrNameLst>
                                      </p:cBhvr>
                                      <p:to>
                                        <p:strVal val="visible"/>
                                      </p:to>
                                    </p:set>
                                    <p:animEffect transition="in" filter="wipe">
                                      <p:cBhvr>
                                        <p:cTn id="37" dur="500"/>
                                        <p:tgtEl>
                                          <p:spTgt spid="12"/>
                                        </p:tgtEl>
                                      </p:cBhvr>
                                    </p:animEffect>
                                  </p:childTnLst>
                                </p:cTn>
                              </p:par>
                              <p:par>
                                <p:cTn id="38" presetID="10" presetClass="entr" presetSubtype="0" fill="hold" grpId="0" nodeType="withEffect">
                                  <p:stCondLst>
                                    <p:cond delay="15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400"/>
                                        <p:tgtEl>
                                          <p:spTgt spid="18"/>
                                        </p:tgtEl>
                                      </p:cBhvr>
                                    </p:animEffect>
                                  </p:childTnLst>
                                </p:cTn>
                              </p:par>
                              <p:par>
                                <p:cTn id="41" presetID="10" presetClass="entr" presetSubtype="0" fill="hold" grpId="0" nodeType="withEffect">
                                  <p:stCondLst>
                                    <p:cond delay="3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400"/>
                                        <p:tgtEl>
                                          <p:spTgt spid="19"/>
                                        </p:tgtEl>
                                      </p:cBhvr>
                                    </p:animEffect>
                                  </p:childTnLst>
                                </p:cTn>
                              </p:par>
                              <p:par>
                                <p:cTn id="44" presetID="10" presetClass="entr" presetSubtype="0" fill="hold" grpId="0" nodeType="withEffect">
                                  <p:stCondLst>
                                    <p:cond delay="45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400"/>
                                        <p:tgtEl>
                                          <p:spTgt spid="20"/>
                                        </p:tgtEl>
                                      </p:cBhvr>
                                    </p:animEffect>
                                  </p:childTnLst>
                                </p:cTn>
                              </p:par>
                              <p:par>
                                <p:cTn id="47" presetID="10" presetClass="entr" presetSubtype="0" fill="hold" grpId="0" nodeType="withEffect">
                                  <p:stCondLst>
                                    <p:cond delay="6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90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22" presetClass="entr" presetSubtype="8" fill="hold" grpId="0" nodeType="withEffect">
                                  <p:stCondLst>
                                    <p:cond delay="1400"/>
                                  </p:stCondLst>
                                  <p:childTnLst>
                                    <p:set>
                                      <p:cBhvr>
                                        <p:cTn id="57" dur="1" fill="hold">
                                          <p:stCondLst>
                                            <p:cond delay="0"/>
                                          </p:stCondLst>
                                        </p:cTn>
                                        <p:tgtEl>
                                          <p:spTgt spid="13"/>
                                        </p:tgtEl>
                                        <p:attrNameLst>
                                          <p:attrName>style.visibility</p:attrName>
                                        </p:attrNameLst>
                                      </p:cBhvr>
                                      <p:to>
                                        <p:strVal val="visible"/>
                                      </p:to>
                                    </p:set>
                                    <p:animEffect transition="in" filter="wipe">
                                      <p:cBhvr>
                                        <p:cTn id="58" dur="450"/>
                                        <p:tgtEl>
                                          <p:spTgt spid="13"/>
                                        </p:tgtEl>
                                      </p:cBhvr>
                                    </p:animEffect>
                                  </p:childTnLst>
                                </p:cTn>
                              </p:par>
                              <p:par>
                                <p:cTn id="59" presetID="22" presetClass="entr" presetSubtype="8" fill="hold" grpId="0" nodeType="withEffect">
                                  <p:stCondLst>
                                    <p:cond delay="1580"/>
                                  </p:stCondLst>
                                  <p:childTnLst>
                                    <p:set>
                                      <p:cBhvr>
                                        <p:cTn id="60" dur="1" fill="hold">
                                          <p:stCondLst>
                                            <p:cond delay="0"/>
                                          </p:stCondLst>
                                        </p:cTn>
                                        <p:tgtEl>
                                          <p:spTgt spid="14"/>
                                        </p:tgtEl>
                                        <p:attrNameLst>
                                          <p:attrName>style.visibility</p:attrName>
                                        </p:attrNameLst>
                                      </p:cBhvr>
                                      <p:to>
                                        <p:strVal val="visible"/>
                                      </p:to>
                                    </p:set>
                                    <p:animEffect transition="in" filter="wipe">
                                      <p:cBhvr>
                                        <p:cTn id="61" dur="450"/>
                                        <p:tgtEl>
                                          <p:spTgt spid="14"/>
                                        </p:tgtEl>
                                      </p:cBhvr>
                                    </p:animEffect>
                                  </p:childTnLst>
                                </p:cTn>
                              </p:par>
                              <p:par>
                                <p:cTn id="62" presetID="22" presetClass="entr" presetSubtype="8" fill="hold" grpId="0" nodeType="withEffect">
                                  <p:stCondLst>
                                    <p:cond delay="1760"/>
                                  </p:stCondLst>
                                  <p:childTnLst>
                                    <p:set>
                                      <p:cBhvr>
                                        <p:cTn id="63" dur="1" fill="hold">
                                          <p:stCondLst>
                                            <p:cond delay="0"/>
                                          </p:stCondLst>
                                        </p:cTn>
                                        <p:tgtEl>
                                          <p:spTgt spid="15"/>
                                        </p:tgtEl>
                                        <p:attrNameLst>
                                          <p:attrName>style.visibility</p:attrName>
                                        </p:attrNameLst>
                                      </p:cBhvr>
                                      <p:to>
                                        <p:strVal val="visible"/>
                                      </p:to>
                                    </p:set>
                                    <p:animEffect transition="in" filter="wipe">
                                      <p:cBhvr>
                                        <p:cTn id="64" dur="450"/>
                                        <p:tgtEl>
                                          <p:spTgt spid="15"/>
                                        </p:tgtEl>
                                      </p:cBhvr>
                                    </p:animEffect>
                                  </p:childTnLst>
                                </p:cTn>
                              </p:par>
                              <p:par>
                                <p:cTn id="65" presetID="22" presetClass="entr" presetSubtype="8" fill="hold" grpId="0" nodeType="withEffect">
                                  <p:stCondLst>
                                    <p:cond delay="1940"/>
                                  </p:stCondLst>
                                  <p:childTnLst>
                                    <p:set>
                                      <p:cBhvr>
                                        <p:cTn id="66" dur="1" fill="hold">
                                          <p:stCondLst>
                                            <p:cond delay="0"/>
                                          </p:stCondLst>
                                        </p:cTn>
                                        <p:tgtEl>
                                          <p:spTgt spid="16"/>
                                        </p:tgtEl>
                                        <p:attrNameLst>
                                          <p:attrName>style.visibility</p:attrName>
                                        </p:attrNameLst>
                                      </p:cBhvr>
                                      <p:to>
                                        <p:strVal val="visible"/>
                                      </p:to>
                                    </p:set>
                                    <p:animEffect transition="in" filter="wipe">
                                      <p:cBhvr>
                                        <p:cTn id="67" dur="450"/>
                                        <p:tgtEl>
                                          <p:spTgt spid="16"/>
                                        </p:tgtEl>
                                      </p:cBhvr>
                                    </p:animEffect>
                                  </p:childTnLst>
                                </p:cTn>
                              </p:par>
                              <p:par>
                                <p:cTn id="68" presetID="22" presetClass="entr" presetSubtype="8" fill="hold" grpId="0" nodeType="withEffect">
                                  <p:stCondLst>
                                    <p:cond delay="2120"/>
                                  </p:stCondLst>
                                  <p:childTnLst>
                                    <p:set>
                                      <p:cBhvr>
                                        <p:cTn id="69" dur="1" fill="hold">
                                          <p:stCondLst>
                                            <p:cond delay="0"/>
                                          </p:stCondLst>
                                        </p:cTn>
                                        <p:tgtEl>
                                          <p:spTgt spid="17"/>
                                        </p:tgtEl>
                                        <p:attrNameLst>
                                          <p:attrName>style.visibility</p:attrName>
                                        </p:attrNameLst>
                                      </p:cBhvr>
                                      <p:to>
                                        <p:strVal val="visible"/>
                                      </p:to>
                                    </p:set>
                                    <p:animEffect transition="in" filter="wipe">
                                      <p:cBhvr>
                                        <p:cTn id="70" dur="450"/>
                                        <p:tgtEl>
                                          <p:spTgt spid="17"/>
                                        </p:tgtEl>
                                      </p:cBhvr>
                                    </p:animEffect>
                                  </p:childTnLst>
                                </p:cTn>
                              </p:par>
                              <p:par>
                                <p:cTn id="71" presetID="10" presetClass="entr" presetSubtype="0" fill="hold" grpId="0" nodeType="withEffect">
                                  <p:stCondLst>
                                    <p:cond delay="150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400"/>
                                        <p:tgtEl>
                                          <p:spTgt spid="28"/>
                                        </p:tgtEl>
                                      </p:cBhvr>
                                    </p:animEffect>
                                  </p:childTnLst>
                                </p:cTn>
                              </p:par>
                              <p:par>
                                <p:cTn id="74" presetID="10" presetClass="entr" presetSubtype="0" fill="hold" grpId="0" nodeType="withEffect">
                                  <p:stCondLst>
                                    <p:cond delay="168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400"/>
                                        <p:tgtEl>
                                          <p:spTgt spid="29"/>
                                        </p:tgtEl>
                                      </p:cBhvr>
                                    </p:animEffect>
                                  </p:childTnLst>
                                </p:cTn>
                              </p:par>
                              <p:par>
                                <p:cTn id="77" presetID="10" presetClass="entr" presetSubtype="0" fill="hold" grpId="0" nodeType="withEffect">
                                  <p:stCondLst>
                                    <p:cond delay="186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400"/>
                                        <p:tgtEl>
                                          <p:spTgt spid="30"/>
                                        </p:tgtEl>
                                      </p:cBhvr>
                                    </p:animEffect>
                                  </p:childTnLst>
                                </p:cTn>
                              </p:par>
                              <p:par>
                                <p:cTn id="80" presetID="10" presetClass="entr" presetSubtype="0" fill="hold" grpId="0" nodeType="withEffect">
                                  <p:stCondLst>
                                    <p:cond delay="204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400"/>
                                        <p:tgtEl>
                                          <p:spTgt spid="31"/>
                                        </p:tgtEl>
                                      </p:cBhvr>
                                    </p:animEffect>
                                  </p:childTnLst>
                                </p:cTn>
                              </p:par>
                              <p:par>
                                <p:cTn id="83" presetID="10" presetClass="entr" presetSubtype="0" fill="hold" grpId="0" nodeType="withEffect">
                                  <p:stCondLst>
                                    <p:cond delay="2300"/>
                                  </p:stCondLst>
                                  <p:childTnLst>
                                    <p:set>
                                      <p:cBhvr>
                                        <p:cTn id="84" dur="1" fill="hold">
                                          <p:stCondLst>
                                            <p:cond delay="0"/>
                                          </p:stCondLst>
                                        </p:cTn>
                                        <p:tgtEl>
                                          <p:spTgt spid="24"/>
                                        </p:tgtEl>
                                        <p:attrNameLst>
                                          <p:attrName>style.visibility</p:attrName>
                                        </p:attrNameLst>
                                      </p:cBhvr>
                                      <p:to>
                                        <p:strVal val="visible"/>
                                      </p:to>
                                    </p:set>
                                    <p:animEffect transition="in" filter="fade">
                                      <p:cBhvr>
                                        <p:cTn id="85" dur="500"/>
                                        <p:tgtEl>
                                          <p:spTgt spid="24"/>
                                        </p:tgtEl>
                                      </p:cBhvr>
                                    </p:animEffect>
                                  </p:childTnLst>
                                </p:cTn>
                              </p:par>
                              <p:par>
                                <p:cTn id="86" presetID="10" presetClass="entr" presetSubtype="0" fill="hold" grpId="0" nodeType="withEffect">
                                  <p:stCondLst>
                                    <p:cond delay="242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childTnLst>
                                </p:cTn>
                              </p:par>
                              <p:par>
                                <p:cTn id="89" presetID="10" presetClass="entr" presetSubtype="0" fill="hold" grpId="0" nodeType="withEffect">
                                  <p:stCondLst>
                                    <p:cond delay="2540"/>
                                  </p:stCondLst>
                                  <p:childTnLst>
                                    <p:set>
                                      <p:cBhvr>
                                        <p:cTn id="90" dur="1" fill="hold">
                                          <p:stCondLst>
                                            <p:cond delay="0"/>
                                          </p:stCondLst>
                                        </p:cTn>
                                        <p:tgtEl>
                                          <p:spTgt spid="26"/>
                                        </p:tgtEl>
                                        <p:attrNameLst>
                                          <p:attrName>style.visibility</p:attrName>
                                        </p:attrNameLst>
                                      </p:cBhvr>
                                      <p:to>
                                        <p:strVal val="visible"/>
                                      </p:to>
                                    </p:set>
                                    <p:animEffect transition="in" filter="fade">
                                      <p:cBhvr>
                                        <p:cTn id="91" dur="500"/>
                                        <p:tgtEl>
                                          <p:spTgt spid="26"/>
                                        </p:tgtEl>
                                      </p:cBhvr>
                                    </p:animEffect>
                                  </p:childTnLst>
                                </p:cTn>
                              </p:par>
                              <p:par>
                                <p:cTn id="92" presetID="10" presetClass="entr" presetSubtype="0" fill="hold" grpId="0" nodeType="withEffect">
                                  <p:stCondLst>
                                    <p:cond delay="266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500"/>
                                        <p:tgtEl>
                                          <p:spTgt spid="27"/>
                                        </p:tgtEl>
                                      </p:cBhvr>
                                    </p:animEffect>
                                  </p:childTnLst>
                                </p:cTn>
                              </p:par>
                              <p:par>
                                <p:cTn id="95" presetID="6" presetClass="emph" presetSubtype="0" repeatCount="indefinite" autoRev="1" fill="hold" grpId="1" nodeType="withEffect">
                                  <p:stCondLst>
                                    <p:cond delay="2700"/>
                                  </p:stCondLst>
                                  <p:childTnLst>
                                    <p:animScale>
                                      <p:cBhvr>
                                        <p:cTn id="96" dur="900" fill="hold"/>
                                        <p:tgtEl>
                                          <p:spTgt spid="28"/>
                                        </p:tgtEl>
                                      </p:cBhvr>
                                      <p:by x="125000" y="125000"/>
                                    </p:animScale>
                                  </p:childTnLst>
                                </p:cTn>
                              </p:par>
                              <p:par>
                                <p:cTn id="97" presetID="6" presetClass="emph" presetSubtype="0" repeatCount="indefinite" autoRev="1" fill="hold" grpId="1" nodeType="withEffect">
                                  <p:stCondLst>
                                    <p:cond delay="3050"/>
                                  </p:stCondLst>
                                  <p:childTnLst>
                                    <p:animScale>
                                      <p:cBhvr>
                                        <p:cTn id="98" dur="900" fill="hold"/>
                                        <p:tgtEl>
                                          <p:spTgt spid="29"/>
                                        </p:tgtEl>
                                      </p:cBhvr>
                                      <p:by x="125000" y="125000"/>
                                    </p:animScale>
                                  </p:childTnLst>
                                </p:cTn>
                              </p:par>
                              <p:par>
                                <p:cTn id="99" presetID="6" presetClass="emph" presetSubtype="0" repeatCount="indefinite" autoRev="1" fill="hold" grpId="1" nodeType="withEffect">
                                  <p:stCondLst>
                                    <p:cond delay="3400"/>
                                  </p:stCondLst>
                                  <p:childTnLst>
                                    <p:animScale>
                                      <p:cBhvr>
                                        <p:cTn id="100" dur="900" fill="hold"/>
                                        <p:tgtEl>
                                          <p:spTgt spid="30"/>
                                        </p:tgtEl>
                                      </p:cBhvr>
                                      <p:by x="125000" y="125000"/>
                                    </p:animScale>
                                  </p:childTnLst>
                                </p:cTn>
                              </p:par>
                              <p:par>
                                <p:cTn id="101" presetID="6" presetClass="emph" presetSubtype="0" repeatCount="indefinite" autoRev="1" fill="hold" grpId="1" nodeType="withEffect">
                                  <p:stCondLst>
                                    <p:cond delay="3750"/>
                                  </p:stCondLst>
                                  <p:childTnLst>
                                    <p:animScale>
                                      <p:cBhvr>
                                        <p:cTn id="102" dur="900" fill="hold"/>
                                        <p:tgtEl>
                                          <p:spTgt spid="31"/>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8" grpId="0" animBg="1"/>
      <p:bldP spid="19" grpId="0" animBg="1"/>
      <p:bldP spid="20" grpId="0" animBg="1"/>
      <p:bldP spid="21" grpId="0" animBg="1"/>
      <p:bldP spid="22" grpId="0" animBg="1"/>
      <p:bldP spid="23" grpId="0" animBg="1"/>
      <p:bldP spid="13" grpId="0" animBg="1"/>
      <p:bldP spid="14" grpId="0" animBg="1"/>
      <p:bldP spid="15" grpId="0" animBg="1"/>
      <p:bldP spid="16" grpId="0" animBg="1"/>
      <p:bldP spid="17" grpId="0" animBg="1"/>
      <p:bldP spid="28" grpId="0" animBg="1"/>
      <p:bldP spid="29" grpId="0" animBg="1"/>
      <p:bldP spid="30" grpId="0" animBg="1"/>
      <p:bldP spid="31" grpId="0" animBg="1"/>
      <p:bldP spid="24" grpId="0" animBg="1"/>
      <p:bldP spid="25" grpId="0" animBg="1"/>
      <p:bldP spid="26" grpId="0" animBg="1"/>
      <p:bldP spid="27" grpId="0" animBg="1"/>
      <p:bldP spid="28" grpId="1" animBg="1"/>
      <p:bldP spid="29" grpId="1" animBg="1"/>
      <p:bldP spid="30" grpId="1" animBg="1"/>
      <p:bldP spid="31"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B04A16"/>
                </a:solidFill>
                <a:latin typeface="Arial" pitchFamily="34" charset="0"/>
                <a:ea typeface="Arial" pitchFamily="34" charset="-122"/>
                <a:cs typeface="Arial" pitchFamily="34" charset="-120"/>
              </a:rPr>
              <a:t>1 · PROBLEM</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111A2E"/>
                </a:solidFill>
                <a:latin typeface="Arial" pitchFamily="34" charset="0"/>
                <a:ea typeface="Arial" pitchFamily="34" charset="-122"/>
                <a:cs typeface="Arial" pitchFamily="34" charset="-120"/>
              </a:rPr>
              <a:t>Fraud often hides in groups</a:t>
            </a:r>
            <a:endParaRPr lang="en-US" sz="3200" dirty="0"/>
          </a:p>
        </p:txBody>
      </p:sp>
      <p:sp>
        <p:nvSpPr>
          <p:cNvPr id="4" name="Text 2"/>
          <p:cNvSpPr txBox="1"/>
          <p:nvPr/>
        </p:nvSpPr>
        <p:spPr>
          <a:xfrm>
            <a:off x="612648" y="1691640"/>
            <a:ext cx="6949440" cy="1188720"/>
          </a:xfrm>
          <a:prstGeom prst="rect">
            <a:avLst/>
          </a:prstGeom>
          <a:noFill/>
          <a:ln/>
        </p:spPr>
        <p:txBody>
          <a:bodyPr wrap="square" lIns="0" tIns="0" rIns="0" bIns="0" rtlCol="0" anchor="t"/>
          <a:lstStyle/>
          <a:p>
            <a:pPr indent="0" marL="0">
              <a:lnSpc>
                <a:spcPct val="120000"/>
              </a:lnSpc>
              <a:buNone/>
            </a:pPr>
            <a:r>
              <a:rPr lang="en-US" sz="1900" dirty="0">
                <a:solidFill>
                  <a:srgbClr val="1E2638"/>
                </a:solidFill>
                <a:latin typeface="Arial" pitchFamily="34" charset="0"/>
                <a:ea typeface="Arial" pitchFamily="34" charset="-122"/>
                <a:cs typeface="Arial" pitchFamily="34" charset="-120"/>
              </a:rPr>
              <a:t>A fraudster may reuse one card, address or device many times. Each transaction can look normal on its own, but together they form a pattern.</a:t>
            </a:r>
            <a:endParaRPr lang="en-US" sz="1900" dirty="0"/>
          </a:p>
        </p:txBody>
      </p:sp>
      <p:pic>
        <p:nvPicPr>
          <p:cNvPr id="5" name="Image 0" descr="Illustration: credit card with a fraud alert, linked to other transactions">    </p:cNvPr>
          <p:cNvPicPr>
            <a:picLocks noChangeAspect="1"/>
          </p:cNvPicPr>
          <p:nvPr/>
        </p:nvPicPr>
        <p:blipFill>
          <a:blip r:embed="rId1"/>
          <a:stretch>
            <a:fillRect/>
          </a:stretch>
        </p:blipFill>
        <p:spPr>
          <a:xfrm>
            <a:off x="8321040" y="1097280"/>
            <a:ext cx="3264408" cy="2039112"/>
          </a:xfrm>
          <a:prstGeom prst="rect">
            <a:avLst/>
          </a:prstGeom>
        </p:spPr>
      </p:pic>
      <p:sp>
        <p:nvSpPr>
          <p:cNvPr id="6" name="pc0"/>
          <p:cNvSpPr/>
          <p:nvPr/>
        </p:nvSpPr>
        <p:spPr>
          <a:xfrm>
            <a:off x="612648" y="3429000"/>
            <a:ext cx="3529584" cy="2560320"/>
          </a:xfrm>
          <a:prstGeom prst="roundRect">
            <a:avLst>
              <a:gd name="adj" fmla="val 4286"/>
            </a:avLst>
          </a:prstGeom>
          <a:solidFill>
            <a:srgbClr val="FCFBF8"/>
          </a:solidFill>
          <a:ln w="12700">
            <a:solidFill>
              <a:srgbClr val="DDD8CC"/>
            </a:solidFill>
            <a:prstDash val="solid"/>
          </a:ln>
        </p:spPr>
      </p:sp>
      <p:sp>
        <p:nvSpPr>
          <p:cNvPr id="7" name="pt0"/>
          <p:cNvSpPr txBox="1"/>
          <p:nvPr/>
        </p:nvSpPr>
        <p:spPr>
          <a:xfrm>
            <a:off x="886968" y="3657600"/>
            <a:ext cx="2980944" cy="411480"/>
          </a:xfrm>
          <a:prstGeom prst="rect">
            <a:avLst/>
          </a:prstGeom>
          <a:noFill/>
          <a:ln/>
        </p:spPr>
        <p:txBody>
          <a:bodyPr wrap="square" lIns="0" tIns="0" rIns="0" bIns="0" rtlCol="0" anchor="t"/>
          <a:lstStyle/>
          <a:p>
            <a:pPr indent="0" marL="0">
              <a:buNone/>
            </a:pPr>
            <a:r>
              <a:rPr lang="en-US" sz="1700" b="1" dirty="0">
                <a:solidFill>
                  <a:srgbClr val="111A2E"/>
                </a:solidFill>
                <a:latin typeface="Arial" pitchFamily="34" charset="0"/>
                <a:ea typeface="Arial" pitchFamily="34" charset="-122"/>
                <a:cs typeface="Arial" pitchFamily="34" charset="-120"/>
              </a:rPr>
              <a:t>Our question</a:t>
            </a:r>
            <a:endParaRPr lang="en-US" sz="1700" dirty="0"/>
          </a:p>
        </p:txBody>
      </p:sp>
      <p:sp>
        <p:nvSpPr>
          <p:cNvPr id="8" name="pb0"/>
          <p:cNvSpPr txBox="1"/>
          <p:nvPr/>
        </p:nvSpPr>
        <p:spPr>
          <a:xfrm>
            <a:off x="886968" y="4114800"/>
            <a:ext cx="2980944" cy="1737360"/>
          </a:xfrm>
          <a:prstGeom prst="rect">
            <a:avLst/>
          </a:prstGeom>
          <a:noFill/>
          <a:ln/>
        </p:spPr>
        <p:txBody>
          <a:bodyPr wrap="square" lIns="0" tIns="0" rIns="0" bIns="0" rtlCol="0" anchor="t"/>
          <a:lstStyle/>
          <a:p>
            <a:pPr indent="0" marL="0">
              <a:lnSpc>
                <a:spcPct val="120000"/>
              </a:lnSpc>
              <a:buNone/>
            </a:pPr>
            <a:r>
              <a:rPr lang="en-US" sz="1400" dirty="0">
                <a:solidFill>
                  <a:srgbClr val="3F4A5C"/>
                </a:solidFill>
                <a:latin typeface="Arial" pitchFamily="34" charset="0"/>
                <a:ea typeface="Arial" pitchFamily="34" charset="-122"/>
                <a:cs typeface="Arial" pitchFamily="34" charset="-120"/>
              </a:rPr>
              <a:t>Do relationships between transactions improve fraud detection compared with transaction-level machine learning?</a:t>
            </a:r>
            <a:endParaRPr lang="en-US" sz="1400" dirty="0"/>
          </a:p>
        </p:txBody>
      </p:sp>
      <p:sp>
        <p:nvSpPr>
          <p:cNvPr id="9" name="pc1"/>
          <p:cNvSpPr/>
          <p:nvPr/>
        </p:nvSpPr>
        <p:spPr>
          <a:xfrm>
            <a:off x="4334256" y="3429000"/>
            <a:ext cx="3529584" cy="2560320"/>
          </a:xfrm>
          <a:prstGeom prst="roundRect">
            <a:avLst>
              <a:gd name="adj" fmla="val 4286"/>
            </a:avLst>
          </a:prstGeom>
          <a:solidFill>
            <a:srgbClr val="FCFBF8"/>
          </a:solidFill>
          <a:ln w="12700">
            <a:solidFill>
              <a:srgbClr val="DDD8CC"/>
            </a:solidFill>
            <a:prstDash val="solid"/>
          </a:ln>
        </p:spPr>
      </p:sp>
      <p:sp>
        <p:nvSpPr>
          <p:cNvPr id="10" name="pt1"/>
          <p:cNvSpPr txBox="1"/>
          <p:nvPr/>
        </p:nvSpPr>
        <p:spPr>
          <a:xfrm>
            <a:off x="4608576" y="3657600"/>
            <a:ext cx="2980944" cy="411480"/>
          </a:xfrm>
          <a:prstGeom prst="rect">
            <a:avLst/>
          </a:prstGeom>
          <a:noFill/>
          <a:ln/>
        </p:spPr>
        <p:txBody>
          <a:bodyPr wrap="square" lIns="0" tIns="0" rIns="0" bIns="0" rtlCol="0" anchor="t"/>
          <a:lstStyle/>
          <a:p>
            <a:pPr indent="0" marL="0">
              <a:buNone/>
            </a:pPr>
            <a:r>
              <a:rPr lang="en-US" sz="1700" b="1" dirty="0">
                <a:solidFill>
                  <a:srgbClr val="111A2E"/>
                </a:solidFill>
                <a:latin typeface="Arial" pitchFamily="34" charset="0"/>
                <a:ea typeface="Arial" pitchFamily="34" charset="-122"/>
                <a:cs typeface="Arial" pitchFamily="34" charset="-120"/>
              </a:rPr>
              <a:t>Our hypothesis</a:t>
            </a:r>
            <a:endParaRPr lang="en-US" sz="1700" dirty="0"/>
          </a:p>
        </p:txBody>
      </p:sp>
      <p:sp>
        <p:nvSpPr>
          <p:cNvPr id="11" name="pb1"/>
          <p:cNvSpPr txBox="1"/>
          <p:nvPr/>
        </p:nvSpPr>
        <p:spPr>
          <a:xfrm>
            <a:off x="4608576" y="4114800"/>
            <a:ext cx="2980944" cy="1737360"/>
          </a:xfrm>
          <a:prstGeom prst="rect">
            <a:avLst/>
          </a:prstGeom>
          <a:noFill/>
          <a:ln/>
        </p:spPr>
        <p:txBody>
          <a:bodyPr wrap="square" lIns="0" tIns="0" rIns="0" bIns="0" rtlCol="0" anchor="t"/>
          <a:lstStyle/>
          <a:p>
            <a:pPr indent="0" marL="0">
              <a:lnSpc>
                <a:spcPct val="120000"/>
              </a:lnSpc>
              <a:buNone/>
            </a:pPr>
            <a:r>
              <a:rPr lang="en-US" sz="1400" dirty="0">
                <a:solidFill>
                  <a:srgbClr val="3F4A5C"/>
                </a:solidFill>
                <a:latin typeface="Arial" pitchFamily="34" charset="0"/>
                <a:ea typeface="Arial" pitchFamily="34" charset="-122"/>
                <a:cs typeface="Arial" pitchFamily="34" charset="-120"/>
              </a:rPr>
              <a:t>Relationship features will reveal coordinated fraud that single-transaction features miss.</a:t>
            </a:r>
            <a:endParaRPr lang="en-US" sz="1400" dirty="0"/>
          </a:p>
        </p:txBody>
      </p:sp>
      <p:sp>
        <p:nvSpPr>
          <p:cNvPr id="12" name="pc2"/>
          <p:cNvSpPr/>
          <p:nvPr/>
        </p:nvSpPr>
        <p:spPr>
          <a:xfrm>
            <a:off x="8055864" y="3429000"/>
            <a:ext cx="3529584" cy="2560320"/>
          </a:xfrm>
          <a:prstGeom prst="roundRect">
            <a:avLst>
              <a:gd name="adj" fmla="val 4286"/>
            </a:avLst>
          </a:prstGeom>
          <a:solidFill>
            <a:srgbClr val="FCFBF8"/>
          </a:solidFill>
          <a:ln w="12700">
            <a:solidFill>
              <a:srgbClr val="DDD8CC"/>
            </a:solidFill>
            <a:prstDash val="solid"/>
          </a:ln>
        </p:spPr>
      </p:sp>
      <p:sp>
        <p:nvSpPr>
          <p:cNvPr id="13" name="pt2"/>
          <p:cNvSpPr txBox="1"/>
          <p:nvPr/>
        </p:nvSpPr>
        <p:spPr>
          <a:xfrm>
            <a:off x="8330184" y="3657600"/>
            <a:ext cx="2980944" cy="411480"/>
          </a:xfrm>
          <a:prstGeom prst="rect">
            <a:avLst/>
          </a:prstGeom>
          <a:noFill/>
          <a:ln/>
        </p:spPr>
        <p:txBody>
          <a:bodyPr wrap="square" lIns="0" tIns="0" rIns="0" bIns="0" rtlCol="0" anchor="t"/>
          <a:lstStyle/>
          <a:p>
            <a:pPr indent="0" marL="0">
              <a:buNone/>
            </a:pPr>
            <a:r>
              <a:rPr lang="en-US" sz="1700" b="1" dirty="0">
                <a:solidFill>
                  <a:srgbClr val="111A2E"/>
                </a:solidFill>
                <a:latin typeface="Arial" pitchFamily="34" charset="0"/>
                <a:ea typeface="Arial" pitchFamily="34" charset="-122"/>
                <a:cs typeface="Arial" pitchFamily="34" charset="-120"/>
              </a:rPr>
              <a:t>Change from proposal</a:t>
            </a:r>
            <a:endParaRPr lang="en-US" sz="1700" dirty="0"/>
          </a:p>
        </p:txBody>
      </p:sp>
      <p:sp>
        <p:nvSpPr>
          <p:cNvPr id="14" name="pb2"/>
          <p:cNvSpPr txBox="1"/>
          <p:nvPr/>
        </p:nvSpPr>
        <p:spPr>
          <a:xfrm>
            <a:off x="8330184" y="4114800"/>
            <a:ext cx="2980944" cy="1737360"/>
          </a:xfrm>
          <a:prstGeom prst="rect">
            <a:avLst/>
          </a:prstGeom>
          <a:noFill/>
          <a:ln/>
        </p:spPr>
        <p:txBody>
          <a:bodyPr wrap="square" lIns="0" tIns="0" rIns="0" bIns="0" rtlCol="0" anchor="t"/>
          <a:lstStyle/>
          <a:p>
            <a:pPr indent="0" marL="0">
              <a:lnSpc>
                <a:spcPct val="120000"/>
              </a:lnSpc>
              <a:buNone/>
            </a:pPr>
            <a:r>
              <a:rPr lang="en-US" sz="1400" dirty="0">
                <a:solidFill>
                  <a:srgbClr val="3F4A5C"/>
                </a:solidFill>
                <a:latin typeface="Arial" pitchFamily="34" charset="0"/>
                <a:ea typeface="Arial" pitchFamily="34" charset="-122"/>
                <a:cs typeface="Arial" pitchFamily="34" charset="-120"/>
              </a:rPr>
              <a:t>We tried GraphSAGE and RGCN, but neither beat XGBoost, so we compare XGBoost with a neural network (ANN).</a:t>
            </a:r>
            <a:endParaRPr lang="en-US" sz="1400" dirty="0"/>
          </a:p>
        </p:txBody>
      </p:sp>
      <p:sp>
        <p:nvSpPr>
          <p:cNvPr id="15" name="Text 12"/>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5E6778"/>
                </a:solidFill>
                <a:latin typeface="Arial" pitchFamily="34" charset="0"/>
                <a:ea typeface="Arial" pitchFamily="34" charset="-122"/>
                <a:cs typeface="Arial" pitchFamily="34" charset="-120"/>
              </a:rPr>
              <a:t>Fraud Ring Detection · Group 8</a:t>
            </a:r>
            <a:endParaRPr lang="en-US" sz="1100" dirty="0"/>
          </a:p>
        </p:txBody>
      </p:sp>
      <p:sp>
        <p:nvSpPr>
          <p:cNvPr id="16" name="Text 13"/>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2</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2 · DATA</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F5F3EE"/>
                </a:solidFill>
                <a:latin typeface="Arial" pitchFamily="34" charset="0"/>
                <a:ea typeface="Arial" pitchFamily="34" charset="-122"/>
                <a:cs typeface="Arial" pitchFamily="34" charset="-120"/>
              </a:rPr>
              <a:t>IEEE-CIS: real e-commerce transactions from Vesta</a:t>
            </a:r>
            <a:endParaRPr lang="en-US" sz="3200" dirty="0"/>
          </a:p>
        </p:txBody>
      </p:sp>
      <p:sp>
        <p:nvSpPr>
          <p:cNvPr id="4" name="dl0"/>
          <p:cNvSpPr/>
          <p:nvPr/>
        </p:nvSpPr>
        <p:spPr>
          <a:xfrm>
            <a:off x="612648" y="2148840"/>
            <a:ext cx="2514600" cy="0"/>
          </a:xfrm>
          <a:prstGeom prst="line">
            <a:avLst/>
          </a:prstGeom>
          <a:noFill/>
          <a:ln w="31750">
            <a:solidFill>
              <a:srgbClr val="E8743B"/>
            </a:solidFill>
            <a:prstDash val="solid"/>
          </a:ln>
        </p:spPr>
      </p:sp>
      <p:sp>
        <p:nvSpPr>
          <p:cNvPr id="5" name="dn0"/>
          <p:cNvSpPr txBox="1"/>
          <p:nvPr/>
        </p:nvSpPr>
        <p:spPr>
          <a:xfrm>
            <a:off x="612648" y="2331720"/>
            <a:ext cx="2651760" cy="777240"/>
          </a:xfrm>
          <a:prstGeom prst="rect">
            <a:avLst/>
          </a:prstGeom>
          <a:noFill/>
          <a:ln/>
        </p:spPr>
        <p:txBody>
          <a:bodyPr wrap="square" lIns="0" tIns="0" rIns="0" bIns="0" rtlCol="0" anchor="t"/>
          <a:lstStyle/>
          <a:p>
            <a:pPr indent="0" marL="0">
              <a:buNone/>
            </a:pPr>
            <a:r>
              <a:rPr lang="en-US" sz="4400" b="1" dirty="0">
                <a:solidFill>
                  <a:srgbClr val="F5F3EE"/>
                </a:solidFill>
                <a:latin typeface="Arial" pitchFamily="34" charset="0"/>
                <a:ea typeface="Arial" pitchFamily="34" charset="-122"/>
                <a:cs typeface="Arial" pitchFamily="34" charset="-120"/>
              </a:rPr>
              <a:t>590,540</a:t>
            </a:r>
            <a:endParaRPr lang="en-US" sz="4400" dirty="0"/>
          </a:p>
        </p:txBody>
      </p:sp>
      <p:sp>
        <p:nvSpPr>
          <p:cNvPr id="6" name="dt0"/>
          <p:cNvSpPr txBox="1"/>
          <p:nvPr/>
        </p:nvSpPr>
        <p:spPr>
          <a:xfrm>
            <a:off x="612648" y="3154680"/>
            <a:ext cx="2514600" cy="731520"/>
          </a:xfrm>
          <a:prstGeom prst="rect">
            <a:avLst/>
          </a:prstGeom>
          <a:noFill/>
          <a:ln/>
        </p:spPr>
        <p:txBody>
          <a:bodyPr wrap="square" lIns="0" tIns="0" rIns="0" bIns="0" rtlCol="0" anchor="t"/>
          <a:lstStyle/>
          <a:p>
            <a:pPr indent="0" marL="0">
              <a:buNone/>
            </a:pPr>
            <a:r>
              <a:rPr lang="en-US" sz="1500" dirty="0">
                <a:solidFill>
                  <a:srgbClr val="C3CCDA"/>
                </a:solidFill>
                <a:latin typeface="Arial" pitchFamily="34" charset="0"/>
                <a:ea typeface="Arial" pitchFamily="34" charset="-122"/>
                <a:cs typeface="Arial" pitchFamily="34" charset="-120"/>
              </a:rPr>
              <a:t>labelled transactions</a:t>
            </a:r>
            <a:endParaRPr lang="en-US" sz="1500" dirty="0"/>
          </a:p>
        </p:txBody>
      </p:sp>
      <p:sp>
        <p:nvSpPr>
          <p:cNvPr id="7" name="dl1"/>
          <p:cNvSpPr/>
          <p:nvPr/>
        </p:nvSpPr>
        <p:spPr>
          <a:xfrm>
            <a:off x="3401568" y="2148840"/>
            <a:ext cx="2514600" cy="0"/>
          </a:xfrm>
          <a:prstGeom prst="line">
            <a:avLst/>
          </a:prstGeom>
          <a:noFill/>
          <a:ln w="31750">
            <a:solidFill>
              <a:srgbClr val="E8743B"/>
            </a:solidFill>
            <a:prstDash val="solid"/>
          </a:ln>
        </p:spPr>
      </p:sp>
      <p:sp>
        <p:nvSpPr>
          <p:cNvPr id="8" name="dn1"/>
          <p:cNvSpPr txBox="1"/>
          <p:nvPr/>
        </p:nvSpPr>
        <p:spPr>
          <a:xfrm>
            <a:off x="3401568" y="2331720"/>
            <a:ext cx="2651760" cy="777240"/>
          </a:xfrm>
          <a:prstGeom prst="rect">
            <a:avLst/>
          </a:prstGeom>
          <a:noFill/>
          <a:ln/>
        </p:spPr>
        <p:txBody>
          <a:bodyPr wrap="square" lIns="0" tIns="0" rIns="0" bIns="0" rtlCol="0" anchor="t"/>
          <a:lstStyle/>
          <a:p>
            <a:pPr indent="0" marL="0">
              <a:buNone/>
            </a:pPr>
            <a:r>
              <a:rPr lang="en-US" sz="4400" b="1" dirty="0">
                <a:solidFill>
                  <a:srgbClr val="F5F3EE"/>
                </a:solidFill>
                <a:latin typeface="Arial" pitchFamily="34" charset="0"/>
                <a:ea typeface="Arial" pitchFamily="34" charset="-122"/>
                <a:cs typeface="Arial" pitchFamily="34" charset="-120"/>
              </a:rPr>
              <a:t>434</a:t>
            </a:r>
            <a:endParaRPr lang="en-US" sz="4400" dirty="0"/>
          </a:p>
        </p:txBody>
      </p:sp>
      <p:sp>
        <p:nvSpPr>
          <p:cNvPr id="9" name="dt1"/>
          <p:cNvSpPr txBox="1"/>
          <p:nvPr/>
        </p:nvSpPr>
        <p:spPr>
          <a:xfrm>
            <a:off x="3401568" y="3154680"/>
            <a:ext cx="2514600" cy="731520"/>
          </a:xfrm>
          <a:prstGeom prst="rect">
            <a:avLst/>
          </a:prstGeom>
          <a:noFill/>
          <a:ln/>
        </p:spPr>
        <p:txBody>
          <a:bodyPr wrap="square" lIns="0" tIns="0" rIns="0" bIns="0" rtlCol="0" anchor="t"/>
          <a:lstStyle/>
          <a:p>
            <a:pPr indent="0" marL="0">
              <a:buNone/>
            </a:pPr>
            <a:r>
              <a:rPr lang="en-US" sz="1500" dirty="0">
                <a:solidFill>
                  <a:srgbClr val="C3CCDA"/>
                </a:solidFill>
                <a:latin typeface="Arial" pitchFamily="34" charset="0"/>
                <a:ea typeface="Arial" pitchFamily="34" charset="-122"/>
                <a:cs typeface="Arial" pitchFamily="34" charset="-120"/>
              </a:rPr>
              <a:t>columns after merging two tables</a:t>
            </a:r>
            <a:endParaRPr lang="en-US" sz="1500" dirty="0"/>
          </a:p>
        </p:txBody>
      </p:sp>
      <p:sp>
        <p:nvSpPr>
          <p:cNvPr id="10" name="dl2"/>
          <p:cNvSpPr/>
          <p:nvPr/>
        </p:nvSpPr>
        <p:spPr>
          <a:xfrm>
            <a:off x="6190488" y="2148840"/>
            <a:ext cx="2514600" cy="0"/>
          </a:xfrm>
          <a:prstGeom prst="line">
            <a:avLst/>
          </a:prstGeom>
          <a:noFill/>
          <a:ln w="31750">
            <a:solidFill>
              <a:srgbClr val="E8743B"/>
            </a:solidFill>
            <a:prstDash val="solid"/>
          </a:ln>
        </p:spPr>
      </p:sp>
      <p:sp>
        <p:nvSpPr>
          <p:cNvPr id="11" name="dn2"/>
          <p:cNvSpPr txBox="1"/>
          <p:nvPr/>
        </p:nvSpPr>
        <p:spPr>
          <a:xfrm>
            <a:off x="6190488" y="2331720"/>
            <a:ext cx="2651760" cy="777240"/>
          </a:xfrm>
          <a:prstGeom prst="rect">
            <a:avLst/>
          </a:prstGeom>
          <a:noFill/>
          <a:ln/>
        </p:spPr>
        <p:txBody>
          <a:bodyPr wrap="square" lIns="0" tIns="0" rIns="0" bIns="0" rtlCol="0" anchor="t"/>
          <a:lstStyle/>
          <a:p>
            <a:pPr indent="0" marL="0">
              <a:buNone/>
            </a:pPr>
            <a:r>
              <a:rPr lang="en-US" sz="4400" b="1" dirty="0">
                <a:solidFill>
                  <a:srgbClr val="E8743B"/>
                </a:solidFill>
                <a:latin typeface="Arial" pitchFamily="34" charset="0"/>
                <a:ea typeface="Arial" pitchFamily="34" charset="-122"/>
                <a:cs typeface="Arial" pitchFamily="34" charset="-120"/>
              </a:rPr>
              <a:t>3.5%</a:t>
            </a:r>
            <a:endParaRPr lang="en-US" sz="4400" dirty="0"/>
          </a:p>
        </p:txBody>
      </p:sp>
      <p:sp>
        <p:nvSpPr>
          <p:cNvPr id="12" name="dt2"/>
          <p:cNvSpPr txBox="1"/>
          <p:nvPr/>
        </p:nvSpPr>
        <p:spPr>
          <a:xfrm>
            <a:off x="6190488" y="3154680"/>
            <a:ext cx="2514600" cy="731520"/>
          </a:xfrm>
          <a:prstGeom prst="rect">
            <a:avLst/>
          </a:prstGeom>
          <a:noFill/>
          <a:ln/>
        </p:spPr>
        <p:txBody>
          <a:bodyPr wrap="square" lIns="0" tIns="0" rIns="0" bIns="0" rtlCol="0" anchor="t"/>
          <a:lstStyle/>
          <a:p>
            <a:pPr indent="0" marL="0">
              <a:buNone/>
            </a:pPr>
            <a:r>
              <a:rPr lang="en-US" sz="1500" dirty="0">
                <a:solidFill>
                  <a:srgbClr val="C3CCDA"/>
                </a:solidFill>
                <a:latin typeface="Arial" pitchFamily="34" charset="0"/>
                <a:ea typeface="Arial" pitchFamily="34" charset="-122"/>
                <a:cs typeface="Arial" pitchFamily="34" charset="-120"/>
              </a:rPr>
              <a:t>are fraud (20,663 cases)</a:t>
            </a:r>
            <a:endParaRPr lang="en-US" sz="1500" dirty="0"/>
          </a:p>
        </p:txBody>
      </p:sp>
      <p:sp>
        <p:nvSpPr>
          <p:cNvPr id="13" name="dl3"/>
          <p:cNvSpPr/>
          <p:nvPr/>
        </p:nvSpPr>
        <p:spPr>
          <a:xfrm>
            <a:off x="8979408" y="2148840"/>
            <a:ext cx="2514600" cy="0"/>
          </a:xfrm>
          <a:prstGeom prst="line">
            <a:avLst/>
          </a:prstGeom>
          <a:noFill/>
          <a:ln w="31750">
            <a:solidFill>
              <a:srgbClr val="E8743B"/>
            </a:solidFill>
            <a:prstDash val="solid"/>
          </a:ln>
        </p:spPr>
      </p:sp>
      <p:sp>
        <p:nvSpPr>
          <p:cNvPr id="14" name="dn3"/>
          <p:cNvSpPr txBox="1"/>
          <p:nvPr/>
        </p:nvSpPr>
        <p:spPr>
          <a:xfrm>
            <a:off x="8979408" y="2331720"/>
            <a:ext cx="2651760" cy="777240"/>
          </a:xfrm>
          <a:prstGeom prst="rect">
            <a:avLst/>
          </a:prstGeom>
          <a:noFill/>
          <a:ln/>
        </p:spPr>
        <p:txBody>
          <a:bodyPr wrap="square" lIns="0" tIns="0" rIns="0" bIns="0" rtlCol="0" anchor="t"/>
          <a:lstStyle/>
          <a:p>
            <a:pPr indent="0" marL="0">
              <a:buNone/>
            </a:pPr>
            <a:r>
              <a:rPr lang="en-US" sz="4400" b="1" dirty="0">
                <a:solidFill>
                  <a:srgbClr val="F5F3EE"/>
                </a:solidFill>
                <a:latin typeface="Arial" pitchFamily="34" charset="0"/>
                <a:ea typeface="Arial" pitchFamily="34" charset="-122"/>
                <a:cs typeface="Arial" pitchFamily="34" charset="-120"/>
              </a:rPr>
              <a:t>76%</a:t>
            </a:r>
            <a:endParaRPr lang="en-US" sz="4400" dirty="0"/>
          </a:p>
        </p:txBody>
      </p:sp>
      <p:sp>
        <p:nvSpPr>
          <p:cNvPr id="15" name="dt3"/>
          <p:cNvSpPr txBox="1"/>
          <p:nvPr/>
        </p:nvSpPr>
        <p:spPr>
          <a:xfrm>
            <a:off x="8979408" y="3154680"/>
            <a:ext cx="2514600" cy="731520"/>
          </a:xfrm>
          <a:prstGeom prst="rect">
            <a:avLst/>
          </a:prstGeom>
          <a:noFill/>
          <a:ln/>
        </p:spPr>
        <p:txBody>
          <a:bodyPr wrap="square" lIns="0" tIns="0" rIns="0" bIns="0" rtlCol="0" anchor="t"/>
          <a:lstStyle/>
          <a:p>
            <a:pPr indent="0" marL="0">
              <a:buNone/>
            </a:pPr>
            <a:r>
              <a:rPr lang="en-US" sz="1500" dirty="0">
                <a:solidFill>
                  <a:srgbClr val="C3CCDA"/>
                </a:solidFill>
                <a:latin typeface="Arial" pitchFamily="34" charset="0"/>
                <a:ea typeface="Arial" pitchFamily="34" charset="-122"/>
                <a:cs typeface="Arial" pitchFamily="34" charset="-120"/>
              </a:rPr>
              <a:t>have no identity record</a:t>
            </a:r>
            <a:endParaRPr lang="en-US" sz="1500" dirty="0"/>
          </a:p>
        </p:txBody>
      </p:sp>
      <p:sp>
        <p:nvSpPr>
          <p:cNvPr id="16" name="Text 14"/>
          <p:cNvSpPr txBox="1"/>
          <p:nvPr/>
        </p:nvSpPr>
        <p:spPr>
          <a:xfrm>
            <a:off x="612648" y="4343400"/>
            <a:ext cx="9601200" cy="1188720"/>
          </a:xfrm>
          <a:prstGeom prst="rect">
            <a:avLst/>
          </a:prstGeom>
          <a:noFill/>
          <a:ln/>
        </p:spPr>
        <p:txBody>
          <a:bodyPr wrap="square" lIns="0" tIns="0" rIns="0" bIns="0" rtlCol="0" anchor="t"/>
          <a:lstStyle/>
          <a:p>
            <a:pPr indent="0" marL="0">
              <a:lnSpc>
                <a:spcPct val="125000"/>
              </a:lnSpc>
              <a:buNone/>
            </a:pPr>
            <a:r>
              <a:rPr lang="en-US" sz="1600" dirty="0">
                <a:solidFill>
                  <a:srgbClr val="C3CCDA"/>
                </a:solidFill>
                <a:latin typeface="Arial" pitchFamily="34" charset="0"/>
                <a:ea typeface="Arial" pitchFamily="34" charset="-122"/>
                <a:cs typeface="Arial" pitchFamily="34" charset="-120"/>
              </a:rPr>
              <a:t>Transaction table (394 columns: amount, product, card, address, email, anonymised C, D, M, V features) joined to the identity table (41 columns: device details) on </a:t>
            </a:r>
            <a:pPr indent="0" marL="0">
              <a:lnSpc>
                <a:spcPct val="125000"/>
              </a:lnSpc>
              <a:buNone/>
            </a:pPr>
            <a:r>
              <a:rPr lang="en-US" sz="1600" b="1" dirty="0">
                <a:solidFill>
                  <a:srgbClr val="F5F3EE"/>
                </a:solidFill>
                <a:latin typeface="Arial" pitchFamily="34" charset="0"/>
                <a:ea typeface="Arial" pitchFamily="34" charset="-122"/>
                <a:cs typeface="Arial" pitchFamily="34" charset="-120"/>
              </a:rPr>
              <a:t>TransactionID</a:t>
            </a:r>
            <a:pPr indent="0" marL="0">
              <a:lnSpc>
                <a:spcPct val="125000"/>
              </a:lnSpc>
              <a:buNone/>
            </a:pPr>
            <a:r>
              <a:rPr lang="en-US" sz="1600" dirty="0">
                <a:solidFill>
                  <a:srgbClr val="C3CCDA"/>
                </a:solidFill>
                <a:latin typeface="Arial" pitchFamily="34" charset="0"/>
                <a:ea typeface="Arial" pitchFamily="34" charset="-122"/>
                <a:cs typeface="Arial" pitchFamily="34" charset="-120"/>
              </a:rPr>
              <a:t>, with a left join so no transaction is lost.</a:t>
            </a:r>
            <a:endParaRPr lang="en-US" sz="1600" dirty="0"/>
          </a:p>
        </p:txBody>
      </p:sp>
      <p:sp>
        <p:nvSpPr>
          <p:cNvPr id="17" name="Text 15"/>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8C97AB"/>
                </a:solidFill>
                <a:latin typeface="Arial" pitchFamily="34" charset="0"/>
                <a:ea typeface="Arial" pitchFamily="34" charset="-122"/>
                <a:cs typeface="Arial" pitchFamily="34" charset="-120"/>
              </a:rPr>
              <a:t>Fraud Ring Detection · Group 8</a:t>
            </a:r>
            <a:endParaRPr lang="en-US" sz="1100" dirty="0"/>
          </a:p>
        </p:txBody>
      </p:sp>
      <p:sp>
        <p:nvSpPr>
          <p:cNvPr id="18" name="Text 16"/>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8C97AB"/>
                </a:solidFill>
                <a:latin typeface="Arial" pitchFamily="34" charset="0"/>
                <a:ea typeface="Arial" pitchFamily="34" charset="-122"/>
                <a:cs typeface="Arial" pitchFamily="34" charset="-120"/>
              </a:rPr>
              <a:t>3</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B04A16"/>
                </a:solidFill>
                <a:latin typeface="Arial" pitchFamily="34" charset="0"/>
                <a:ea typeface="Arial" pitchFamily="34" charset="-122"/>
                <a:cs typeface="Arial" pitchFamily="34" charset="-120"/>
              </a:rPr>
              <a:t>3 · ANALYSIS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111A2E"/>
                </a:solidFill>
                <a:latin typeface="Arial" pitchFamily="34" charset="0"/>
                <a:ea typeface="Arial" pitchFamily="34" charset="-122"/>
                <a:cs typeface="Arial" pitchFamily="34" charset="-120"/>
              </a:rPr>
              <a:t>Fraud rates vary 5× by product and device</a:t>
            </a:r>
            <a:endParaRPr lang="en-US" sz="3200" dirty="0"/>
          </a:p>
        </p:txBody>
      </p:sp>
      <p:graphicFrame>
        <p:nvGraphicFramePr>
          <p:cNvPr id="4" name="edaChart" descr=""/>
          <p:cNvGraphicFramePr/>
          <p:nvPr/>
        </p:nvGraphicFramePr>
        <p:xfrm>
          <a:off x="612648" y="1600200"/>
          <a:ext cx="1097280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12648" y="5669280"/>
            <a:ext cx="10972800" cy="457200"/>
          </a:xfrm>
          <a:prstGeom prst="rect">
            <a:avLst/>
          </a:prstGeom>
          <a:noFill/>
          <a:ln/>
        </p:spPr>
        <p:txBody>
          <a:bodyPr wrap="square" lIns="0" tIns="0" rIns="0" bIns="0" rtlCol="0" anchor="t"/>
          <a:lstStyle/>
          <a:p>
            <a:pPr indent="0" marL="0">
              <a:buNone/>
            </a:pPr>
            <a:r>
              <a:rPr lang="en-US" sz="1400" dirty="0">
                <a:solidFill>
                  <a:srgbClr val="3F4A5C"/>
                </a:solidFill>
                <a:latin typeface="Arial" pitchFamily="34" charset="0"/>
                <a:ea typeface="Arial" pitchFamily="34" charset="-122"/>
                <a:cs typeface="Arial" pitchFamily="34" charset="-120"/>
              </a:rPr>
              <a:t>Always predicting "not fraud" would score 96.5% accuracy, so we rank models by </a:t>
            </a:r>
            <a:pPr indent="0" marL="0">
              <a:buNone/>
            </a:pPr>
            <a:r>
              <a:rPr lang="en-US" sz="1400" b="1" dirty="0">
                <a:solidFill>
                  <a:srgbClr val="3F4A5C"/>
                </a:solidFill>
                <a:latin typeface="Arial" pitchFamily="34" charset="0"/>
                <a:ea typeface="Arial" pitchFamily="34" charset="-122"/>
                <a:cs typeface="Arial" pitchFamily="34" charset="-120"/>
              </a:rPr>
              <a:t>Average Precision</a:t>
            </a:r>
            <a:pPr indent="0" marL="0">
              <a:buNone/>
            </a:pPr>
            <a:r>
              <a:rPr lang="en-US" sz="1400" dirty="0">
                <a:solidFill>
                  <a:srgbClr val="3F4A5C"/>
                </a:solidFill>
                <a:latin typeface="Arial" pitchFamily="34" charset="0"/>
                <a:ea typeface="Arial" pitchFamily="34" charset="-122"/>
                <a:cs typeface="Arial" pitchFamily="34" charset="-120"/>
              </a:rPr>
              <a:t>, not accuracy.</a:t>
            </a:r>
            <a:endParaRPr lang="en-US" sz="1400" dirty="0"/>
          </a:p>
        </p:txBody>
      </p:sp>
      <p:sp>
        <p:nvSpPr>
          <p:cNvPr id="6" name="Text 3"/>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5E6778"/>
                </a:solidFill>
                <a:latin typeface="Arial" pitchFamily="34" charset="0"/>
                <a:ea typeface="Arial" pitchFamily="34" charset="-122"/>
                <a:cs typeface="Arial" pitchFamily="34" charset="-120"/>
              </a:rPr>
              <a:t>Fraud rate per group · 590,540 transactions</a:t>
            </a:r>
            <a:endParaRPr lang="en-US" sz="1100" dirty="0"/>
          </a:p>
        </p:txBody>
      </p:sp>
      <p:sp>
        <p:nvSpPr>
          <p:cNvPr id="7" name="Text 4"/>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4</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4 · APPROACH</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F5F3EE"/>
                </a:solidFill>
                <a:latin typeface="Arial" pitchFamily="34" charset="0"/>
                <a:ea typeface="Arial" pitchFamily="34" charset="-122"/>
                <a:cs typeface="Arial" pitchFamily="34" charset="-120"/>
              </a:rPr>
              <a:t>A pipeline built to avoid leakage</a:t>
            </a:r>
            <a:endParaRPr lang="en-US" sz="3200" dirty="0"/>
          </a:p>
        </p:txBody>
      </p:sp>
      <p:sp>
        <p:nvSpPr>
          <p:cNvPr id="4" name="ac0"/>
          <p:cNvSpPr/>
          <p:nvPr/>
        </p:nvSpPr>
        <p:spPr>
          <a:xfrm>
            <a:off x="612648" y="1783080"/>
            <a:ext cx="2286000" cy="1783080"/>
          </a:xfrm>
          <a:prstGeom prst="roundRect">
            <a:avLst>
              <a:gd name="adj" fmla="val 6154"/>
            </a:avLst>
          </a:prstGeom>
          <a:solidFill>
            <a:srgbClr val="1B2640"/>
          </a:solidFill>
          <a:ln w="12700">
            <a:solidFill>
              <a:srgbClr val="2C3A5A"/>
            </a:solidFill>
            <a:prstDash val="solid"/>
          </a:ln>
        </p:spPr>
      </p:sp>
      <p:sp>
        <p:nvSpPr>
          <p:cNvPr id="5" name="an0"/>
          <p:cNvSpPr txBox="1"/>
          <p:nvPr/>
        </p:nvSpPr>
        <p:spPr>
          <a:xfrm>
            <a:off x="813816" y="1965960"/>
            <a:ext cx="1883664" cy="274320"/>
          </a:xfrm>
          <a:prstGeom prst="rect">
            <a:avLst/>
          </a:prstGeom>
          <a:noFill/>
          <a:ln/>
        </p:spPr>
        <p:txBody>
          <a:bodyPr wrap="square" lIns="0" tIns="0" rIns="0" bIns="0" rtlCol="0" anchor="t"/>
          <a:lstStyle/>
          <a:p>
            <a:pPr indent="0" marL="0">
              <a:buNone/>
            </a:pPr>
            <a:r>
              <a:rPr lang="en-US" sz="1200" b="1" dirty="0">
                <a:solidFill>
                  <a:srgbClr val="E8743B"/>
                </a:solidFill>
                <a:latin typeface="Arial" pitchFamily="34" charset="0"/>
                <a:ea typeface="Arial" pitchFamily="34" charset="-122"/>
                <a:cs typeface="Arial" pitchFamily="34" charset="-120"/>
              </a:rPr>
              <a:t>Step 1</a:t>
            </a:r>
            <a:endParaRPr lang="en-US" sz="1200" dirty="0"/>
          </a:p>
        </p:txBody>
      </p:sp>
      <p:sp>
        <p:nvSpPr>
          <p:cNvPr id="6" name="ah0"/>
          <p:cNvSpPr txBox="1"/>
          <p:nvPr/>
        </p:nvSpPr>
        <p:spPr>
          <a:xfrm>
            <a:off x="813816" y="2258568"/>
            <a:ext cx="1883664" cy="548640"/>
          </a:xfrm>
          <a:prstGeom prst="rect">
            <a:avLst/>
          </a:prstGeom>
          <a:noFill/>
          <a:ln/>
        </p:spPr>
        <p:txBody>
          <a:bodyPr wrap="square" lIns="0" tIns="0" rIns="0" bIns="0" rtlCol="0" anchor="t"/>
          <a:lstStyle/>
          <a:p>
            <a:pPr indent="0" marL="0">
              <a:buNone/>
            </a:pPr>
            <a:r>
              <a:rPr lang="en-US" sz="1600" b="1" dirty="0">
                <a:solidFill>
                  <a:srgbClr val="F5F3EE"/>
                </a:solidFill>
                <a:latin typeface="Arial" pitchFamily="34" charset="0"/>
                <a:ea typeface="Arial" pitchFamily="34" charset="-122"/>
                <a:cs typeface="Arial" pitchFamily="34" charset="-120"/>
              </a:rPr>
              <a:t>Time-based split</a:t>
            </a:r>
            <a:endParaRPr lang="en-US" sz="1600" dirty="0"/>
          </a:p>
        </p:txBody>
      </p:sp>
      <p:sp>
        <p:nvSpPr>
          <p:cNvPr id="7" name="ab0"/>
          <p:cNvSpPr txBox="1"/>
          <p:nvPr/>
        </p:nvSpPr>
        <p:spPr>
          <a:xfrm>
            <a:off x="813816" y="2807208"/>
            <a:ext cx="1883664" cy="640080"/>
          </a:xfrm>
          <a:prstGeom prst="rect">
            <a:avLst/>
          </a:prstGeom>
          <a:noFill/>
          <a:ln/>
        </p:spPr>
        <p:txBody>
          <a:bodyPr wrap="square" lIns="0" tIns="0" rIns="0" bIns="0" rtlCol="0" anchor="t"/>
          <a:lstStyle/>
          <a:p>
            <a:pPr indent="0" marL="0">
              <a:buNone/>
            </a:pPr>
            <a:r>
              <a:rPr lang="en-US" sz="1200" dirty="0">
                <a:solidFill>
                  <a:srgbClr val="C3CCDA"/>
                </a:solidFill>
                <a:latin typeface="Arial" pitchFamily="34" charset="0"/>
                <a:ea typeface="Arial" pitchFamily="34" charset="-122"/>
                <a:cs typeface="Arial" pitchFamily="34" charset="-120"/>
              </a:rPr>
              <a:t>Oldest 80% train, newest 20% validate</a:t>
            </a:r>
            <a:endParaRPr lang="en-US" sz="1200" dirty="0"/>
          </a:p>
        </p:txBody>
      </p:sp>
      <p:sp>
        <p:nvSpPr>
          <p:cNvPr id="8" name="aa0"/>
          <p:cNvSpPr/>
          <p:nvPr/>
        </p:nvSpPr>
        <p:spPr>
          <a:xfrm>
            <a:off x="2990088" y="2560320"/>
            <a:ext cx="274320" cy="228600"/>
          </a:xfrm>
          <a:prstGeom prst="rightArrow">
            <a:avLst/>
          </a:prstGeom>
          <a:solidFill>
            <a:srgbClr val="8C97AB"/>
          </a:solidFill>
          <a:ln w="12700">
            <a:solidFill>
              <a:srgbClr val="8C97AB"/>
            </a:solidFill>
            <a:prstDash val="solid"/>
          </a:ln>
        </p:spPr>
      </p:sp>
      <p:sp>
        <p:nvSpPr>
          <p:cNvPr id="9" name="ac1"/>
          <p:cNvSpPr/>
          <p:nvPr/>
        </p:nvSpPr>
        <p:spPr>
          <a:xfrm>
            <a:off x="3355848" y="1783080"/>
            <a:ext cx="2286000" cy="1783080"/>
          </a:xfrm>
          <a:prstGeom prst="roundRect">
            <a:avLst>
              <a:gd name="adj" fmla="val 6154"/>
            </a:avLst>
          </a:prstGeom>
          <a:solidFill>
            <a:srgbClr val="1B2640"/>
          </a:solidFill>
          <a:ln w="12700">
            <a:solidFill>
              <a:srgbClr val="2C3A5A"/>
            </a:solidFill>
            <a:prstDash val="solid"/>
          </a:ln>
        </p:spPr>
      </p:sp>
      <p:sp>
        <p:nvSpPr>
          <p:cNvPr id="10" name="an1"/>
          <p:cNvSpPr txBox="1"/>
          <p:nvPr/>
        </p:nvSpPr>
        <p:spPr>
          <a:xfrm>
            <a:off x="3557016" y="1965960"/>
            <a:ext cx="1883664" cy="274320"/>
          </a:xfrm>
          <a:prstGeom prst="rect">
            <a:avLst/>
          </a:prstGeom>
          <a:noFill/>
          <a:ln/>
        </p:spPr>
        <p:txBody>
          <a:bodyPr wrap="square" lIns="0" tIns="0" rIns="0" bIns="0" rtlCol="0" anchor="t"/>
          <a:lstStyle/>
          <a:p>
            <a:pPr indent="0" marL="0">
              <a:buNone/>
            </a:pPr>
            <a:r>
              <a:rPr lang="en-US" sz="1200" b="1" dirty="0">
                <a:solidFill>
                  <a:srgbClr val="E8743B"/>
                </a:solidFill>
                <a:latin typeface="Arial" pitchFamily="34" charset="0"/>
                <a:ea typeface="Arial" pitchFamily="34" charset="-122"/>
                <a:cs typeface="Arial" pitchFamily="34" charset="-120"/>
              </a:rPr>
              <a:t>Step 2</a:t>
            </a:r>
            <a:endParaRPr lang="en-US" sz="1200" dirty="0"/>
          </a:p>
        </p:txBody>
      </p:sp>
      <p:sp>
        <p:nvSpPr>
          <p:cNvPr id="11" name="ah1"/>
          <p:cNvSpPr txBox="1"/>
          <p:nvPr/>
        </p:nvSpPr>
        <p:spPr>
          <a:xfrm>
            <a:off x="3557016" y="2258568"/>
            <a:ext cx="1883664" cy="548640"/>
          </a:xfrm>
          <a:prstGeom prst="rect">
            <a:avLst/>
          </a:prstGeom>
          <a:noFill/>
          <a:ln/>
        </p:spPr>
        <p:txBody>
          <a:bodyPr wrap="square" lIns="0" tIns="0" rIns="0" bIns="0" rtlCol="0" anchor="t"/>
          <a:lstStyle/>
          <a:p>
            <a:pPr indent="0" marL="0">
              <a:buNone/>
            </a:pPr>
            <a:r>
              <a:rPr lang="en-US" sz="1600" b="1" dirty="0">
                <a:solidFill>
                  <a:srgbClr val="F5F3EE"/>
                </a:solidFill>
                <a:latin typeface="Arial" pitchFamily="34" charset="0"/>
                <a:ea typeface="Arial" pitchFamily="34" charset="-122"/>
                <a:cs typeface="Arial" pitchFamily="34" charset="-120"/>
              </a:rPr>
              <a:t>Preprocessing</a:t>
            </a:r>
            <a:endParaRPr lang="en-US" sz="1600" dirty="0"/>
          </a:p>
        </p:txBody>
      </p:sp>
      <p:sp>
        <p:nvSpPr>
          <p:cNvPr id="12" name="ab1"/>
          <p:cNvSpPr txBox="1"/>
          <p:nvPr/>
        </p:nvSpPr>
        <p:spPr>
          <a:xfrm>
            <a:off x="3557016" y="2807208"/>
            <a:ext cx="1883664" cy="640080"/>
          </a:xfrm>
          <a:prstGeom prst="rect">
            <a:avLst/>
          </a:prstGeom>
          <a:noFill/>
          <a:ln/>
        </p:spPr>
        <p:txBody>
          <a:bodyPr wrap="square" lIns="0" tIns="0" rIns="0" bIns="0" rtlCol="0" anchor="t"/>
          <a:lstStyle/>
          <a:p>
            <a:pPr indent="0" marL="0">
              <a:buNone/>
            </a:pPr>
            <a:r>
              <a:rPr lang="en-US" sz="1200" dirty="0">
                <a:solidFill>
                  <a:srgbClr val="C3CCDA"/>
                </a:solidFill>
                <a:latin typeface="Arial" pitchFamily="34" charset="0"/>
                <a:ea typeface="Arial" pitchFamily="34" charset="-122"/>
                <a:cs typeface="Arial" pitchFamily="34" charset="-120"/>
              </a:rPr>
              <a:t>Learned from training data only</a:t>
            </a:r>
            <a:endParaRPr lang="en-US" sz="1200" dirty="0"/>
          </a:p>
        </p:txBody>
      </p:sp>
      <p:sp>
        <p:nvSpPr>
          <p:cNvPr id="13" name="aa1"/>
          <p:cNvSpPr/>
          <p:nvPr/>
        </p:nvSpPr>
        <p:spPr>
          <a:xfrm>
            <a:off x="5733288" y="2560320"/>
            <a:ext cx="274320" cy="228600"/>
          </a:xfrm>
          <a:prstGeom prst="rightArrow">
            <a:avLst/>
          </a:prstGeom>
          <a:solidFill>
            <a:srgbClr val="8C97AB"/>
          </a:solidFill>
          <a:ln w="12700">
            <a:solidFill>
              <a:srgbClr val="8C97AB"/>
            </a:solidFill>
            <a:prstDash val="solid"/>
          </a:ln>
        </p:spPr>
      </p:sp>
      <p:sp>
        <p:nvSpPr>
          <p:cNvPr id="14" name="ac2"/>
          <p:cNvSpPr/>
          <p:nvPr/>
        </p:nvSpPr>
        <p:spPr>
          <a:xfrm>
            <a:off x="6099048" y="1783080"/>
            <a:ext cx="2286000" cy="1783080"/>
          </a:xfrm>
          <a:prstGeom prst="roundRect">
            <a:avLst>
              <a:gd name="adj" fmla="val 6154"/>
            </a:avLst>
          </a:prstGeom>
          <a:solidFill>
            <a:srgbClr val="1B2640"/>
          </a:solidFill>
          <a:ln w="12700">
            <a:solidFill>
              <a:srgbClr val="2C3A5A"/>
            </a:solidFill>
            <a:prstDash val="solid"/>
          </a:ln>
        </p:spPr>
      </p:sp>
      <p:sp>
        <p:nvSpPr>
          <p:cNvPr id="15" name="an2"/>
          <p:cNvSpPr txBox="1"/>
          <p:nvPr/>
        </p:nvSpPr>
        <p:spPr>
          <a:xfrm>
            <a:off x="6300216" y="1965960"/>
            <a:ext cx="1883664" cy="274320"/>
          </a:xfrm>
          <a:prstGeom prst="rect">
            <a:avLst/>
          </a:prstGeom>
          <a:noFill/>
          <a:ln/>
        </p:spPr>
        <p:txBody>
          <a:bodyPr wrap="square" lIns="0" tIns="0" rIns="0" bIns="0" rtlCol="0" anchor="t"/>
          <a:lstStyle/>
          <a:p>
            <a:pPr indent="0" marL="0">
              <a:buNone/>
            </a:pPr>
            <a:r>
              <a:rPr lang="en-US" sz="1200" b="1" dirty="0">
                <a:solidFill>
                  <a:srgbClr val="E8743B"/>
                </a:solidFill>
                <a:latin typeface="Arial" pitchFamily="34" charset="0"/>
                <a:ea typeface="Arial" pitchFamily="34" charset="-122"/>
                <a:cs typeface="Arial" pitchFamily="34" charset="-120"/>
              </a:rPr>
              <a:t>Step 3</a:t>
            </a:r>
            <a:endParaRPr lang="en-US" sz="1200" dirty="0"/>
          </a:p>
        </p:txBody>
      </p:sp>
      <p:sp>
        <p:nvSpPr>
          <p:cNvPr id="16" name="ah2"/>
          <p:cNvSpPr txBox="1"/>
          <p:nvPr/>
        </p:nvSpPr>
        <p:spPr>
          <a:xfrm>
            <a:off x="6300216" y="2258568"/>
            <a:ext cx="1883664" cy="548640"/>
          </a:xfrm>
          <a:prstGeom prst="rect">
            <a:avLst/>
          </a:prstGeom>
          <a:noFill/>
          <a:ln/>
        </p:spPr>
        <p:txBody>
          <a:bodyPr wrap="square" lIns="0" tIns="0" rIns="0" bIns="0" rtlCol="0" anchor="t"/>
          <a:lstStyle/>
          <a:p>
            <a:pPr indent="0" marL="0">
              <a:buNone/>
            </a:pPr>
            <a:r>
              <a:rPr lang="en-US" sz="1600" b="1" dirty="0">
                <a:solidFill>
                  <a:srgbClr val="F5F3EE"/>
                </a:solidFill>
                <a:latin typeface="Arial" pitchFamily="34" charset="0"/>
                <a:ea typeface="Arial" pitchFamily="34" charset="-122"/>
                <a:cs typeface="Arial" pitchFamily="34" charset="-120"/>
              </a:rPr>
              <a:t>Baseline XGBoost</a:t>
            </a:r>
            <a:endParaRPr lang="en-US" sz="1600" dirty="0"/>
          </a:p>
        </p:txBody>
      </p:sp>
      <p:sp>
        <p:nvSpPr>
          <p:cNvPr id="17" name="ab2"/>
          <p:cNvSpPr txBox="1"/>
          <p:nvPr/>
        </p:nvSpPr>
        <p:spPr>
          <a:xfrm>
            <a:off x="6300216" y="2807208"/>
            <a:ext cx="1883664" cy="640080"/>
          </a:xfrm>
          <a:prstGeom prst="rect">
            <a:avLst/>
          </a:prstGeom>
          <a:noFill/>
          <a:ln/>
        </p:spPr>
        <p:txBody>
          <a:bodyPr wrap="square" lIns="0" tIns="0" rIns="0" bIns="0" rtlCol="0" anchor="t"/>
          <a:lstStyle/>
          <a:p>
            <a:pPr indent="0" marL="0">
              <a:buNone/>
            </a:pPr>
            <a:r>
              <a:rPr lang="en-US" sz="1200" dirty="0">
                <a:solidFill>
                  <a:srgbClr val="C3CCDA"/>
                </a:solidFill>
                <a:latin typeface="Arial" pitchFamily="34" charset="0"/>
                <a:ea typeface="Arial" pitchFamily="34" charset="-122"/>
                <a:cs typeface="Arial" pitchFamily="34" charset="-120"/>
              </a:rPr>
              <a:t>423 transaction features</a:t>
            </a:r>
            <a:endParaRPr lang="en-US" sz="1200" dirty="0"/>
          </a:p>
        </p:txBody>
      </p:sp>
      <p:sp>
        <p:nvSpPr>
          <p:cNvPr id="18" name="aa2"/>
          <p:cNvSpPr/>
          <p:nvPr/>
        </p:nvSpPr>
        <p:spPr>
          <a:xfrm>
            <a:off x="8476488" y="2560320"/>
            <a:ext cx="274320" cy="228600"/>
          </a:xfrm>
          <a:prstGeom prst="rightArrow">
            <a:avLst/>
          </a:prstGeom>
          <a:solidFill>
            <a:srgbClr val="8C97AB"/>
          </a:solidFill>
          <a:ln w="12700">
            <a:solidFill>
              <a:srgbClr val="8C97AB"/>
            </a:solidFill>
            <a:prstDash val="solid"/>
          </a:ln>
        </p:spPr>
      </p:sp>
      <p:sp>
        <p:nvSpPr>
          <p:cNvPr id="19" name="ac3"/>
          <p:cNvSpPr/>
          <p:nvPr/>
        </p:nvSpPr>
        <p:spPr>
          <a:xfrm>
            <a:off x="8842248" y="1783080"/>
            <a:ext cx="2286000" cy="1783080"/>
          </a:xfrm>
          <a:prstGeom prst="roundRect">
            <a:avLst>
              <a:gd name="adj" fmla="val 6154"/>
            </a:avLst>
          </a:prstGeom>
          <a:solidFill>
            <a:srgbClr val="1B2640"/>
          </a:solidFill>
          <a:ln w="12700">
            <a:solidFill>
              <a:srgbClr val="2C3A5A"/>
            </a:solidFill>
            <a:prstDash val="solid"/>
          </a:ln>
        </p:spPr>
      </p:sp>
      <p:sp>
        <p:nvSpPr>
          <p:cNvPr id="20" name="an3"/>
          <p:cNvSpPr txBox="1"/>
          <p:nvPr/>
        </p:nvSpPr>
        <p:spPr>
          <a:xfrm>
            <a:off x="9043416" y="1965960"/>
            <a:ext cx="1883664" cy="274320"/>
          </a:xfrm>
          <a:prstGeom prst="rect">
            <a:avLst/>
          </a:prstGeom>
          <a:noFill/>
          <a:ln/>
        </p:spPr>
        <p:txBody>
          <a:bodyPr wrap="square" lIns="0" tIns="0" rIns="0" bIns="0" rtlCol="0" anchor="t"/>
          <a:lstStyle/>
          <a:p>
            <a:pPr indent="0" marL="0">
              <a:buNone/>
            </a:pPr>
            <a:r>
              <a:rPr lang="en-US" sz="1200" b="1" dirty="0">
                <a:solidFill>
                  <a:srgbClr val="E8743B"/>
                </a:solidFill>
                <a:latin typeface="Arial" pitchFamily="34" charset="0"/>
                <a:ea typeface="Arial" pitchFamily="34" charset="-122"/>
                <a:cs typeface="Arial" pitchFamily="34" charset="-120"/>
              </a:rPr>
              <a:t>Step 4</a:t>
            </a:r>
            <a:endParaRPr lang="en-US" sz="1200" dirty="0"/>
          </a:p>
        </p:txBody>
      </p:sp>
      <p:sp>
        <p:nvSpPr>
          <p:cNvPr id="21" name="ah3"/>
          <p:cNvSpPr txBox="1"/>
          <p:nvPr/>
        </p:nvSpPr>
        <p:spPr>
          <a:xfrm>
            <a:off x="9043416" y="2258568"/>
            <a:ext cx="1883664" cy="548640"/>
          </a:xfrm>
          <a:prstGeom prst="rect">
            <a:avLst/>
          </a:prstGeom>
          <a:noFill/>
          <a:ln/>
        </p:spPr>
        <p:txBody>
          <a:bodyPr wrap="square" lIns="0" tIns="0" rIns="0" bIns="0" rtlCol="0" anchor="t"/>
          <a:lstStyle/>
          <a:p>
            <a:pPr indent="0" marL="0">
              <a:buNone/>
            </a:pPr>
            <a:r>
              <a:rPr lang="en-US" sz="1600" b="1" dirty="0">
                <a:solidFill>
                  <a:srgbClr val="F5F3EE"/>
                </a:solidFill>
                <a:latin typeface="Arial" pitchFamily="34" charset="0"/>
                <a:ea typeface="Arial" pitchFamily="34" charset="-122"/>
                <a:cs typeface="Arial" pitchFamily="34" charset="-120"/>
              </a:rPr>
              <a:t>Fraud network</a:t>
            </a:r>
            <a:endParaRPr lang="en-US" sz="1600" dirty="0"/>
          </a:p>
        </p:txBody>
      </p:sp>
      <p:sp>
        <p:nvSpPr>
          <p:cNvPr id="22" name="ab3"/>
          <p:cNvSpPr txBox="1"/>
          <p:nvPr/>
        </p:nvSpPr>
        <p:spPr>
          <a:xfrm>
            <a:off x="9043416" y="2807208"/>
            <a:ext cx="1883664" cy="640080"/>
          </a:xfrm>
          <a:prstGeom prst="rect">
            <a:avLst/>
          </a:prstGeom>
          <a:noFill/>
          <a:ln/>
        </p:spPr>
        <p:txBody>
          <a:bodyPr wrap="square" lIns="0" tIns="0" rIns="0" bIns="0" rtlCol="0" anchor="t"/>
          <a:lstStyle/>
          <a:p>
            <a:pPr indent="0" marL="0">
              <a:buNone/>
            </a:pPr>
            <a:r>
              <a:rPr lang="en-US" sz="1200" dirty="0">
                <a:solidFill>
                  <a:srgbClr val="C3CCDA"/>
                </a:solidFill>
                <a:latin typeface="Arial" pitchFamily="34" charset="0"/>
                <a:ea typeface="Arial" pitchFamily="34" charset="-122"/>
                <a:cs typeface="Arial" pitchFamily="34" charset="-120"/>
              </a:rPr>
              <a:t>Explore how fraud connects</a:t>
            </a:r>
            <a:endParaRPr lang="en-US" sz="1200" dirty="0"/>
          </a:p>
        </p:txBody>
      </p:sp>
      <p:sp>
        <p:nvSpPr>
          <p:cNvPr id="23" name="ac4"/>
          <p:cNvSpPr/>
          <p:nvPr/>
        </p:nvSpPr>
        <p:spPr>
          <a:xfrm>
            <a:off x="612648" y="3931920"/>
            <a:ext cx="2286000" cy="1783080"/>
          </a:xfrm>
          <a:prstGeom prst="roundRect">
            <a:avLst>
              <a:gd name="adj" fmla="val 6154"/>
            </a:avLst>
          </a:prstGeom>
          <a:solidFill>
            <a:srgbClr val="1B2640"/>
          </a:solidFill>
          <a:ln w="12700">
            <a:solidFill>
              <a:srgbClr val="2C3A5A"/>
            </a:solidFill>
            <a:prstDash val="solid"/>
          </a:ln>
        </p:spPr>
      </p:sp>
      <p:sp>
        <p:nvSpPr>
          <p:cNvPr id="24" name="an4"/>
          <p:cNvSpPr txBox="1"/>
          <p:nvPr/>
        </p:nvSpPr>
        <p:spPr>
          <a:xfrm>
            <a:off x="813816" y="4114800"/>
            <a:ext cx="1883664" cy="274320"/>
          </a:xfrm>
          <a:prstGeom prst="rect">
            <a:avLst/>
          </a:prstGeom>
          <a:noFill/>
          <a:ln/>
        </p:spPr>
        <p:txBody>
          <a:bodyPr wrap="square" lIns="0" tIns="0" rIns="0" bIns="0" rtlCol="0" anchor="t"/>
          <a:lstStyle/>
          <a:p>
            <a:pPr indent="0" marL="0">
              <a:buNone/>
            </a:pPr>
            <a:r>
              <a:rPr lang="en-US" sz="1200" b="1" dirty="0">
                <a:solidFill>
                  <a:srgbClr val="E8743B"/>
                </a:solidFill>
                <a:latin typeface="Arial" pitchFamily="34" charset="0"/>
                <a:ea typeface="Arial" pitchFamily="34" charset="-122"/>
                <a:cs typeface="Arial" pitchFamily="34" charset="-120"/>
              </a:rPr>
              <a:t>Step 5</a:t>
            </a:r>
            <a:endParaRPr lang="en-US" sz="1200" dirty="0"/>
          </a:p>
        </p:txBody>
      </p:sp>
      <p:sp>
        <p:nvSpPr>
          <p:cNvPr id="25" name="ah4"/>
          <p:cNvSpPr txBox="1"/>
          <p:nvPr/>
        </p:nvSpPr>
        <p:spPr>
          <a:xfrm>
            <a:off x="813816" y="4407408"/>
            <a:ext cx="1883664" cy="548640"/>
          </a:xfrm>
          <a:prstGeom prst="rect">
            <a:avLst/>
          </a:prstGeom>
          <a:noFill/>
          <a:ln/>
        </p:spPr>
        <p:txBody>
          <a:bodyPr wrap="square" lIns="0" tIns="0" rIns="0" bIns="0" rtlCol="0" anchor="t"/>
          <a:lstStyle/>
          <a:p>
            <a:pPr indent="0" marL="0">
              <a:buNone/>
            </a:pPr>
            <a:r>
              <a:rPr lang="en-US" sz="1600" b="1" dirty="0">
                <a:solidFill>
                  <a:srgbClr val="F5F3EE"/>
                </a:solidFill>
                <a:latin typeface="Arial" pitchFamily="34" charset="0"/>
                <a:ea typeface="Arial" pitchFamily="34" charset="-122"/>
                <a:cs typeface="Arial" pitchFamily="34" charset="-120"/>
              </a:rPr>
              <a:t>Historical features</a:t>
            </a:r>
            <a:endParaRPr lang="en-US" sz="1600" dirty="0"/>
          </a:p>
        </p:txBody>
      </p:sp>
      <p:sp>
        <p:nvSpPr>
          <p:cNvPr id="26" name="ab4"/>
          <p:cNvSpPr txBox="1"/>
          <p:nvPr/>
        </p:nvSpPr>
        <p:spPr>
          <a:xfrm>
            <a:off x="813816" y="4956048"/>
            <a:ext cx="1883664" cy="640080"/>
          </a:xfrm>
          <a:prstGeom prst="rect">
            <a:avLst/>
          </a:prstGeom>
          <a:noFill/>
          <a:ln/>
        </p:spPr>
        <p:txBody>
          <a:bodyPr wrap="square" lIns="0" tIns="0" rIns="0" bIns="0" rtlCol="0" anchor="t"/>
          <a:lstStyle/>
          <a:p>
            <a:pPr indent="0" marL="0">
              <a:buNone/>
            </a:pPr>
            <a:r>
              <a:rPr lang="en-US" sz="1200" dirty="0">
                <a:solidFill>
                  <a:srgbClr val="C3CCDA"/>
                </a:solidFill>
                <a:latin typeface="Arial" pitchFamily="34" charset="0"/>
                <a:ea typeface="Arial" pitchFamily="34" charset="-122"/>
                <a:cs typeface="Arial" pitchFamily="34" charset="-120"/>
              </a:rPr>
              <a:t>5 label-free 24-hour counts</a:t>
            </a:r>
            <a:endParaRPr lang="en-US" sz="1200" dirty="0"/>
          </a:p>
        </p:txBody>
      </p:sp>
      <p:sp>
        <p:nvSpPr>
          <p:cNvPr id="27" name="aa4"/>
          <p:cNvSpPr/>
          <p:nvPr/>
        </p:nvSpPr>
        <p:spPr>
          <a:xfrm>
            <a:off x="2990088" y="4709160"/>
            <a:ext cx="274320" cy="228600"/>
          </a:xfrm>
          <a:prstGeom prst="rightArrow">
            <a:avLst/>
          </a:prstGeom>
          <a:solidFill>
            <a:srgbClr val="8C97AB"/>
          </a:solidFill>
          <a:ln w="12700">
            <a:solidFill>
              <a:srgbClr val="8C97AB"/>
            </a:solidFill>
            <a:prstDash val="solid"/>
          </a:ln>
        </p:spPr>
      </p:sp>
      <p:sp>
        <p:nvSpPr>
          <p:cNvPr id="28" name="ac5"/>
          <p:cNvSpPr/>
          <p:nvPr/>
        </p:nvSpPr>
        <p:spPr>
          <a:xfrm>
            <a:off x="3355848" y="3931920"/>
            <a:ext cx="2286000" cy="1783080"/>
          </a:xfrm>
          <a:prstGeom prst="roundRect">
            <a:avLst>
              <a:gd name="adj" fmla="val 6154"/>
            </a:avLst>
          </a:prstGeom>
          <a:solidFill>
            <a:srgbClr val="1B2640"/>
          </a:solidFill>
          <a:ln w="12700">
            <a:solidFill>
              <a:srgbClr val="2C3A5A"/>
            </a:solidFill>
            <a:prstDash val="solid"/>
          </a:ln>
        </p:spPr>
      </p:sp>
      <p:sp>
        <p:nvSpPr>
          <p:cNvPr id="29" name="an5"/>
          <p:cNvSpPr txBox="1"/>
          <p:nvPr/>
        </p:nvSpPr>
        <p:spPr>
          <a:xfrm>
            <a:off x="3557016" y="4114800"/>
            <a:ext cx="1883664" cy="274320"/>
          </a:xfrm>
          <a:prstGeom prst="rect">
            <a:avLst/>
          </a:prstGeom>
          <a:noFill/>
          <a:ln/>
        </p:spPr>
        <p:txBody>
          <a:bodyPr wrap="square" lIns="0" tIns="0" rIns="0" bIns="0" rtlCol="0" anchor="t"/>
          <a:lstStyle/>
          <a:p>
            <a:pPr indent="0" marL="0">
              <a:buNone/>
            </a:pPr>
            <a:r>
              <a:rPr lang="en-US" sz="1200" b="1" dirty="0">
                <a:solidFill>
                  <a:srgbClr val="E8743B"/>
                </a:solidFill>
                <a:latin typeface="Arial" pitchFamily="34" charset="0"/>
                <a:ea typeface="Arial" pitchFamily="34" charset="-122"/>
                <a:cs typeface="Arial" pitchFamily="34" charset="-120"/>
              </a:rPr>
              <a:t>Step 6</a:t>
            </a:r>
            <a:endParaRPr lang="en-US" sz="1200" dirty="0"/>
          </a:p>
        </p:txBody>
      </p:sp>
      <p:sp>
        <p:nvSpPr>
          <p:cNvPr id="30" name="ah5"/>
          <p:cNvSpPr txBox="1"/>
          <p:nvPr/>
        </p:nvSpPr>
        <p:spPr>
          <a:xfrm>
            <a:off x="3557016" y="4407408"/>
            <a:ext cx="1883664" cy="548640"/>
          </a:xfrm>
          <a:prstGeom prst="rect">
            <a:avLst/>
          </a:prstGeom>
          <a:noFill/>
          <a:ln/>
        </p:spPr>
        <p:txBody>
          <a:bodyPr wrap="square" lIns="0" tIns="0" rIns="0" bIns="0" rtlCol="0" anchor="t"/>
          <a:lstStyle/>
          <a:p>
            <a:pPr indent="0" marL="0">
              <a:buNone/>
            </a:pPr>
            <a:r>
              <a:rPr lang="en-US" sz="1600" b="1" dirty="0">
                <a:solidFill>
                  <a:srgbClr val="F5F3EE"/>
                </a:solidFill>
                <a:latin typeface="Arial" pitchFamily="34" charset="0"/>
                <a:ea typeface="Arial" pitchFamily="34" charset="-122"/>
                <a:cs typeface="Arial" pitchFamily="34" charset="-120"/>
              </a:rPr>
              <a:t>Compare 4 models</a:t>
            </a:r>
            <a:endParaRPr lang="en-US" sz="1600" dirty="0"/>
          </a:p>
        </p:txBody>
      </p:sp>
      <p:sp>
        <p:nvSpPr>
          <p:cNvPr id="31" name="ab5"/>
          <p:cNvSpPr txBox="1"/>
          <p:nvPr/>
        </p:nvSpPr>
        <p:spPr>
          <a:xfrm>
            <a:off x="3557016" y="4956048"/>
            <a:ext cx="1883664" cy="640080"/>
          </a:xfrm>
          <a:prstGeom prst="rect">
            <a:avLst/>
          </a:prstGeom>
          <a:noFill/>
          <a:ln/>
        </p:spPr>
        <p:txBody>
          <a:bodyPr wrap="square" lIns="0" tIns="0" rIns="0" bIns="0" rtlCol="0" anchor="t"/>
          <a:lstStyle/>
          <a:p>
            <a:pPr indent="0" marL="0">
              <a:buNone/>
            </a:pPr>
            <a:r>
              <a:rPr lang="en-US" sz="1200" dirty="0">
                <a:solidFill>
                  <a:srgbClr val="C3CCDA"/>
                </a:solidFill>
                <a:latin typeface="Arial" pitchFamily="34" charset="0"/>
                <a:ea typeface="Arial" pitchFamily="34" charset="-122"/>
                <a:cs typeface="Arial" pitchFamily="34" charset="-120"/>
              </a:rPr>
              <a:t>XGBoost vs ANN, with and without</a:t>
            </a:r>
            <a:endParaRPr lang="en-US" sz="1200" dirty="0"/>
          </a:p>
        </p:txBody>
      </p:sp>
      <p:sp>
        <p:nvSpPr>
          <p:cNvPr id="32" name="aa5"/>
          <p:cNvSpPr/>
          <p:nvPr/>
        </p:nvSpPr>
        <p:spPr>
          <a:xfrm>
            <a:off x="5733288" y="4709160"/>
            <a:ext cx="274320" cy="228600"/>
          </a:xfrm>
          <a:prstGeom prst="rightArrow">
            <a:avLst/>
          </a:prstGeom>
          <a:solidFill>
            <a:srgbClr val="8C97AB"/>
          </a:solidFill>
          <a:ln w="12700">
            <a:solidFill>
              <a:srgbClr val="8C97AB"/>
            </a:solidFill>
            <a:prstDash val="solid"/>
          </a:ln>
        </p:spPr>
      </p:sp>
      <p:sp>
        <p:nvSpPr>
          <p:cNvPr id="33" name="ac6"/>
          <p:cNvSpPr/>
          <p:nvPr/>
        </p:nvSpPr>
        <p:spPr>
          <a:xfrm>
            <a:off x="6099048" y="3931920"/>
            <a:ext cx="2286000" cy="1783080"/>
          </a:xfrm>
          <a:prstGeom prst="roundRect">
            <a:avLst>
              <a:gd name="adj" fmla="val 6154"/>
            </a:avLst>
          </a:prstGeom>
          <a:solidFill>
            <a:srgbClr val="1B2640"/>
          </a:solidFill>
          <a:ln w="25400">
            <a:solidFill>
              <a:srgbClr val="E8743B"/>
            </a:solidFill>
            <a:prstDash val="solid"/>
          </a:ln>
        </p:spPr>
      </p:sp>
      <p:sp>
        <p:nvSpPr>
          <p:cNvPr id="34" name="an6"/>
          <p:cNvSpPr txBox="1"/>
          <p:nvPr/>
        </p:nvSpPr>
        <p:spPr>
          <a:xfrm>
            <a:off x="6300216" y="4114800"/>
            <a:ext cx="1883664" cy="274320"/>
          </a:xfrm>
          <a:prstGeom prst="rect">
            <a:avLst/>
          </a:prstGeom>
          <a:noFill/>
          <a:ln/>
        </p:spPr>
        <p:txBody>
          <a:bodyPr wrap="square" lIns="0" tIns="0" rIns="0" bIns="0" rtlCol="0" anchor="t"/>
          <a:lstStyle/>
          <a:p>
            <a:pPr indent="0" marL="0">
              <a:buNone/>
            </a:pPr>
            <a:r>
              <a:rPr lang="en-US" sz="1200" b="1" dirty="0">
                <a:solidFill>
                  <a:srgbClr val="E8743B"/>
                </a:solidFill>
                <a:latin typeface="Arial" pitchFamily="34" charset="0"/>
                <a:ea typeface="Arial" pitchFamily="34" charset="-122"/>
                <a:cs typeface="Arial" pitchFamily="34" charset="-120"/>
              </a:rPr>
              <a:t>Step 7</a:t>
            </a:r>
            <a:endParaRPr lang="en-US" sz="1200" dirty="0"/>
          </a:p>
        </p:txBody>
      </p:sp>
      <p:sp>
        <p:nvSpPr>
          <p:cNvPr id="35" name="ah6"/>
          <p:cNvSpPr txBox="1"/>
          <p:nvPr/>
        </p:nvSpPr>
        <p:spPr>
          <a:xfrm>
            <a:off x="6300216" y="4407408"/>
            <a:ext cx="1883664" cy="548640"/>
          </a:xfrm>
          <a:prstGeom prst="rect">
            <a:avLst/>
          </a:prstGeom>
          <a:noFill/>
          <a:ln/>
        </p:spPr>
        <p:txBody>
          <a:bodyPr wrap="square" lIns="0" tIns="0" rIns="0" bIns="0" rtlCol="0" anchor="t"/>
          <a:lstStyle/>
          <a:p>
            <a:pPr indent="0" marL="0">
              <a:buNone/>
            </a:pPr>
            <a:r>
              <a:rPr lang="en-US" sz="1600" b="1" dirty="0">
                <a:solidFill>
                  <a:srgbClr val="F5F3EE"/>
                </a:solidFill>
                <a:latin typeface="Arial" pitchFamily="34" charset="0"/>
                <a:ea typeface="Arial" pitchFamily="34" charset="-122"/>
                <a:cs typeface="Arial" pitchFamily="34" charset="-120"/>
              </a:rPr>
              <a:t>Final model</a:t>
            </a:r>
            <a:endParaRPr lang="en-US" sz="1600" dirty="0"/>
          </a:p>
        </p:txBody>
      </p:sp>
      <p:sp>
        <p:nvSpPr>
          <p:cNvPr id="36" name="ab6"/>
          <p:cNvSpPr txBox="1"/>
          <p:nvPr/>
        </p:nvSpPr>
        <p:spPr>
          <a:xfrm>
            <a:off x="6300216" y="4956048"/>
            <a:ext cx="1883664" cy="640080"/>
          </a:xfrm>
          <a:prstGeom prst="rect">
            <a:avLst/>
          </a:prstGeom>
          <a:noFill/>
          <a:ln/>
        </p:spPr>
        <p:txBody>
          <a:bodyPr wrap="square" lIns="0" tIns="0" rIns="0" bIns="0" rtlCol="0" anchor="t"/>
          <a:lstStyle/>
          <a:p>
            <a:pPr indent="0" marL="0">
              <a:buNone/>
            </a:pPr>
            <a:r>
              <a:rPr lang="en-US" sz="1200" dirty="0">
                <a:solidFill>
                  <a:srgbClr val="C3CCDA"/>
                </a:solidFill>
                <a:latin typeface="Arial" pitchFamily="34" charset="0"/>
                <a:ea typeface="Arial" pitchFamily="34" charset="-122"/>
                <a:cs typeface="Arial" pitchFamily="34" charset="-120"/>
              </a:rPr>
              <a:t>Threshold choice and SHAP</a:t>
            </a:r>
            <a:endParaRPr lang="en-US" sz="1200" dirty="0"/>
          </a:p>
        </p:txBody>
      </p:sp>
      <p:sp>
        <p:nvSpPr>
          <p:cNvPr id="37" name="Text 35"/>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8C97AB"/>
                </a:solidFill>
                <a:latin typeface="Arial" pitchFamily="34" charset="0"/>
                <a:ea typeface="Arial" pitchFamily="34" charset="-122"/>
                <a:cs typeface="Arial" pitchFamily="34" charset="-120"/>
              </a:rPr>
              <a:t>Fraud Ring Detection · Group 8</a:t>
            </a:r>
            <a:endParaRPr lang="en-US" sz="1100" dirty="0"/>
          </a:p>
        </p:txBody>
      </p:sp>
      <p:sp>
        <p:nvSpPr>
          <p:cNvPr id="38" name="Text 36"/>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8C97AB"/>
                </a:solidFill>
                <a:latin typeface="Arial" pitchFamily="34" charset="0"/>
                <a:ea typeface="Arial" pitchFamily="34" charset="-122"/>
                <a:cs typeface="Arial" pitchFamily="34" charset="-120"/>
              </a:rPr>
              <a:t>5</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6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6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6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6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6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6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6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6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6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6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6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6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6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600"/>
                                        <p:tgtEl>
                                          <p:spTgt spid="2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600"/>
                                        <p:tgtEl>
                                          <p:spTgt spid="2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600"/>
                                        <p:tgtEl>
                                          <p:spTgt spid="2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600"/>
                                        <p:tgtEl>
                                          <p:spTgt spid="2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6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6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6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grpId="0" nodeType="click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600"/>
                                        <p:tgtEl>
                                          <p:spTgt spid="3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Effect transition="in" filter="fade">
                                      <p:cBhvr>
                                        <p:cTn id="106" dur="600"/>
                                        <p:tgtEl>
                                          <p:spTgt spid="34"/>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600"/>
                                        <p:tgtEl>
                                          <p:spTgt spid="3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600"/>
                                        <p:tgtEl>
                                          <p:spTgt spid="36"/>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32"/>
                                        </p:tgtEl>
                                        <p:attrNameLst>
                                          <p:attrName>style.visibility</p:attrName>
                                        </p:attrNameLst>
                                      </p:cBhvr>
                                      <p:to>
                                        <p:strVal val="visible"/>
                                      </p:to>
                                    </p:set>
                                    <p:animEffect transition="in" filter="fade">
                                      <p:cBhvr>
                                        <p:cTn id="115"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10" grpId="0" animBg="1"/>
      <p:bldP spid="11" grpId="0" animBg="1"/>
      <p:bldP spid="12" grpId="0" animBg="1"/>
      <p:bldP spid="8" grpId="0" animBg="1"/>
      <p:bldP spid="14" grpId="0" animBg="1"/>
      <p:bldP spid="15" grpId="0" animBg="1"/>
      <p:bldP spid="16" grpId="0" animBg="1"/>
      <p:bldP spid="17" grpId="0" animBg="1"/>
      <p:bldP spid="13" grpId="0" animBg="1"/>
      <p:bldP spid="19" grpId="0" animBg="1"/>
      <p:bldP spid="20" grpId="0" animBg="1"/>
      <p:bldP spid="21" grpId="0" animBg="1"/>
      <p:bldP spid="22" grpId="0" animBg="1"/>
      <p:bldP spid="18" grpId="0" animBg="1"/>
      <p:bldP spid="23" grpId="0" animBg="1"/>
      <p:bldP spid="24" grpId="0" animBg="1"/>
      <p:bldP spid="25" grpId="0" animBg="1"/>
      <p:bldP spid="26" grpId="0" animBg="1"/>
      <p:bldP spid="28" grpId="0" animBg="1"/>
      <p:bldP spid="29" grpId="0" animBg="1"/>
      <p:bldP spid="30" grpId="0" animBg="1"/>
      <p:bldP spid="31" grpId="0" animBg="1"/>
      <p:bldP spid="27" grpId="0" animBg="1"/>
      <p:bldP spid="33" grpId="0" animBg="1"/>
      <p:bldP spid="34" grpId="0" animBg="1"/>
      <p:bldP spid="35" grpId="0" animBg="1"/>
      <p:bldP spid="36" grpId="0" animBg="1"/>
      <p:bldP spid="3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B04A16"/>
                </a:solidFill>
                <a:latin typeface="Arial" pitchFamily="34" charset="0"/>
                <a:ea typeface="Arial" pitchFamily="34" charset="-122"/>
                <a:cs typeface="Arial" pitchFamily="34" charset="-120"/>
              </a:rPr>
              <a:t>5 · FRAUD NETWORK</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111A2E"/>
                </a:solidFill>
                <a:latin typeface="Arial" pitchFamily="34" charset="0"/>
                <a:ea typeface="Arial" pitchFamily="34" charset="-122"/>
                <a:cs typeface="Arial" pitchFamily="34" charset="-120"/>
              </a:rPr>
              <a:t>35 linked frauds: one card, 73 hours</a:t>
            </a:r>
            <a:endParaRPr lang="en-US" sz="3200" dirty="0"/>
          </a:p>
        </p:txBody>
      </p:sp>
      <p:sp>
        <p:nvSpPr>
          <p:cNvPr id="4" name="Shape 2"/>
          <p:cNvSpPr/>
          <p:nvPr/>
        </p:nvSpPr>
        <p:spPr>
          <a:xfrm>
            <a:off x="612648" y="1645920"/>
            <a:ext cx="5486400" cy="4343400"/>
          </a:xfrm>
          <a:prstGeom prst="roundRect">
            <a:avLst>
              <a:gd name="adj" fmla="val 2105"/>
            </a:avLst>
          </a:prstGeom>
          <a:solidFill>
            <a:srgbClr val="FFFFFF"/>
          </a:solidFill>
          <a:ln w="12700">
            <a:solidFill>
              <a:srgbClr val="DDD8CC"/>
            </a:solidFill>
            <a:prstDash val="solid"/>
          </a:ln>
        </p:spPr>
      </p:sp>
      <p:pic>
        <p:nvPicPr>
          <p:cNvPr id="5" name="Image 0" descr="Network graph of the largest fraud group: 35 transactions in two dense clusters joined by a few links">    </p:cNvPr>
          <p:cNvPicPr>
            <a:picLocks noChangeAspect="1"/>
          </p:cNvPicPr>
          <p:nvPr/>
        </p:nvPicPr>
        <p:blipFill>
          <a:blip r:embed="rId1"/>
          <a:stretch>
            <a:fillRect/>
          </a:stretch>
        </p:blipFill>
        <p:spPr>
          <a:xfrm>
            <a:off x="749808" y="1737360"/>
            <a:ext cx="5212080" cy="3950208"/>
          </a:xfrm>
          <a:prstGeom prst="rect">
            <a:avLst/>
          </a:prstGeom>
        </p:spPr>
      </p:pic>
      <p:sp>
        <p:nvSpPr>
          <p:cNvPr id="6" name="Text 3"/>
          <p:cNvSpPr txBox="1"/>
          <p:nvPr/>
        </p:nvSpPr>
        <p:spPr>
          <a:xfrm>
            <a:off x="6492240" y="1691640"/>
            <a:ext cx="5074920" cy="914400"/>
          </a:xfrm>
          <a:prstGeom prst="rect">
            <a:avLst/>
          </a:prstGeom>
          <a:noFill/>
          <a:ln/>
        </p:spPr>
        <p:txBody>
          <a:bodyPr wrap="square" lIns="0" tIns="0" rIns="0" bIns="0" rtlCol="0" anchor="t"/>
          <a:lstStyle/>
          <a:p>
            <a:pPr indent="0" marL="0">
              <a:lnSpc>
                <a:spcPct val="120000"/>
              </a:lnSpc>
              <a:buNone/>
            </a:pPr>
            <a:r>
              <a:rPr lang="en-US" sz="1600" b="1" dirty="0">
                <a:solidFill>
                  <a:srgbClr val="1E2638"/>
                </a:solidFill>
                <a:latin typeface="Arial" pitchFamily="34" charset="0"/>
                <a:ea typeface="Arial" pitchFamily="34" charset="-122"/>
                <a:cs typeface="Arial" pitchFamily="34" charset="-120"/>
              </a:rPr>
              <a:t>Link rule: </a:t>
            </a:r>
            <a:pPr indent="0" marL="0">
              <a:lnSpc>
                <a:spcPct val="120000"/>
              </a:lnSpc>
              <a:buNone/>
            </a:pPr>
            <a:r>
              <a:rPr lang="en-US" sz="1600" dirty="0">
                <a:solidFill>
                  <a:srgbClr val="1E2638"/>
                </a:solidFill>
                <a:latin typeface="Arial" pitchFamily="34" charset="0"/>
                <a:ea typeface="Arial" pitchFamily="34" charset="-122"/>
                <a:cs typeface="Arial" pitchFamily="34" charset="-120"/>
              </a:rPr>
              <a:t>two fraudulent transactions connect when they share a card and an address within 24 hours.</a:t>
            </a:r>
            <a:endParaRPr lang="en-US" sz="1600" dirty="0"/>
          </a:p>
        </p:txBody>
      </p:sp>
      <p:sp>
        <p:nvSpPr>
          <p:cNvPr id="7" name="Text 4"/>
          <p:cNvSpPr txBox="1"/>
          <p:nvPr/>
        </p:nvSpPr>
        <p:spPr>
          <a:xfrm>
            <a:off x="6492240" y="2697480"/>
            <a:ext cx="2286000" cy="594360"/>
          </a:xfrm>
          <a:prstGeom prst="rect">
            <a:avLst/>
          </a:prstGeom>
          <a:noFill/>
          <a:ln/>
        </p:spPr>
        <p:txBody>
          <a:bodyPr wrap="square" lIns="0" tIns="0" rIns="0" bIns="0" rtlCol="0" anchor="t"/>
          <a:lstStyle/>
          <a:p>
            <a:pPr indent="0" marL="0">
              <a:buNone/>
            </a:pPr>
            <a:r>
              <a:rPr lang="en-US" sz="3200" b="1" dirty="0">
                <a:solidFill>
                  <a:srgbClr val="B04A16"/>
                </a:solidFill>
                <a:latin typeface="Arial" pitchFamily="34" charset="0"/>
                <a:ea typeface="Arial" pitchFamily="34" charset="-122"/>
                <a:cs typeface="Arial" pitchFamily="34" charset="-120"/>
              </a:rPr>
              <a:t>7,519</a:t>
            </a:r>
            <a:endParaRPr lang="en-US" sz="3200" dirty="0"/>
          </a:p>
        </p:txBody>
      </p:sp>
      <p:sp>
        <p:nvSpPr>
          <p:cNvPr id="8" name="Text 5"/>
          <p:cNvSpPr txBox="1"/>
          <p:nvPr/>
        </p:nvSpPr>
        <p:spPr>
          <a:xfrm>
            <a:off x="6492240" y="3291840"/>
            <a:ext cx="2286000" cy="365760"/>
          </a:xfrm>
          <a:prstGeom prst="rect">
            <a:avLst/>
          </a:prstGeom>
          <a:noFill/>
          <a:ln/>
        </p:spPr>
        <p:txBody>
          <a:bodyPr wrap="square" lIns="0" tIns="0" rIns="0" bIns="0" rtlCol="0" anchor="t"/>
          <a:lstStyle/>
          <a:p>
            <a:pPr indent="0" marL="0">
              <a:buNone/>
            </a:pPr>
            <a:r>
              <a:rPr lang="en-US" sz="1300" dirty="0">
                <a:solidFill>
                  <a:srgbClr val="3F4A5C"/>
                </a:solidFill>
                <a:latin typeface="Arial" pitchFamily="34" charset="0"/>
                <a:ea typeface="Arial" pitchFamily="34" charset="-122"/>
                <a:cs typeface="Arial" pitchFamily="34" charset="-120"/>
              </a:rPr>
              <a:t>separate groups</a:t>
            </a:r>
            <a:endParaRPr lang="en-US" sz="1300" dirty="0"/>
          </a:p>
        </p:txBody>
      </p:sp>
      <p:sp>
        <p:nvSpPr>
          <p:cNvPr id="9" name="Text 6"/>
          <p:cNvSpPr txBox="1"/>
          <p:nvPr/>
        </p:nvSpPr>
        <p:spPr>
          <a:xfrm>
            <a:off x="9052560" y="2697480"/>
            <a:ext cx="2468880" cy="594360"/>
          </a:xfrm>
          <a:prstGeom prst="rect">
            <a:avLst/>
          </a:prstGeom>
          <a:noFill/>
          <a:ln/>
        </p:spPr>
        <p:txBody>
          <a:bodyPr wrap="square" lIns="0" tIns="0" rIns="0" bIns="0" rtlCol="0" anchor="t"/>
          <a:lstStyle/>
          <a:p>
            <a:pPr indent="0" marL="0">
              <a:buNone/>
            </a:pPr>
            <a:r>
              <a:rPr lang="en-US" sz="3200" b="1" dirty="0">
                <a:solidFill>
                  <a:srgbClr val="B04A16"/>
                </a:solidFill>
                <a:latin typeface="Arial" pitchFamily="34" charset="0"/>
                <a:ea typeface="Arial" pitchFamily="34" charset="-122"/>
                <a:cs typeface="Arial" pitchFamily="34" charset="-120"/>
              </a:rPr>
              <a:t>71%</a:t>
            </a:r>
            <a:endParaRPr lang="en-US" sz="3200" dirty="0"/>
          </a:p>
        </p:txBody>
      </p:sp>
      <p:sp>
        <p:nvSpPr>
          <p:cNvPr id="10" name="Text 7"/>
          <p:cNvSpPr txBox="1"/>
          <p:nvPr/>
        </p:nvSpPr>
        <p:spPr>
          <a:xfrm>
            <a:off x="9052560" y="3291840"/>
            <a:ext cx="2468880" cy="548640"/>
          </a:xfrm>
          <a:prstGeom prst="rect">
            <a:avLst/>
          </a:prstGeom>
          <a:noFill/>
          <a:ln/>
        </p:spPr>
        <p:txBody>
          <a:bodyPr wrap="square" lIns="0" tIns="0" rIns="0" bIns="0" rtlCol="0" anchor="t"/>
          <a:lstStyle/>
          <a:p>
            <a:pPr indent="0" marL="0">
              <a:buNone/>
            </a:pPr>
            <a:r>
              <a:rPr lang="en-US" sz="1300" dirty="0">
                <a:solidFill>
                  <a:srgbClr val="3F4A5C"/>
                </a:solidFill>
                <a:latin typeface="Arial" pitchFamily="34" charset="0"/>
                <a:ea typeface="Arial" pitchFamily="34" charset="-122"/>
                <a:cs typeface="Arial" pitchFamily="34" charset="-120"/>
              </a:rPr>
              <a:t>of links also share email or device</a:t>
            </a:r>
            <a:endParaRPr lang="en-US" sz="1300" dirty="0"/>
          </a:p>
        </p:txBody>
      </p:sp>
      <p:sp>
        <p:nvSpPr>
          <p:cNvPr id="11" name="Text 8"/>
          <p:cNvSpPr txBox="1"/>
          <p:nvPr/>
        </p:nvSpPr>
        <p:spPr>
          <a:xfrm>
            <a:off x="6492240" y="3977640"/>
            <a:ext cx="5074920" cy="640080"/>
          </a:xfrm>
          <a:prstGeom prst="rect">
            <a:avLst/>
          </a:prstGeom>
          <a:noFill/>
          <a:ln/>
        </p:spPr>
        <p:txBody>
          <a:bodyPr wrap="square" lIns="0" tIns="0" rIns="0" bIns="0" rtlCol="0" anchor="t"/>
          <a:lstStyle/>
          <a:p>
            <a:pPr indent="0" marL="0">
              <a:buNone/>
            </a:pPr>
            <a:r>
              <a:rPr lang="en-US" sz="1500" dirty="0">
                <a:solidFill>
                  <a:srgbClr val="3F4A5C"/>
                </a:solidFill>
                <a:latin typeface="Arial" pitchFamily="34" charset="0"/>
                <a:ea typeface="Arial" pitchFamily="34" charset="-122"/>
                <a:cs typeface="Arial" pitchFamily="34" charset="-120"/>
              </a:rPr>
              <a:t>This largest group spent $6,305 in two bursts, consistent with one actor returning.</a:t>
            </a:r>
            <a:endParaRPr lang="en-US" sz="1500" dirty="0"/>
          </a:p>
        </p:txBody>
      </p:sp>
      <p:sp>
        <p:nvSpPr>
          <p:cNvPr id="12" name="Shape 9"/>
          <p:cNvSpPr/>
          <p:nvPr/>
        </p:nvSpPr>
        <p:spPr>
          <a:xfrm>
            <a:off x="6492240" y="4800600"/>
            <a:ext cx="5074920" cy="914400"/>
          </a:xfrm>
          <a:prstGeom prst="roundRect">
            <a:avLst>
              <a:gd name="adj" fmla="val 8000"/>
            </a:avLst>
          </a:prstGeom>
          <a:solidFill>
            <a:srgbClr val="EBE6DA"/>
          </a:solidFill>
          <a:ln w="12700">
            <a:solidFill>
              <a:srgbClr val="EBE6DA"/>
            </a:solidFill>
            <a:prstDash val="solid"/>
          </a:ln>
        </p:spPr>
      </p:sp>
      <p:sp>
        <p:nvSpPr>
          <p:cNvPr id="13" name="Text 10"/>
          <p:cNvSpPr txBox="1"/>
          <p:nvPr/>
        </p:nvSpPr>
        <p:spPr>
          <a:xfrm>
            <a:off x="6675120" y="4910328"/>
            <a:ext cx="4709160" cy="731520"/>
          </a:xfrm>
          <a:prstGeom prst="rect">
            <a:avLst/>
          </a:prstGeom>
          <a:noFill/>
          <a:ln/>
        </p:spPr>
        <p:txBody>
          <a:bodyPr wrap="square" lIns="0" tIns="0" rIns="0" bIns="0" rtlCol="0" anchor="ctr"/>
          <a:lstStyle/>
          <a:p>
            <a:pPr indent="0" marL="0">
              <a:buNone/>
            </a:pPr>
            <a:r>
              <a:rPr lang="en-US" sz="1300" dirty="0">
                <a:solidFill>
                  <a:srgbClr val="1E2638"/>
                </a:solidFill>
                <a:latin typeface="Arial" pitchFamily="34" charset="0"/>
                <a:ea typeface="Arial" pitchFamily="34" charset="-122"/>
                <a:cs typeface="Arial" pitchFamily="34" charset="-120"/>
              </a:rPr>
              <a:t>Exploratory only: this graph uses the fraud labels, so feeding it to the model would leak the answer.</a:t>
            </a:r>
            <a:endParaRPr lang="en-US" sz="1300" dirty="0"/>
          </a:p>
        </p:txBody>
      </p:sp>
      <p:sp>
        <p:nvSpPr>
          <p:cNvPr id="14" name="Text 11"/>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5E6778"/>
                </a:solidFill>
                <a:latin typeface="Arial" pitchFamily="34" charset="0"/>
                <a:ea typeface="Arial" pitchFamily="34" charset="-122"/>
                <a:cs typeface="Arial" pitchFamily="34" charset="-120"/>
              </a:rPr>
              <a:t>12,922 fraud transactions with card and address</a:t>
            </a:r>
            <a:endParaRPr lang="en-US" sz="1100" dirty="0"/>
          </a:p>
        </p:txBody>
      </p:sp>
      <p:sp>
        <p:nvSpPr>
          <p:cNvPr id="15" name="Text 12"/>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6</a:t>
            </a:r>
            <a:endParaRPr lang="en-US" sz="11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6 · FEATURE ENGINEERING</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F5F3EE"/>
                </a:solidFill>
                <a:latin typeface="Arial" pitchFamily="34" charset="0"/>
                <a:ea typeface="Arial" pitchFamily="34" charset="-122"/>
                <a:cs typeface="Arial" pitchFamily="34" charset="-120"/>
              </a:rPr>
              <a:t>Five label-free relationship features</a:t>
            </a:r>
            <a:endParaRPr lang="en-US" sz="3200" dirty="0"/>
          </a:p>
        </p:txBody>
      </p:sp>
      <p:sp>
        <p:nvSpPr>
          <p:cNvPr id="4" name="Text 2"/>
          <p:cNvSpPr txBox="1"/>
          <p:nvPr/>
        </p:nvSpPr>
        <p:spPr>
          <a:xfrm>
            <a:off x="612648" y="1645920"/>
            <a:ext cx="7863840" cy="822960"/>
          </a:xfrm>
          <a:prstGeom prst="rect">
            <a:avLst/>
          </a:prstGeom>
          <a:noFill/>
          <a:ln/>
        </p:spPr>
        <p:txBody>
          <a:bodyPr wrap="square" lIns="0" tIns="0" rIns="0" bIns="0" rtlCol="0" anchor="t"/>
          <a:lstStyle/>
          <a:p>
            <a:pPr indent="0" marL="0">
              <a:lnSpc>
                <a:spcPct val="120000"/>
              </a:lnSpc>
              <a:buNone/>
            </a:pPr>
            <a:r>
              <a:rPr lang="en-US" sz="1600" dirty="0">
                <a:solidFill>
                  <a:srgbClr val="C3CCDA"/>
                </a:solidFill>
                <a:latin typeface="Arial" pitchFamily="34" charset="0"/>
                <a:ea typeface="Arial" pitchFamily="34" charset="-122"/>
                <a:cs typeface="Arial" pitchFamily="34" charset="-120"/>
              </a:rPr>
              <a:t>For each transaction: how many </a:t>
            </a:r>
            <a:pPr indent="0" marL="0">
              <a:lnSpc>
                <a:spcPct val="120000"/>
              </a:lnSpc>
              <a:buNone/>
            </a:pPr>
            <a:r>
              <a:rPr lang="en-US" sz="1600" b="1" dirty="0">
                <a:solidFill>
                  <a:srgbClr val="F5F3EE"/>
                </a:solidFill>
                <a:latin typeface="Arial" pitchFamily="34" charset="0"/>
                <a:ea typeface="Arial" pitchFamily="34" charset="-122"/>
                <a:cs typeface="Arial" pitchFamily="34" charset="-120"/>
              </a:rPr>
              <a:t>earlier</a:t>
            </a:r>
            <a:pPr indent="0" marL="0">
              <a:lnSpc>
                <a:spcPct val="120000"/>
              </a:lnSpc>
              <a:buNone/>
            </a:pPr>
            <a:r>
              <a:rPr lang="en-US" sz="1600" dirty="0">
                <a:solidFill>
                  <a:srgbClr val="C3CCDA"/>
                </a:solidFill>
                <a:latin typeface="Arial" pitchFamily="34" charset="0"/>
                <a:ea typeface="Arial" pitchFamily="34" charset="-122"/>
                <a:cs typeface="Arial" pitchFamily="34" charset="-120"/>
              </a:rPr>
              <a:t> transactions in the last 24 hours shared the same identifier? The fraud label is never used.</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2648" y="2651760"/>
          <a:ext cx="7863840" cy="914400"/>
        </p:xfrm>
        <a:graphic>
          <a:graphicData uri="http://schemas.openxmlformats.org/drawingml/2006/table">
            <a:tbl>
              <a:tblPr/>
              <a:tblGrid>
                <a:gridCol w="3657600"/>
                <a:gridCol w="2468880"/>
                <a:gridCol w="1737360"/>
              </a:tblGrid>
              <a:tr h="475488">
                <a:tc>
                  <a:txBody>
                    <a:bodyPr/>
                    <a:lstStyle/>
                    <a:p>
                      <a:pPr indent="0" marL="0">
                        <a:buNone/>
                      </a:pPr>
                      <a:r>
                        <a:rPr lang="en-US" sz="1400" b="1" dirty="0">
                          <a:solidFill>
                            <a:srgbClr val="F5F3EE"/>
                          </a:solidFill>
                          <a:latin typeface="Arial" pitchFamily="34" charset="0"/>
                          <a:ea typeface="Arial" pitchFamily="34" charset="-122"/>
                          <a:cs typeface="Arial" pitchFamily="34" charset="-120"/>
                        </a:rPr>
                        <a:t>Feature</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2C3A5A"/>
                    </a:solidFill>
                  </a:tcPr>
                </a:tc>
                <a:tc>
                  <a:txBody>
                    <a:bodyPr/>
                    <a:lstStyle/>
                    <a:p>
                      <a:pPr indent="0" marL="0">
                        <a:buNone/>
                      </a:pPr>
                      <a:r>
                        <a:rPr lang="en-US" sz="1400" b="1" dirty="0">
                          <a:solidFill>
                            <a:srgbClr val="F5F3EE"/>
                          </a:solidFill>
                          <a:latin typeface="Arial" pitchFamily="34" charset="0"/>
                          <a:ea typeface="Arial" pitchFamily="34" charset="-122"/>
                          <a:cs typeface="Arial" pitchFamily="34" charset="-120"/>
                        </a:rPr>
                        <a:t>Shares the same…</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2C3A5A"/>
                    </a:solidFill>
                  </a:tcPr>
                </a:tc>
                <a:tc>
                  <a:txBody>
                    <a:bodyPr/>
                    <a:lstStyle/>
                    <a:p>
                      <a:pPr indent="0" marL="0">
                        <a:buNone/>
                      </a:pPr>
                      <a:r>
                        <a:rPr lang="en-US" sz="1400" b="1" dirty="0">
                          <a:solidFill>
                            <a:srgbClr val="F5F3EE"/>
                          </a:solidFill>
                          <a:latin typeface="Arial" pitchFamily="34" charset="0"/>
                          <a:ea typeface="Arial" pitchFamily="34" charset="-122"/>
                          <a:cs typeface="Arial" pitchFamily="34" charset="-120"/>
                        </a:rPr>
                        <a:t>With a match</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2C3A5A"/>
                    </a:solidFill>
                  </a:tcPr>
                </a:tc>
              </a:tr>
              <a:tr h="475488">
                <a:tc>
                  <a:txBody>
                    <a:bodyPr/>
                    <a:lstStyle/>
                    <a:p>
                      <a:pPr algn="l" indent="0" marL="0">
                        <a:buNone/>
                      </a:pPr>
                      <a:r>
                        <a:rPr lang="en-US" sz="1400" dirty="0">
                          <a:solidFill>
                            <a:srgbClr val="E4E8EF"/>
                          </a:solidFill>
                          <a:latin typeface="Courier New" pitchFamily="34" charset="0"/>
                          <a:ea typeface="Courier New" pitchFamily="34" charset="-122"/>
                          <a:cs typeface="Courier New" pitchFamily="34" charset="-120"/>
                        </a:rPr>
                        <a:t>card1_prev_count_24h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l" indent="0" marL="0">
                        <a:buNone/>
                      </a:pPr>
                      <a:r>
                        <a:rPr lang="en-US" sz="1400" dirty="0">
                          <a:solidFill>
                            <a:srgbClr val="E4E8EF"/>
                          </a:solidFill>
                          <a:latin typeface="Arial" pitchFamily="34" charset="0"/>
                          <a:ea typeface="Arial" pitchFamily="34" charset="-122"/>
                          <a:cs typeface="Arial" pitchFamily="34" charset="-120"/>
                        </a:rPr>
                        <a:t>card</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r" indent="0" marL="0">
                        <a:buNone/>
                      </a:pPr>
                      <a:r>
                        <a:rPr lang="en-US" sz="1400" dirty="0">
                          <a:solidFill>
                            <a:srgbClr val="E4E8EF"/>
                          </a:solidFill>
                          <a:latin typeface="Arial" pitchFamily="34" charset="0"/>
                          <a:ea typeface="Arial" pitchFamily="34" charset="-122"/>
                          <a:cs typeface="Arial" pitchFamily="34" charset="-120"/>
                        </a:rPr>
                        <a:t>78.4%</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r>
              <a:tr h="475488">
                <a:tc>
                  <a:txBody>
                    <a:bodyPr/>
                    <a:lstStyle/>
                    <a:p>
                      <a:pPr algn="l" indent="0" marL="0">
                        <a:buNone/>
                      </a:pPr>
                      <a:r>
                        <a:rPr lang="en-US" sz="1400" dirty="0">
                          <a:solidFill>
                            <a:srgbClr val="E4E8EF"/>
                          </a:solidFill>
                          <a:latin typeface="Courier New" pitchFamily="34" charset="0"/>
                          <a:ea typeface="Courier New" pitchFamily="34" charset="-122"/>
                          <a:cs typeface="Courier New" pitchFamily="34" charset="-120"/>
                        </a:rPr>
                        <a:t>addr1_prev_count_24h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l" indent="0" marL="0">
                        <a:buNone/>
                      </a:pPr>
                      <a:r>
                        <a:rPr lang="en-US" sz="1400" dirty="0">
                          <a:solidFill>
                            <a:srgbClr val="E4E8EF"/>
                          </a:solidFill>
                          <a:latin typeface="Arial" pitchFamily="34" charset="0"/>
                          <a:ea typeface="Arial" pitchFamily="34" charset="-122"/>
                          <a:cs typeface="Arial" pitchFamily="34" charset="-120"/>
                        </a:rPr>
                        <a:t>address</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r" indent="0" marL="0">
                        <a:buNone/>
                      </a:pPr>
                      <a:r>
                        <a:rPr lang="en-US" sz="1400" dirty="0">
                          <a:solidFill>
                            <a:srgbClr val="E4E8EF"/>
                          </a:solidFill>
                          <a:latin typeface="Arial" pitchFamily="34" charset="0"/>
                          <a:ea typeface="Arial" pitchFamily="34" charset="-122"/>
                          <a:cs typeface="Arial" pitchFamily="34" charset="-120"/>
                        </a:rPr>
                        <a:t>88.7%</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r>
              <a:tr h="475488">
                <a:tc>
                  <a:txBody>
                    <a:bodyPr/>
                    <a:lstStyle/>
                    <a:p>
                      <a:pPr algn="l" indent="0" marL="0">
                        <a:buNone/>
                      </a:pPr>
                      <a:r>
                        <a:rPr lang="en-US" sz="1400" dirty="0">
                          <a:solidFill>
                            <a:srgbClr val="E4E8EF"/>
                          </a:solidFill>
                          <a:latin typeface="Courier New" pitchFamily="34" charset="0"/>
                          <a:ea typeface="Courier New" pitchFamily="34" charset="-122"/>
                          <a:cs typeface="Courier New" pitchFamily="34" charset="-120"/>
                        </a:rPr>
                        <a:t>email_prev_count_24h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l" indent="0" marL="0">
                        <a:buNone/>
                      </a:pPr>
                      <a:r>
                        <a:rPr lang="en-US" sz="1400" dirty="0">
                          <a:solidFill>
                            <a:srgbClr val="E4E8EF"/>
                          </a:solidFill>
                          <a:latin typeface="Arial" pitchFamily="34" charset="0"/>
                          <a:ea typeface="Arial" pitchFamily="34" charset="-122"/>
                          <a:cs typeface="Arial" pitchFamily="34" charset="-120"/>
                        </a:rPr>
                        <a:t>email domain</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r" indent="0" marL="0">
                        <a:buNone/>
                      </a:pPr>
                      <a:r>
                        <a:rPr lang="en-US" sz="1400" dirty="0">
                          <a:solidFill>
                            <a:srgbClr val="E4E8EF"/>
                          </a:solidFill>
                          <a:latin typeface="Arial" pitchFamily="34" charset="0"/>
                          <a:ea typeface="Arial" pitchFamily="34" charset="-122"/>
                          <a:cs typeface="Arial" pitchFamily="34" charset="-120"/>
                        </a:rPr>
                        <a:t>83.7%</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r>
              <a:tr h="475488">
                <a:tc>
                  <a:txBody>
                    <a:bodyPr/>
                    <a:lstStyle/>
                    <a:p>
                      <a:pPr algn="l" indent="0" marL="0">
                        <a:buNone/>
                      </a:pPr>
                      <a:r>
                        <a:rPr lang="en-US" sz="1400" dirty="0">
                          <a:solidFill>
                            <a:srgbClr val="E4E8EF"/>
                          </a:solidFill>
                          <a:latin typeface="Courier New" pitchFamily="34" charset="0"/>
                          <a:ea typeface="Courier New" pitchFamily="34" charset="-122"/>
                          <a:cs typeface="Courier New" pitchFamily="34" charset="-120"/>
                        </a:rPr>
                        <a:t>device_prev_count_24h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l" indent="0" marL="0">
                        <a:buNone/>
                      </a:pPr>
                      <a:r>
                        <a:rPr lang="en-US" sz="1400" dirty="0">
                          <a:solidFill>
                            <a:srgbClr val="E4E8EF"/>
                          </a:solidFill>
                          <a:latin typeface="Arial" pitchFamily="34" charset="0"/>
                          <a:ea typeface="Arial" pitchFamily="34" charset="-122"/>
                          <a:cs typeface="Arial" pitchFamily="34" charset="-120"/>
                        </a:rPr>
                        <a:t>device</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r" indent="0" marL="0">
                        <a:buNone/>
                      </a:pPr>
                      <a:r>
                        <a:rPr lang="en-US" sz="1400" dirty="0">
                          <a:solidFill>
                            <a:srgbClr val="E4E8EF"/>
                          </a:solidFill>
                          <a:latin typeface="Arial" pitchFamily="34" charset="0"/>
                          <a:ea typeface="Arial" pitchFamily="34" charset="-122"/>
                          <a:cs typeface="Arial" pitchFamily="34" charset="-120"/>
                        </a:rPr>
                        <a:t>17.8%</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r>
              <a:tr h="475488">
                <a:tc>
                  <a:txBody>
                    <a:bodyPr/>
                    <a:lstStyle/>
                    <a:p>
                      <a:pPr algn="l" indent="0" marL="0">
                        <a:buNone/>
                      </a:pPr>
                      <a:r>
                        <a:rPr lang="en-US" sz="1400" dirty="0">
                          <a:solidFill>
                            <a:srgbClr val="E4E8EF"/>
                          </a:solidFill>
                          <a:latin typeface="Courier New" pitchFamily="34" charset="0"/>
                          <a:ea typeface="Courier New" pitchFamily="34" charset="-122"/>
                          <a:cs typeface="Courier New" pitchFamily="34" charset="-120"/>
                        </a:rPr>
                        <a:t>card_addr_prev_count_24h</a:t>
                      </a:r>
                      <a:endParaRPr lang="en-US" sz="1400" dirty="0">
                        <a:latin typeface="Courier New" charset="0"/>
                        <a:ea typeface="Courier New" charset="0"/>
                        <a:cs typeface="Courier New"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l" indent="0" marL="0">
                        <a:buNone/>
                      </a:pPr>
                      <a:r>
                        <a:rPr lang="en-US" sz="1400" dirty="0">
                          <a:solidFill>
                            <a:srgbClr val="E4E8EF"/>
                          </a:solidFill>
                          <a:latin typeface="Arial" pitchFamily="34" charset="0"/>
                          <a:ea typeface="Arial" pitchFamily="34" charset="-122"/>
                          <a:cs typeface="Arial" pitchFamily="34" charset="-120"/>
                        </a:rPr>
                        <a:t>card and address</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c>
                  <a:txBody>
                    <a:bodyPr/>
                    <a:lstStyle/>
                    <a:p>
                      <a:pPr algn="r" indent="0" marL="0">
                        <a:buNone/>
                      </a:pPr>
                      <a:r>
                        <a:rPr lang="en-US" sz="1400" dirty="0">
                          <a:solidFill>
                            <a:srgbClr val="E4E8EF"/>
                          </a:solidFill>
                          <a:latin typeface="Arial" pitchFamily="34" charset="0"/>
                          <a:ea typeface="Arial" pitchFamily="34" charset="-122"/>
                          <a:cs typeface="Arial" pitchFamily="34" charset="-120"/>
                        </a:rPr>
                        <a:t>49.5%</a:t>
                      </a:r>
                      <a:endParaRPr lang="en-US" sz="1400" dirty="0">
                        <a:latin typeface="Arial" charset="0"/>
                        <a:ea typeface="Arial" charset="0"/>
                        <a:cs typeface="Arial" charset="0"/>
                      </a:endParaRPr>
                    </a:p>
                  </a:txBody>
                  <a:tcPr marL="109728" marR="109728" marT="0" marB="0" anchor="ctr">
                    <a:lnL w="9525" cap="flat" cmpd="sng" algn="ctr">
                      <a:solidFill>
                        <a:srgbClr val="2C3A5A"/>
                      </a:solidFill>
                      <a:prstDash val="solid"/>
                      <a:round/>
                      <a:headEnd type="none" w="med" len="med"/>
                      <a:tailEnd type="none" w="med" len="med"/>
                    </a:lnL>
                    <a:lnR w="9525" cap="flat" cmpd="sng" algn="ctr">
                      <a:solidFill>
                        <a:srgbClr val="2C3A5A"/>
                      </a:solidFill>
                      <a:prstDash val="solid"/>
                      <a:round/>
                      <a:headEnd type="none" w="med" len="med"/>
                      <a:tailEnd type="none" w="med" len="med"/>
                    </a:lnR>
                    <a:lnT w="9525" cap="flat" cmpd="sng" algn="ctr">
                      <a:solidFill>
                        <a:srgbClr val="2C3A5A"/>
                      </a:solidFill>
                      <a:prstDash val="solid"/>
                      <a:round/>
                      <a:headEnd type="none" w="med" len="med"/>
                      <a:tailEnd type="none" w="med" len="med"/>
                    </a:lnT>
                    <a:lnB w="9525" cap="flat" cmpd="sng" algn="ctr">
                      <a:solidFill>
                        <a:srgbClr val="2C3A5A"/>
                      </a:solidFill>
                      <a:prstDash val="solid"/>
                      <a:round/>
                      <a:headEnd type="none" w="med" len="med"/>
                      <a:tailEnd type="none" w="med" len="med"/>
                    </a:lnB>
                    <a:solidFill>
                      <a:srgbClr val="1B2640"/>
                    </a:solidFill>
                  </a:tcPr>
                </a:tc>
              </a:tr>
            </a:tbl>
          </a:graphicData>
        </a:graphic>
      </p:graphicFrame>
      <p:sp>
        <p:nvSpPr>
          <p:cNvPr id="6" name="clkFace"/>
          <p:cNvSpPr/>
          <p:nvPr/>
        </p:nvSpPr>
        <p:spPr>
          <a:xfrm>
            <a:off x="9436608" y="2670048"/>
            <a:ext cx="1609344" cy="1609344"/>
          </a:xfrm>
          <a:prstGeom prst="ellipse">
            <a:avLst/>
          </a:prstGeom>
          <a:solidFill>
            <a:srgbClr val="1B2640"/>
          </a:solidFill>
          <a:ln w="25400">
            <a:solidFill>
              <a:srgbClr val="2C3A5A"/>
            </a:solidFill>
            <a:prstDash val="solid"/>
          </a:ln>
        </p:spPr>
      </p:sp>
      <p:sp>
        <p:nvSpPr>
          <p:cNvPr id="7" name="clkRing"/>
          <p:cNvSpPr/>
          <p:nvPr/>
        </p:nvSpPr>
        <p:spPr>
          <a:xfrm>
            <a:off x="9390888" y="2624328"/>
            <a:ext cx="1700784" cy="1700784"/>
          </a:xfrm>
          <a:prstGeom prst="blockArc">
            <a:avLst>
              <a:gd name="adj1" fmla="val 16200000"/>
              <a:gd name="adj2" fmla="val 16194000"/>
              <a:gd name="adj3" fmla="val 5000"/>
            </a:avLst>
          </a:prstGeom>
          <a:solidFill>
            <a:srgbClr val="E8743B"/>
          </a:solidFill>
          <a:ln/>
        </p:spPr>
      </p:sp>
      <p:sp>
        <p:nvSpPr>
          <p:cNvPr id="8" name="clkTick0"/>
          <p:cNvSpPr/>
          <p:nvPr/>
        </p:nvSpPr>
        <p:spPr>
          <a:xfrm>
            <a:off x="10241280" y="2779776"/>
            <a:ext cx="914" cy="118872"/>
          </a:xfrm>
          <a:prstGeom prst="line">
            <a:avLst/>
          </a:prstGeom>
          <a:noFill/>
          <a:ln w="38100">
            <a:solidFill>
              <a:srgbClr val="8C97AB"/>
            </a:solidFill>
            <a:prstDash val="solid"/>
          </a:ln>
        </p:spPr>
      </p:sp>
      <p:sp>
        <p:nvSpPr>
          <p:cNvPr id="9" name="clkTick1"/>
          <p:cNvSpPr/>
          <p:nvPr/>
        </p:nvSpPr>
        <p:spPr>
          <a:xfrm>
            <a:off x="10817352" y="3474720"/>
            <a:ext cx="118872" cy="914"/>
          </a:xfrm>
          <a:prstGeom prst="line">
            <a:avLst/>
          </a:prstGeom>
          <a:noFill/>
          <a:ln w="38100">
            <a:solidFill>
              <a:srgbClr val="8C97AB"/>
            </a:solidFill>
            <a:prstDash val="solid"/>
          </a:ln>
        </p:spPr>
      </p:sp>
      <p:sp>
        <p:nvSpPr>
          <p:cNvPr id="10" name="clkTick2"/>
          <p:cNvSpPr/>
          <p:nvPr/>
        </p:nvSpPr>
        <p:spPr>
          <a:xfrm>
            <a:off x="10241280" y="4050792"/>
            <a:ext cx="914" cy="118872"/>
          </a:xfrm>
          <a:prstGeom prst="line">
            <a:avLst/>
          </a:prstGeom>
          <a:noFill/>
          <a:ln w="38100">
            <a:solidFill>
              <a:srgbClr val="8C97AB"/>
            </a:solidFill>
            <a:prstDash val="solid"/>
          </a:ln>
        </p:spPr>
      </p:sp>
      <p:sp>
        <p:nvSpPr>
          <p:cNvPr id="11" name="clkTick3"/>
          <p:cNvSpPr/>
          <p:nvPr/>
        </p:nvSpPr>
        <p:spPr>
          <a:xfrm>
            <a:off x="9546336" y="3474720"/>
            <a:ext cx="118872" cy="914"/>
          </a:xfrm>
          <a:prstGeom prst="line">
            <a:avLst/>
          </a:prstGeom>
          <a:noFill/>
          <a:ln w="38100">
            <a:solidFill>
              <a:srgbClr val="8C97AB"/>
            </a:solidFill>
            <a:prstDash val="solid"/>
          </a:ln>
        </p:spPr>
      </p:sp>
      <p:sp>
        <p:nvSpPr>
          <p:cNvPr id="12" name="clkShort"/>
          <p:cNvSpPr/>
          <p:nvPr/>
        </p:nvSpPr>
        <p:spPr>
          <a:xfrm>
            <a:off x="10241280" y="3474720"/>
            <a:ext cx="336499" cy="914"/>
          </a:xfrm>
          <a:prstGeom prst="line">
            <a:avLst/>
          </a:prstGeom>
          <a:noFill/>
          <a:ln w="63500">
            <a:solidFill>
              <a:srgbClr val="C3CCDA"/>
            </a:solidFill>
            <a:prstDash val="solid"/>
          </a:ln>
        </p:spPr>
      </p:sp>
      <p:sp>
        <p:nvSpPr>
          <p:cNvPr id="13" name="clkHand"/>
          <p:cNvSpPr/>
          <p:nvPr/>
        </p:nvSpPr>
        <p:spPr>
          <a:xfrm>
            <a:off x="9756648" y="2990088"/>
            <a:ext cx="969264" cy="969264"/>
          </a:xfrm>
          <a:prstGeom prst="pie">
            <a:avLst>
              <a:gd name="adj1" fmla="val 15900000"/>
              <a:gd name="adj2" fmla="val 16500000"/>
            </a:avLst>
          </a:prstGeom>
          <a:solidFill>
            <a:srgbClr val="F5F3EE"/>
          </a:solidFill>
          <a:ln/>
        </p:spPr>
      </p:sp>
      <p:sp>
        <p:nvSpPr>
          <p:cNvPr id="14" name="clkDot"/>
          <p:cNvSpPr/>
          <p:nvPr/>
        </p:nvSpPr>
        <p:spPr>
          <a:xfrm>
            <a:off x="10168128" y="3401568"/>
            <a:ext cx="146304" cy="146304"/>
          </a:xfrm>
          <a:prstGeom prst="ellipse">
            <a:avLst/>
          </a:prstGeom>
          <a:solidFill>
            <a:srgbClr val="E8743B"/>
          </a:solidFill>
          <a:ln w="12700">
            <a:solidFill>
              <a:srgbClr val="E8743B"/>
            </a:solidFill>
            <a:prstDash val="solid"/>
          </a:ln>
        </p:spPr>
      </p:sp>
      <p:sp>
        <p:nvSpPr>
          <p:cNvPr id="15" name="Text 12"/>
          <p:cNvSpPr txBox="1"/>
          <p:nvPr/>
        </p:nvSpPr>
        <p:spPr>
          <a:xfrm>
            <a:off x="9144000" y="4663440"/>
            <a:ext cx="2194560" cy="320040"/>
          </a:xfrm>
          <a:prstGeom prst="rect">
            <a:avLst/>
          </a:prstGeom>
          <a:noFill/>
          <a:ln/>
        </p:spPr>
        <p:txBody>
          <a:bodyPr wrap="square" lIns="0" tIns="0" rIns="0" bIns="0" rtlCol="0" anchor="t"/>
          <a:lstStyle/>
          <a:p>
            <a:pPr algn="ctr" indent="0" marL="0">
              <a:buNone/>
            </a:pPr>
            <a:r>
              <a:rPr lang="en-US" sz="1200" dirty="0">
                <a:solidFill>
                  <a:srgbClr val="8C97AB"/>
                </a:solidFill>
                <a:latin typeface="Arial" pitchFamily="34" charset="0"/>
                <a:ea typeface="Arial" pitchFamily="34" charset="-122"/>
                <a:cs typeface="Arial" pitchFamily="34" charset="-120"/>
              </a:rPr>
              <a:t>24-hour look-back</a:t>
            </a:r>
            <a:endParaRPr lang="en-US" sz="1200" dirty="0"/>
          </a:p>
        </p:txBody>
      </p:sp>
      <p:sp>
        <p:nvSpPr>
          <p:cNvPr id="16" name="Text 13"/>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8C97AB"/>
                </a:solidFill>
                <a:latin typeface="Arial" pitchFamily="34" charset="0"/>
                <a:ea typeface="Arial" pitchFamily="34" charset="-122"/>
                <a:cs typeface="Arial" pitchFamily="34" charset="-120"/>
              </a:rPr>
              <a:t>Fraud Ring Detection · Group 8</a:t>
            </a:r>
            <a:endParaRPr lang="en-US" sz="1100" dirty="0"/>
          </a:p>
        </p:txBody>
      </p:sp>
      <p:sp>
        <p:nvSpPr>
          <p:cNvPr id="17" name="Text 14"/>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8C97AB"/>
                </a:solidFill>
                <a:latin typeface="Arial" pitchFamily="34" charset="0"/>
                <a:ea typeface="Arial" pitchFamily="34" charset="-122"/>
                <a:cs typeface="Arial" pitchFamily="34" charset="-120"/>
              </a:rPr>
              <a:t>7</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400"/>
                                        <p:tgtEl>
                                          <p:spTgt spid="7"/>
                                        </p:tgtEl>
                                      </p:cBhvr>
                                    </p:animEffect>
                                  </p:childTnLst>
                                </p:cTn>
                              </p:par>
                              <p:par>
                                <p:cTn id="8" presetID="8" presetClass="emph" presetSubtype="0" decel="100000" fill="hold" grpId="0" nodeType="withEffect">
                                  <p:stCondLst>
                                    <p:cond delay="0"/>
                                  </p:stCondLst>
                                  <p:childTnLst>
                                    <p:animRot by="43200000">
                                      <p:cBhvr>
                                        <p:cTn id="9" dur="24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B04A16"/>
                </a:solidFill>
                <a:latin typeface="Arial" pitchFamily="34" charset="0"/>
                <a:ea typeface="Arial" pitchFamily="34" charset="-122"/>
                <a:cs typeface="Arial" pitchFamily="34" charset="-120"/>
              </a:rPr>
              <a:t>7 · MODELS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111A2E"/>
                </a:solidFill>
                <a:latin typeface="Arial" pitchFamily="34" charset="0"/>
                <a:ea typeface="Arial" pitchFamily="34" charset="-122"/>
                <a:cs typeface="Arial" pitchFamily="34" charset="-120"/>
              </a:rPr>
              <a:t>XGBoost versus a neural network</a:t>
            </a:r>
            <a:endParaRPr lang="en-US" sz="3200" dirty="0"/>
          </a:p>
        </p:txBody>
      </p:sp>
      <p:sp>
        <p:nvSpPr>
          <p:cNvPr id="4" name="Shape 2"/>
          <p:cNvSpPr/>
          <p:nvPr/>
        </p:nvSpPr>
        <p:spPr>
          <a:xfrm>
            <a:off x="612648" y="1691640"/>
            <a:ext cx="5394960" cy="3383280"/>
          </a:xfrm>
          <a:prstGeom prst="roundRect">
            <a:avLst>
              <a:gd name="adj" fmla="val 3243"/>
            </a:avLst>
          </a:prstGeom>
          <a:solidFill>
            <a:srgbClr val="FCFBF8"/>
          </a:solidFill>
          <a:ln w="12700">
            <a:solidFill>
              <a:srgbClr val="DDD8CC"/>
            </a:solidFill>
            <a:prstDash val="solid"/>
          </a:ln>
        </p:spPr>
      </p:sp>
      <p:sp>
        <p:nvSpPr>
          <p:cNvPr id="5" name="Shape 3"/>
          <p:cNvSpPr/>
          <p:nvPr/>
        </p:nvSpPr>
        <p:spPr>
          <a:xfrm>
            <a:off x="932688" y="1965960"/>
            <a:ext cx="457200" cy="457200"/>
          </a:xfrm>
          <a:prstGeom prst="ellipse">
            <a:avLst/>
          </a:prstGeom>
          <a:solidFill>
            <a:srgbClr val="E8743B"/>
          </a:solidFill>
          <a:ln w="12700">
            <a:solidFill>
              <a:srgbClr val="E8743B"/>
            </a:solidFill>
            <a:prstDash val="solid"/>
          </a:ln>
        </p:spPr>
      </p:sp>
      <p:sp>
        <p:nvSpPr>
          <p:cNvPr id="6" name="Text 4"/>
          <p:cNvSpPr txBox="1"/>
          <p:nvPr/>
        </p:nvSpPr>
        <p:spPr>
          <a:xfrm>
            <a:off x="1572768" y="1965960"/>
            <a:ext cx="4206240" cy="457200"/>
          </a:xfrm>
          <a:prstGeom prst="rect">
            <a:avLst/>
          </a:prstGeom>
          <a:noFill/>
          <a:ln/>
        </p:spPr>
        <p:txBody>
          <a:bodyPr wrap="square" lIns="0" tIns="0" rIns="0" bIns="0" rtlCol="0" anchor="ctr"/>
          <a:lstStyle/>
          <a:p>
            <a:pPr indent="0" marL="0">
              <a:buNone/>
            </a:pPr>
            <a:r>
              <a:rPr lang="en-US" sz="2200" b="1" dirty="0">
                <a:solidFill>
                  <a:srgbClr val="111A2E"/>
                </a:solidFill>
                <a:latin typeface="Arial" pitchFamily="34" charset="0"/>
                <a:ea typeface="Arial" pitchFamily="34" charset="-122"/>
                <a:cs typeface="Arial" pitchFamily="34" charset="-120"/>
              </a:rPr>
              <a:t>XGBoost</a:t>
            </a:r>
            <a:endParaRPr lang="en-US" sz="2200" dirty="0"/>
          </a:p>
        </p:txBody>
      </p:sp>
      <p:sp>
        <p:nvSpPr>
          <p:cNvPr id="7" name="Text 5"/>
          <p:cNvSpPr txBox="1"/>
          <p:nvPr/>
        </p:nvSpPr>
        <p:spPr>
          <a:xfrm>
            <a:off x="932688" y="2697480"/>
            <a:ext cx="484632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300 trees, depth 6, learning rate 0.05</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80% row and column sampling</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Handles missing values natively</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Fraud weighted 27.5×</a:t>
            </a:r>
            <a:endParaRPr lang="en-US" sz="1600" dirty="0"/>
          </a:p>
        </p:txBody>
      </p:sp>
      <p:sp>
        <p:nvSpPr>
          <p:cNvPr id="8" name="Shape 6"/>
          <p:cNvSpPr/>
          <p:nvPr/>
        </p:nvSpPr>
        <p:spPr>
          <a:xfrm>
            <a:off x="6190488" y="1691640"/>
            <a:ext cx="5394960" cy="3383280"/>
          </a:xfrm>
          <a:prstGeom prst="roundRect">
            <a:avLst>
              <a:gd name="adj" fmla="val 3243"/>
            </a:avLst>
          </a:prstGeom>
          <a:solidFill>
            <a:srgbClr val="FCFBF8"/>
          </a:solidFill>
          <a:ln w="12700">
            <a:solidFill>
              <a:srgbClr val="DDD8CC"/>
            </a:solidFill>
            <a:prstDash val="solid"/>
          </a:ln>
        </p:spPr>
      </p:sp>
      <p:sp>
        <p:nvSpPr>
          <p:cNvPr id="9" name="Shape 7"/>
          <p:cNvSpPr/>
          <p:nvPr/>
        </p:nvSpPr>
        <p:spPr>
          <a:xfrm>
            <a:off x="6510528" y="1965960"/>
            <a:ext cx="457200" cy="457200"/>
          </a:xfrm>
          <a:prstGeom prst="ellipse">
            <a:avLst/>
          </a:prstGeom>
          <a:solidFill>
            <a:srgbClr val="3B6FD4"/>
          </a:solidFill>
          <a:ln w="12700">
            <a:solidFill>
              <a:srgbClr val="3B6FD4"/>
            </a:solidFill>
            <a:prstDash val="solid"/>
          </a:ln>
        </p:spPr>
      </p:sp>
      <p:sp>
        <p:nvSpPr>
          <p:cNvPr id="10" name="Text 8"/>
          <p:cNvSpPr txBox="1"/>
          <p:nvPr/>
        </p:nvSpPr>
        <p:spPr>
          <a:xfrm>
            <a:off x="7150608" y="1965960"/>
            <a:ext cx="4206240" cy="457200"/>
          </a:xfrm>
          <a:prstGeom prst="rect">
            <a:avLst/>
          </a:prstGeom>
          <a:noFill/>
          <a:ln/>
        </p:spPr>
        <p:txBody>
          <a:bodyPr wrap="square" lIns="0" tIns="0" rIns="0" bIns="0" rtlCol="0" anchor="ctr"/>
          <a:lstStyle/>
          <a:p>
            <a:pPr indent="0" marL="0">
              <a:buNone/>
            </a:pPr>
            <a:r>
              <a:rPr lang="en-US" sz="2200" b="1" dirty="0">
                <a:solidFill>
                  <a:srgbClr val="111A2E"/>
                </a:solidFill>
                <a:latin typeface="Arial" pitchFamily="34" charset="0"/>
                <a:ea typeface="Arial" pitchFamily="34" charset="-122"/>
                <a:cs typeface="Arial" pitchFamily="34" charset="-120"/>
              </a:rPr>
              <a:t>Neural network (ANN)</a:t>
            </a:r>
            <a:endParaRPr lang="en-US" sz="2200" dirty="0"/>
          </a:p>
        </p:txBody>
      </p:sp>
      <p:sp>
        <p:nvSpPr>
          <p:cNvPr id="11" name="Text 9"/>
          <p:cNvSpPr txBox="1"/>
          <p:nvPr/>
        </p:nvSpPr>
        <p:spPr>
          <a:xfrm>
            <a:off x="6510528" y="2697480"/>
            <a:ext cx="4846320" cy="21945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Dense layers 256 → 128 → 64</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Batch normalisation and dropout</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Median fill and standard scaling</a:t>
            </a:r>
            <a:endParaRPr lang="en-US" sz="1600" dirty="0"/>
          </a:p>
          <a:p>
            <a:pPr marL="342900" indent="-342900">
              <a:spcAft>
                <a:spcPts val="800"/>
              </a:spcAft>
              <a:buSzPct val="100000"/>
              <a:buChar char="•"/>
            </a:pPr>
            <a:r>
              <a:rPr lang="en-US" sz="1600" dirty="0">
                <a:solidFill>
                  <a:srgbClr val="3F4A5C"/>
                </a:solidFill>
                <a:latin typeface="Arial" pitchFamily="34" charset="0"/>
                <a:ea typeface="Arial" pitchFamily="34" charset="-122"/>
                <a:cs typeface="Arial" pitchFamily="34" charset="-120"/>
              </a:rPr>
              <a:t>Early stopping, fraud weighted 27.5×</a:t>
            </a:r>
            <a:endParaRPr lang="en-US" sz="1600" dirty="0"/>
          </a:p>
        </p:txBody>
      </p:sp>
      <p:sp>
        <p:nvSpPr>
          <p:cNvPr id="12" name="Text 10"/>
          <p:cNvSpPr txBox="1"/>
          <p:nvPr/>
        </p:nvSpPr>
        <p:spPr>
          <a:xfrm>
            <a:off x="612648" y="5257800"/>
            <a:ext cx="10972800" cy="822960"/>
          </a:xfrm>
          <a:prstGeom prst="rect">
            <a:avLst/>
          </a:prstGeom>
          <a:noFill/>
          <a:ln/>
        </p:spPr>
        <p:txBody>
          <a:bodyPr wrap="square" lIns="0" tIns="0" rIns="0" bIns="0" rtlCol="0" anchor="t"/>
          <a:lstStyle/>
          <a:p>
            <a:pPr indent="0" marL="0">
              <a:buNone/>
            </a:pPr>
            <a:r>
              <a:rPr lang="en-US" sz="1600" dirty="0">
                <a:solidFill>
                  <a:srgbClr val="1E2638"/>
                </a:solidFill>
                <a:latin typeface="Arial" pitchFamily="34" charset="0"/>
                <a:ea typeface="Arial" pitchFamily="34" charset="-122"/>
                <a:cs typeface="Arial" pitchFamily="34" charset="-120"/>
              </a:rPr>
              <a:t>Same split, same metrics, same class weight. The only difference inside each pair is the five historical features. We also tried GraphSAGE and RGCN; neither beat XGBoost.</a:t>
            </a:r>
            <a:endParaRPr lang="en-US" sz="1600" dirty="0"/>
          </a:p>
        </p:txBody>
      </p:sp>
      <p:sp>
        <p:nvSpPr>
          <p:cNvPr id="13" name="Text 11"/>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5E6778"/>
                </a:solidFill>
                <a:latin typeface="Arial" pitchFamily="34" charset="0"/>
                <a:ea typeface="Arial" pitchFamily="34" charset="-122"/>
                <a:cs typeface="Arial" pitchFamily="34" charset="-120"/>
              </a:rPr>
              <a:t>Fraud Ring Detection · Group 8</a:t>
            </a:r>
            <a:endParaRPr lang="en-US" sz="1100" dirty="0"/>
          </a:p>
        </p:txBody>
      </p:sp>
      <p:sp>
        <p:nvSpPr>
          <p:cNvPr id="14" name="Text 12"/>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8</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8 · COMPARISON</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F5F3EE"/>
                </a:solidFill>
                <a:latin typeface="Arial" pitchFamily="34" charset="0"/>
                <a:ea typeface="Arial" pitchFamily="34" charset="-122"/>
                <a:cs typeface="Arial" pitchFamily="34" charset="-120"/>
              </a:rPr>
              <a:t>XGBoost wins; new features add a little</a:t>
            </a:r>
            <a:endParaRPr lang="en-US" sz="3200" dirty="0"/>
          </a:p>
        </p:txBody>
      </p:sp>
      <p:graphicFrame>
        <p:nvGraphicFramePr>
          <p:cNvPr id="4" name="cmpChart" descr=""/>
          <p:cNvGraphicFramePr/>
          <p:nvPr/>
        </p:nvGraphicFramePr>
        <p:xfrm>
          <a:off x="612648" y="1645920"/>
          <a:ext cx="1097280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12648" y="5394960"/>
            <a:ext cx="10972800" cy="640080"/>
          </a:xfrm>
          <a:prstGeom prst="rect">
            <a:avLst/>
          </a:prstGeom>
          <a:noFill/>
          <a:ln/>
        </p:spPr>
        <p:txBody>
          <a:bodyPr wrap="square" lIns="0" tIns="0" rIns="0" bIns="0" rtlCol="0" anchor="t"/>
          <a:lstStyle/>
          <a:p>
            <a:pPr indent="0" marL="0">
              <a:buNone/>
            </a:pPr>
            <a:r>
              <a:rPr lang="en-US" sz="1500" dirty="0">
                <a:solidFill>
                  <a:srgbClr val="C3CCDA"/>
                </a:solidFill>
                <a:latin typeface="Arial" pitchFamily="34" charset="0"/>
                <a:ea typeface="Arial" pitchFamily="34" charset="-122"/>
                <a:cs typeface="Arial" pitchFamily="34" charset="-120"/>
              </a:rPr>
              <a:t>Features for XGBoost: </a:t>
            </a:r>
            <a:pPr indent="0" marL="0">
              <a:buNone/>
            </a:pPr>
            <a:r>
              <a:rPr lang="en-US" sz="1500" b="1" dirty="0">
                <a:solidFill>
                  <a:srgbClr val="F5F3EE"/>
                </a:solidFill>
                <a:latin typeface="Arial" pitchFamily="34" charset="0"/>
                <a:ea typeface="Arial" pitchFamily="34" charset="-122"/>
                <a:cs typeface="Arial" pitchFamily="34" charset="-120"/>
              </a:rPr>
              <a:t>+0.0017 AP</a:t>
            </a:r>
            <a:pPr indent="0" marL="0">
              <a:buNone/>
            </a:pPr>
            <a:r>
              <a:rPr lang="en-US" sz="1500" dirty="0">
                <a:solidFill>
                  <a:srgbClr val="C3CCDA"/>
                </a:solidFill>
                <a:latin typeface="Arial" pitchFamily="34" charset="0"/>
                <a:ea typeface="Arial" pitchFamily="34" charset="-122"/>
                <a:cs typeface="Arial" pitchFamily="34" charset="-120"/>
              </a:rPr>
              <a:t>. For the ANN: ROC-AUC up 0.011 but AP down 0.011. XGBoost leads the ANN by about 0.07 AP.</a:t>
            </a:r>
            <a:endParaRPr lang="en-US" sz="1500" dirty="0"/>
          </a:p>
        </p:txBody>
      </p:sp>
      <p:sp>
        <p:nvSpPr>
          <p:cNvPr id="6" name="Text 3"/>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8C97AB"/>
                </a:solidFill>
                <a:latin typeface="Arial" pitchFamily="34" charset="0"/>
                <a:ea typeface="Arial" pitchFamily="34" charset="-122"/>
                <a:cs typeface="Arial" pitchFamily="34" charset="-120"/>
              </a:rPr>
              <a:t>Validation period: newest 118,108 transactions</a:t>
            </a:r>
            <a:endParaRPr lang="en-US" sz="1100" dirty="0"/>
          </a:p>
        </p:txBody>
      </p:sp>
      <p:sp>
        <p:nvSpPr>
          <p:cNvPr id="7" name="Text 4"/>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8C97AB"/>
                </a:solidFill>
                <a:latin typeface="Arial" pitchFamily="34" charset="0"/>
                <a:ea typeface="Arial" pitchFamily="34" charset="-122"/>
                <a:cs typeface="Arial" pitchFamily="34" charset="-120"/>
              </a:rPr>
              <a:t>9</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743B"/>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t"/>
          <a:lstStyle/>
          <a:p>
            <a:pPr indent="0" marL="0">
              <a:buNone/>
            </a:pPr>
            <a:r>
              <a:rPr lang="en-US" sz="1200" b="1" spc="200" kern="0" dirty="0">
                <a:solidFill>
                  <a:srgbClr val="111A2E"/>
                </a:solidFill>
                <a:latin typeface="Arial" pitchFamily="34" charset="0"/>
                <a:ea typeface="Arial" pitchFamily="34" charset="-122"/>
                <a:cs typeface="Arial" pitchFamily="34" charset="-120"/>
              </a:rPr>
              <a:t>9 · FINAL MODEL</a:t>
            </a:r>
            <a:endParaRPr lang="en-US" sz="1200" dirty="0"/>
          </a:p>
        </p:txBody>
      </p:sp>
      <p:sp>
        <p:nvSpPr>
          <p:cNvPr id="3" name="Text 1"/>
          <p:cNvSpPr txBox="1"/>
          <p:nvPr/>
        </p:nvSpPr>
        <p:spPr>
          <a:xfrm>
            <a:off x="612648" y="822960"/>
            <a:ext cx="10972800" cy="822960"/>
          </a:xfrm>
          <a:prstGeom prst="rect">
            <a:avLst/>
          </a:prstGeom>
          <a:noFill/>
          <a:ln/>
        </p:spPr>
        <p:txBody>
          <a:bodyPr wrap="square" lIns="0" tIns="0" rIns="0" bIns="0" rtlCol="0" anchor="t"/>
          <a:lstStyle/>
          <a:p>
            <a:pPr indent="0" marL="0">
              <a:buNone/>
            </a:pPr>
            <a:r>
              <a:rPr lang="en-US" sz="3800" b="1" dirty="0">
                <a:solidFill>
                  <a:srgbClr val="111A2E"/>
                </a:solidFill>
                <a:latin typeface="Arial" pitchFamily="34" charset="0"/>
                <a:ea typeface="Arial" pitchFamily="34" charset="-122"/>
                <a:cs typeface="Arial" pitchFamily="34" charset="-120"/>
              </a:rPr>
              <a:t>XGBoost + historical features</a:t>
            </a:r>
            <a:endParaRPr lang="en-US" sz="3800" dirty="0"/>
          </a:p>
        </p:txBody>
      </p:sp>
      <p:sp>
        <p:nvSpPr>
          <p:cNvPr id="4" name="fc0"/>
          <p:cNvSpPr/>
          <p:nvPr/>
        </p:nvSpPr>
        <p:spPr>
          <a:xfrm>
            <a:off x="612648" y="2148840"/>
            <a:ext cx="3529584" cy="2148840"/>
          </a:xfrm>
          <a:prstGeom prst="roundRect">
            <a:avLst>
              <a:gd name="adj" fmla="val 5106"/>
            </a:avLst>
          </a:prstGeom>
          <a:solidFill>
            <a:srgbClr val="F5F3EE"/>
          </a:solidFill>
          <a:ln w="12700">
            <a:solidFill>
              <a:srgbClr val="F5F3EE"/>
            </a:solidFill>
            <a:prstDash val="solid"/>
          </a:ln>
        </p:spPr>
      </p:sp>
      <p:sp>
        <p:nvSpPr>
          <p:cNvPr id="5" name="fn0"/>
          <p:cNvSpPr txBox="1"/>
          <p:nvPr/>
        </p:nvSpPr>
        <p:spPr>
          <a:xfrm>
            <a:off x="886968" y="2377440"/>
            <a:ext cx="3017520" cy="822960"/>
          </a:xfrm>
          <a:prstGeom prst="rect">
            <a:avLst/>
          </a:prstGeom>
          <a:noFill/>
          <a:ln/>
        </p:spPr>
        <p:txBody>
          <a:bodyPr wrap="square" lIns="0" tIns="0" rIns="0" bIns="0" rtlCol="0" anchor="t"/>
          <a:lstStyle/>
          <a:p>
            <a:pPr indent="0" marL="0">
              <a:buNone/>
            </a:pPr>
            <a:r>
              <a:rPr lang="en-US" sz="4800" b="1" dirty="0">
                <a:solidFill>
                  <a:srgbClr val="111A2E"/>
                </a:solidFill>
                <a:latin typeface="Arial" pitchFamily="34" charset="0"/>
                <a:ea typeface="Arial" pitchFamily="34" charset="-122"/>
                <a:cs typeface="Arial" pitchFamily="34" charset="-120"/>
              </a:rPr>
              <a:t>0.521</a:t>
            </a:r>
            <a:endParaRPr lang="en-US" sz="4800" dirty="0"/>
          </a:p>
        </p:txBody>
      </p:sp>
      <p:sp>
        <p:nvSpPr>
          <p:cNvPr id="6" name="fl0"/>
          <p:cNvSpPr txBox="1"/>
          <p:nvPr/>
        </p:nvSpPr>
        <p:spPr>
          <a:xfrm>
            <a:off x="886968" y="3246120"/>
            <a:ext cx="3017520" cy="365760"/>
          </a:xfrm>
          <a:prstGeom prst="rect">
            <a:avLst/>
          </a:prstGeom>
          <a:noFill/>
          <a:ln/>
        </p:spPr>
        <p:txBody>
          <a:bodyPr wrap="square" lIns="0" tIns="0" rIns="0" bIns="0" rtlCol="0" anchor="t"/>
          <a:lstStyle/>
          <a:p>
            <a:pPr indent="0" marL="0">
              <a:buNone/>
            </a:pPr>
            <a:r>
              <a:rPr lang="en-US" sz="1600" b="1" dirty="0">
                <a:solidFill>
                  <a:srgbClr val="111A2E"/>
                </a:solidFill>
                <a:latin typeface="Arial" pitchFamily="34" charset="0"/>
                <a:ea typeface="Arial" pitchFamily="34" charset="-122"/>
                <a:cs typeface="Arial" pitchFamily="34" charset="-120"/>
              </a:rPr>
              <a:t>Average Precision</a:t>
            </a:r>
            <a:endParaRPr lang="en-US" sz="1600" dirty="0"/>
          </a:p>
        </p:txBody>
      </p:sp>
      <p:sp>
        <p:nvSpPr>
          <p:cNvPr id="7" name="fd0"/>
          <p:cNvSpPr txBox="1"/>
          <p:nvPr/>
        </p:nvSpPr>
        <p:spPr>
          <a:xfrm>
            <a:off x="886968" y="3611880"/>
            <a:ext cx="3017520" cy="502920"/>
          </a:xfrm>
          <a:prstGeom prst="rect">
            <a:avLst/>
          </a:prstGeom>
          <a:noFill/>
          <a:ln/>
        </p:spPr>
        <p:txBody>
          <a:bodyPr wrap="square" lIns="0" tIns="0" rIns="0" bIns="0" rtlCol="0" anchor="t"/>
          <a:lstStyle/>
          <a:p>
            <a:pPr indent="0" marL="0">
              <a:buNone/>
            </a:pPr>
            <a:r>
              <a:rPr lang="en-US" sz="1300" dirty="0">
                <a:solidFill>
                  <a:srgbClr val="3F4A5C"/>
                </a:solidFill>
                <a:latin typeface="Arial" pitchFamily="34" charset="0"/>
                <a:ea typeface="Arial" pitchFamily="34" charset="-122"/>
                <a:cs typeface="Arial" pitchFamily="34" charset="-120"/>
              </a:rPr>
              <a:t>About 15× a random guess (0.034)</a:t>
            </a:r>
            <a:endParaRPr lang="en-US" sz="1300" dirty="0"/>
          </a:p>
        </p:txBody>
      </p:sp>
      <p:sp>
        <p:nvSpPr>
          <p:cNvPr id="8" name="fc1"/>
          <p:cNvSpPr/>
          <p:nvPr/>
        </p:nvSpPr>
        <p:spPr>
          <a:xfrm>
            <a:off x="4334256" y="2148840"/>
            <a:ext cx="3529584" cy="2148840"/>
          </a:xfrm>
          <a:prstGeom prst="roundRect">
            <a:avLst>
              <a:gd name="adj" fmla="val 5106"/>
            </a:avLst>
          </a:prstGeom>
          <a:solidFill>
            <a:srgbClr val="F5F3EE"/>
          </a:solidFill>
          <a:ln w="12700">
            <a:solidFill>
              <a:srgbClr val="F5F3EE"/>
            </a:solidFill>
            <a:prstDash val="solid"/>
          </a:ln>
        </p:spPr>
      </p:sp>
      <p:sp>
        <p:nvSpPr>
          <p:cNvPr id="9" name="fn1"/>
          <p:cNvSpPr txBox="1"/>
          <p:nvPr/>
        </p:nvSpPr>
        <p:spPr>
          <a:xfrm>
            <a:off x="4608576" y="2377440"/>
            <a:ext cx="3017520" cy="822960"/>
          </a:xfrm>
          <a:prstGeom prst="rect">
            <a:avLst/>
          </a:prstGeom>
          <a:noFill/>
          <a:ln/>
        </p:spPr>
        <p:txBody>
          <a:bodyPr wrap="square" lIns="0" tIns="0" rIns="0" bIns="0" rtlCol="0" anchor="t"/>
          <a:lstStyle/>
          <a:p>
            <a:pPr indent="0" marL="0">
              <a:buNone/>
            </a:pPr>
            <a:r>
              <a:rPr lang="en-US" sz="4800" b="1" dirty="0">
                <a:solidFill>
                  <a:srgbClr val="111A2E"/>
                </a:solidFill>
                <a:latin typeface="Arial" pitchFamily="34" charset="0"/>
                <a:ea typeface="Arial" pitchFamily="34" charset="-122"/>
                <a:cs typeface="Arial" pitchFamily="34" charset="-120"/>
              </a:rPr>
              <a:t>0.909</a:t>
            </a:r>
            <a:endParaRPr lang="en-US" sz="4800" dirty="0"/>
          </a:p>
        </p:txBody>
      </p:sp>
      <p:sp>
        <p:nvSpPr>
          <p:cNvPr id="10" name="fl1"/>
          <p:cNvSpPr txBox="1"/>
          <p:nvPr/>
        </p:nvSpPr>
        <p:spPr>
          <a:xfrm>
            <a:off x="4608576" y="3246120"/>
            <a:ext cx="3017520" cy="365760"/>
          </a:xfrm>
          <a:prstGeom prst="rect">
            <a:avLst/>
          </a:prstGeom>
          <a:noFill/>
          <a:ln/>
        </p:spPr>
        <p:txBody>
          <a:bodyPr wrap="square" lIns="0" tIns="0" rIns="0" bIns="0" rtlCol="0" anchor="t"/>
          <a:lstStyle/>
          <a:p>
            <a:pPr indent="0" marL="0">
              <a:buNone/>
            </a:pPr>
            <a:r>
              <a:rPr lang="en-US" sz="1600" b="1" dirty="0">
                <a:solidFill>
                  <a:srgbClr val="111A2E"/>
                </a:solidFill>
                <a:latin typeface="Arial" pitchFamily="34" charset="0"/>
                <a:ea typeface="Arial" pitchFamily="34" charset="-122"/>
                <a:cs typeface="Arial" pitchFamily="34" charset="-120"/>
              </a:rPr>
              <a:t>ROC-AUC</a:t>
            </a:r>
            <a:endParaRPr lang="en-US" sz="1600" dirty="0"/>
          </a:p>
        </p:txBody>
      </p:sp>
      <p:sp>
        <p:nvSpPr>
          <p:cNvPr id="11" name="fd1"/>
          <p:cNvSpPr txBox="1"/>
          <p:nvPr/>
        </p:nvSpPr>
        <p:spPr>
          <a:xfrm>
            <a:off x="4608576" y="3611880"/>
            <a:ext cx="3017520" cy="502920"/>
          </a:xfrm>
          <a:prstGeom prst="rect">
            <a:avLst/>
          </a:prstGeom>
          <a:noFill/>
          <a:ln/>
        </p:spPr>
        <p:txBody>
          <a:bodyPr wrap="square" lIns="0" tIns="0" rIns="0" bIns="0" rtlCol="0" anchor="t"/>
          <a:lstStyle/>
          <a:p>
            <a:pPr indent="0" marL="0">
              <a:buNone/>
            </a:pPr>
            <a:r>
              <a:rPr lang="en-US" sz="1300" dirty="0">
                <a:solidFill>
                  <a:srgbClr val="3F4A5C"/>
                </a:solidFill>
                <a:latin typeface="Arial" pitchFamily="34" charset="0"/>
                <a:ea typeface="Arial" pitchFamily="34" charset="-122"/>
                <a:cs typeface="Arial" pitchFamily="34" charset="-120"/>
              </a:rPr>
              <a:t>Best of all four models</a:t>
            </a:r>
            <a:endParaRPr lang="en-US" sz="1300" dirty="0"/>
          </a:p>
        </p:txBody>
      </p:sp>
      <p:sp>
        <p:nvSpPr>
          <p:cNvPr id="12" name="fc2"/>
          <p:cNvSpPr/>
          <p:nvPr/>
        </p:nvSpPr>
        <p:spPr>
          <a:xfrm>
            <a:off x="8055864" y="2148840"/>
            <a:ext cx="3529584" cy="2148840"/>
          </a:xfrm>
          <a:prstGeom prst="roundRect">
            <a:avLst>
              <a:gd name="adj" fmla="val 5106"/>
            </a:avLst>
          </a:prstGeom>
          <a:solidFill>
            <a:srgbClr val="F5F3EE"/>
          </a:solidFill>
          <a:ln w="12700">
            <a:solidFill>
              <a:srgbClr val="F5F3EE"/>
            </a:solidFill>
            <a:prstDash val="solid"/>
          </a:ln>
        </p:spPr>
      </p:sp>
      <p:sp>
        <p:nvSpPr>
          <p:cNvPr id="13" name="fn2"/>
          <p:cNvSpPr txBox="1"/>
          <p:nvPr/>
        </p:nvSpPr>
        <p:spPr>
          <a:xfrm>
            <a:off x="8330184" y="2377440"/>
            <a:ext cx="3017520" cy="822960"/>
          </a:xfrm>
          <a:prstGeom prst="rect">
            <a:avLst/>
          </a:prstGeom>
          <a:noFill/>
          <a:ln/>
        </p:spPr>
        <p:txBody>
          <a:bodyPr wrap="square" lIns="0" tIns="0" rIns="0" bIns="0" rtlCol="0" anchor="t"/>
          <a:lstStyle/>
          <a:p>
            <a:pPr indent="0" marL="0">
              <a:buNone/>
            </a:pPr>
            <a:r>
              <a:rPr lang="en-US" sz="4800" b="1" dirty="0">
                <a:solidFill>
                  <a:srgbClr val="111A2E"/>
                </a:solidFill>
                <a:latin typeface="Arial" pitchFamily="34" charset="0"/>
                <a:ea typeface="Arial" pitchFamily="34" charset="-122"/>
                <a:cs typeface="Arial" pitchFamily="34" charset="-120"/>
              </a:rPr>
              <a:t>74%</a:t>
            </a:r>
            <a:endParaRPr lang="en-US" sz="4800" dirty="0"/>
          </a:p>
        </p:txBody>
      </p:sp>
      <p:sp>
        <p:nvSpPr>
          <p:cNvPr id="14" name="fl2"/>
          <p:cNvSpPr txBox="1"/>
          <p:nvPr/>
        </p:nvSpPr>
        <p:spPr>
          <a:xfrm>
            <a:off x="8330184" y="3246120"/>
            <a:ext cx="3017520" cy="365760"/>
          </a:xfrm>
          <a:prstGeom prst="rect">
            <a:avLst/>
          </a:prstGeom>
          <a:noFill/>
          <a:ln/>
        </p:spPr>
        <p:txBody>
          <a:bodyPr wrap="square" lIns="0" tIns="0" rIns="0" bIns="0" rtlCol="0" anchor="t"/>
          <a:lstStyle/>
          <a:p>
            <a:pPr indent="0" marL="0">
              <a:buNone/>
            </a:pPr>
            <a:r>
              <a:rPr lang="en-US" sz="1600" b="1" dirty="0">
                <a:solidFill>
                  <a:srgbClr val="111A2E"/>
                </a:solidFill>
                <a:latin typeface="Arial" pitchFamily="34" charset="0"/>
                <a:ea typeface="Arial" pitchFamily="34" charset="-122"/>
                <a:cs typeface="Arial" pitchFamily="34" charset="-120"/>
              </a:rPr>
              <a:t>of fraud caught</a:t>
            </a:r>
            <a:endParaRPr lang="en-US" sz="1600" dirty="0"/>
          </a:p>
        </p:txBody>
      </p:sp>
      <p:sp>
        <p:nvSpPr>
          <p:cNvPr id="15" name="fd2"/>
          <p:cNvSpPr txBox="1"/>
          <p:nvPr/>
        </p:nvSpPr>
        <p:spPr>
          <a:xfrm>
            <a:off x="8330184" y="3611880"/>
            <a:ext cx="3017520" cy="502920"/>
          </a:xfrm>
          <a:prstGeom prst="rect">
            <a:avLst/>
          </a:prstGeom>
          <a:noFill/>
          <a:ln/>
        </p:spPr>
        <p:txBody>
          <a:bodyPr wrap="square" lIns="0" tIns="0" rIns="0" bIns="0" rtlCol="0" anchor="t"/>
          <a:lstStyle/>
          <a:p>
            <a:pPr indent="0" marL="0">
              <a:buNone/>
            </a:pPr>
            <a:r>
              <a:rPr lang="en-US" sz="1300" dirty="0">
                <a:solidFill>
                  <a:srgbClr val="3F4A5C"/>
                </a:solidFill>
                <a:latin typeface="Arial" pitchFamily="34" charset="0"/>
                <a:ea typeface="Arial" pitchFamily="34" charset="-122"/>
                <a:cs typeface="Arial" pitchFamily="34" charset="-120"/>
              </a:rPr>
              <a:t>3,014 of 4,064 at threshold 0.50</a:t>
            </a:r>
            <a:endParaRPr lang="en-US" sz="1300" dirty="0"/>
          </a:p>
        </p:txBody>
      </p:sp>
      <p:sp>
        <p:nvSpPr>
          <p:cNvPr id="16" name="fwhy"/>
          <p:cNvSpPr txBox="1"/>
          <p:nvPr/>
        </p:nvSpPr>
        <p:spPr>
          <a:xfrm>
            <a:off x="612648" y="4709160"/>
            <a:ext cx="10972800" cy="822960"/>
          </a:xfrm>
          <a:prstGeom prst="rect">
            <a:avLst/>
          </a:prstGeom>
          <a:noFill/>
          <a:ln/>
        </p:spPr>
        <p:txBody>
          <a:bodyPr wrap="square" lIns="0" tIns="0" rIns="0" bIns="0" rtlCol="0" anchor="t"/>
          <a:lstStyle/>
          <a:p>
            <a:pPr indent="0" marL="0">
              <a:buNone/>
            </a:pPr>
            <a:r>
              <a:rPr lang="en-US" sz="1700" dirty="0">
                <a:solidFill>
                  <a:srgbClr val="111A2E"/>
                </a:solidFill>
                <a:latin typeface="Arial" pitchFamily="34" charset="0"/>
                <a:ea typeface="Arial" pitchFamily="34" charset="-122"/>
                <a:cs typeface="Arial" pitchFamily="34" charset="-120"/>
              </a:rPr>
              <a:t>Why this one: highest scores, fast to train, handles missing data, and explainable with SHAP. Plain XGBoost is a close, simpler alternative.</a:t>
            </a:r>
            <a:endParaRPr lang="en-US" sz="1700" dirty="0"/>
          </a:p>
        </p:txBody>
      </p:sp>
      <p:sp>
        <p:nvSpPr>
          <p:cNvPr id="17" name="Text 15"/>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10</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6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6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B04A16"/>
                </a:solidFill>
                <a:latin typeface="Arial" pitchFamily="34" charset="0"/>
                <a:ea typeface="Arial" pitchFamily="34" charset="-122"/>
                <a:cs typeface="Arial" pitchFamily="34" charset="-120"/>
              </a:rPr>
              <a:t>9 · FINAL MODEL</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111A2E"/>
                </a:solidFill>
                <a:latin typeface="Arial" pitchFamily="34" charset="0"/>
                <a:ea typeface="Arial" pitchFamily="34" charset="-122"/>
                <a:cs typeface="Arial" pitchFamily="34" charset="-120"/>
              </a:rPr>
              <a:t>The alert threshold is a business decision</a:t>
            </a:r>
            <a:endParaRPr lang="en-US" sz="3200" dirty="0"/>
          </a:p>
        </p:txBody>
      </p:sp>
      <p:graphicFrame>
        <p:nvGraphicFramePr>
          <p:cNvPr id="4" name="thrChart" descr=""/>
          <p:cNvGraphicFramePr/>
          <p:nvPr/>
        </p:nvGraphicFramePr>
        <p:xfrm>
          <a:off x="612648" y="1645920"/>
          <a:ext cx="566928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83680" y="1737360"/>
          <a:ext cx="5001768" cy="914400"/>
        </p:xfrm>
        <a:graphic>
          <a:graphicData uri="http://schemas.openxmlformats.org/drawingml/2006/table">
            <a:tbl>
              <a:tblPr/>
              <a:tblGrid>
                <a:gridCol w="1554480"/>
                <a:gridCol w="1051560"/>
                <a:gridCol w="1051560"/>
                <a:gridCol w="1344168"/>
              </a:tblGrid>
              <a:tr h="411480">
                <a:tc>
                  <a:txBody>
                    <a:bodyPr/>
                    <a:lstStyle/>
                    <a:p>
                      <a:pPr indent="0" marL="0">
                        <a:buNone/>
                      </a:pPr>
                      <a:r>
                        <a:rPr lang="en-US" sz="1300" b="1" dirty="0">
                          <a:solidFill>
                            <a:srgbClr val="FFFFFF"/>
                          </a:solidFill>
                          <a:latin typeface="Arial" pitchFamily="34" charset="0"/>
                          <a:ea typeface="Arial" pitchFamily="34" charset="-122"/>
                          <a:cs typeface="Arial" pitchFamily="34" charset="-120"/>
                        </a:rPr>
                        <a:t>Threshold</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Caught</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Missed</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False alerts</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111A2E"/>
                    </a:solidFill>
                  </a:tcPr>
                </a:tc>
              </a:tr>
              <a:tr h="411480">
                <a:tc>
                  <a:txBody>
                    <a:bodyPr/>
                    <a:lstStyle/>
                    <a:p>
                      <a:pPr algn="l" indent="0" marL="0">
                        <a:buNone/>
                      </a:pPr>
                      <a:r>
                        <a:rPr lang="en-US" sz="1300" dirty="0">
                          <a:solidFill>
                            <a:srgbClr val="1E2638"/>
                          </a:solidFill>
                          <a:latin typeface="Arial" pitchFamily="34" charset="0"/>
                          <a:ea typeface="Arial" pitchFamily="34" charset="-122"/>
                          <a:cs typeface="Arial" pitchFamily="34" charset="-120"/>
                        </a:rPr>
                        <a:t>0.30</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3,546</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518</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25,511</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r>
              <a:tr h="411480">
                <a:tc>
                  <a:txBody>
                    <a:bodyPr/>
                    <a:lstStyle/>
                    <a:p>
                      <a:pPr algn="l" indent="0" marL="0">
                        <a:buNone/>
                      </a:pPr>
                      <a:r>
                        <a:rPr lang="en-US" sz="1300" dirty="0">
                          <a:solidFill>
                            <a:srgbClr val="1E2638"/>
                          </a:solidFill>
                          <a:latin typeface="Arial" pitchFamily="34" charset="0"/>
                          <a:ea typeface="Arial" pitchFamily="34" charset="-122"/>
                          <a:cs typeface="Arial" pitchFamily="34" charset="-120"/>
                        </a:rPr>
                        <a:t>0.50 (default)</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3,014</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1,050</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11,108</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EBE6DA"/>
                    </a:solidFill>
                  </a:tcPr>
                </a:tc>
              </a:tr>
              <a:tr h="411480">
                <a:tc>
                  <a:txBody>
                    <a:bodyPr/>
                    <a:lstStyle/>
                    <a:p>
                      <a:pPr algn="l" indent="0" marL="0">
                        <a:buNone/>
                      </a:pPr>
                      <a:r>
                        <a:rPr lang="en-US" sz="1300" dirty="0">
                          <a:solidFill>
                            <a:srgbClr val="1E2638"/>
                          </a:solidFill>
                          <a:latin typeface="Arial" pitchFamily="34" charset="0"/>
                          <a:ea typeface="Arial" pitchFamily="34" charset="-122"/>
                          <a:cs typeface="Arial" pitchFamily="34" charset="-120"/>
                        </a:rPr>
                        <a:t>0.70</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2,350</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1,714</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3,948</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r>
              <a:tr h="411480">
                <a:tc>
                  <a:txBody>
                    <a:bodyPr/>
                    <a:lstStyle/>
                    <a:p>
                      <a:pPr algn="l" indent="0" marL="0">
                        <a:buNone/>
                      </a:pPr>
                      <a:r>
                        <a:rPr lang="en-US" sz="1300" dirty="0">
                          <a:solidFill>
                            <a:srgbClr val="1E2638"/>
                          </a:solidFill>
                          <a:latin typeface="Arial" pitchFamily="34" charset="0"/>
                          <a:ea typeface="Arial" pitchFamily="34" charset="-122"/>
                          <a:cs typeface="Arial" pitchFamily="34" charset="-120"/>
                        </a:rPr>
                        <a:t>0.80</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1,938</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2,126</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E2638"/>
                          </a:solidFill>
                          <a:latin typeface="Arial" pitchFamily="34" charset="0"/>
                          <a:ea typeface="Arial" pitchFamily="34" charset="-122"/>
                          <a:cs typeface="Arial" pitchFamily="34" charset="-120"/>
                        </a:rPr>
                        <a:t>1,796</a:t>
                      </a:r>
                      <a:endParaRPr lang="en-US" sz="1300" dirty="0">
                        <a:latin typeface="Arial" charset="0"/>
                        <a:ea typeface="Arial" charset="0"/>
                        <a:cs typeface="Arial" charset="0"/>
                      </a:endParaRPr>
                    </a:p>
                  </a:txBody>
                  <a:tcPr marL="91440" marR="91440" marT="0" marB="0" anchor="ctr">
                    <a:lnL w="9525" cap="flat" cmpd="sng" algn="ctr">
                      <a:solidFill>
                        <a:srgbClr val="DDD8CC"/>
                      </a:solidFill>
                      <a:prstDash val="solid"/>
                      <a:round/>
                      <a:headEnd type="none" w="med" len="med"/>
                      <a:tailEnd type="none" w="med" len="med"/>
                    </a:lnL>
                    <a:lnR w="9525" cap="flat" cmpd="sng" algn="ctr">
                      <a:solidFill>
                        <a:srgbClr val="DDD8CC"/>
                      </a:solidFill>
                      <a:prstDash val="solid"/>
                      <a:round/>
                      <a:headEnd type="none" w="med" len="med"/>
                      <a:tailEnd type="none" w="med" len="med"/>
                    </a:lnR>
                    <a:lnT w="9525" cap="flat" cmpd="sng" algn="ctr">
                      <a:solidFill>
                        <a:srgbClr val="DDD8CC"/>
                      </a:solidFill>
                      <a:prstDash val="solid"/>
                      <a:round/>
                      <a:headEnd type="none" w="med" len="med"/>
                      <a:tailEnd type="none" w="med" len="med"/>
                    </a:lnT>
                    <a:lnB w="9525" cap="flat" cmpd="sng" algn="ctr">
                      <a:solidFill>
                        <a:srgbClr val="DDD8CC"/>
                      </a:solidFill>
                      <a:prstDash val="solid"/>
                      <a:round/>
                      <a:headEnd type="none" w="med" len="med"/>
                      <a:tailEnd type="none" w="med" len="med"/>
                    </a:lnB>
                    <a:solidFill>
                      <a:srgbClr val="FCFBF8"/>
                    </a:solidFill>
                  </a:tcPr>
                </a:tc>
              </a:tr>
            </a:tbl>
          </a:graphicData>
        </a:graphic>
      </p:graphicFrame>
      <p:sp>
        <p:nvSpPr>
          <p:cNvPr id="6" name="Shape 2"/>
          <p:cNvSpPr/>
          <p:nvPr/>
        </p:nvSpPr>
        <p:spPr>
          <a:xfrm>
            <a:off x="6583680" y="4023360"/>
            <a:ext cx="5001768" cy="868680"/>
          </a:xfrm>
          <a:prstGeom prst="roundRect">
            <a:avLst>
              <a:gd name="adj" fmla="val 12632"/>
            </a:avLst>
          </a:prstGeom>
          <a:solidFill>
            <a:srgbClr val="FCFBF8"/>
          </a:solidFill>
          <a:ln w="12700">
            <a:solidFill>
              <a:srgbClr val="DDD8CC"/>
            </a:solidFill>
            <a:prstDash val="solid"/>
          </a:ln>
        </p:spPr>
      </p:sp>
      <p:sp>
        <p:nvSpPr>
          <p:cNvPr id="7" name="Text 3"/>
          <p:cNvSpPr txBox="1"/>
          <p:nvPr/>
        </p:nvSpPr>
        <p:spPr>
          <a:xfrm>
            <a:off x="6812280" y="4133088"/>
            <a:ext cx="4572000" cy="685800"/>
          </a:xfrm>
          <a:prstGeom prst="rect">
            <a:avLst/>
          </a:prstGeom>
          <a:noFill/>
          <a:ln/>
        </p:spPr>
        <p:txBody>
          <a:bodyPr wrap="square" lIns="0" tIns="0" rIns="0" bIns="0" rtlCol="0" anchor="t"/>
          <a:lstStyle/>
          <a:p>
            <a:pPr indent="0" marL="0">
              <a:buNone/>
            </a:pPr>
            <a:r>
              <a:rPr lang="en-US" sz="1300" b="1" dirty="0">
                <a:solidFill>
                  <a:srgbClr val="111A2E"/>
                </a:solidFill>
                <a:latin typeface="Arial" pitchFamily="34" charset="0"/>
                <a:ea typeface="Arial" pitchFamily="34" charset="-122"/>
                <a:cs typeface="Arial" pitchFamily="34" charset="-120"/>
              </a:rPr>
              <a:t>Must stop most fraud → 0.30–0.50</a:t>
            </a:r>
            <a:endParaRPr lang="en-US" sz="1300" dirty="0"/>
          </a:p>
          <a:p>
            <a:pPr indent="0" marL="0">
              <a:buNone/>
            </a:pPr>
            <a:r>
              <a:rPr lang="en-US" sz="1300" dirty="0">
                <a:solidFill>
                  <a:srgbClr val="3F4A5C"/>
                </a:solidFill>
                <a:latin typeface="Arial" pitchFamily="34" charset="0"/>
                <a:ea typeface="Arial" pitchFamily="34" charset="-122"/>
                <a:cs typeface="Arial" pitchFamily="34" charset="-120"/>
              </a:rPr>
              <a:t>Needs a larger team to review alerts.</a:t>
            </a:r>
            <a:endParaRPr lang="en-US" sz="1300" dirty="0"/>
          </a:p>
        </p:txBody>
      </p:sp>
      <p:sp>
        <p:nvSpPr>
          <p:cNvPr id="8" name="Shape 4"/>
          <p:cNvSpPr/>
          <p:nvPr/>
        </p:nvSpPr>
        <p:spPr>
          <a:xfrm>
            <a:off x="6583680" y="5029200"/>
            <a:ext cx="5001768" cy="868680"/>
          </a:xfrm>
          <a:prstGeom prst="roundRect">
            <a:avLst>
              <a:gd name="adj" fmla="val 12632"/>
            </a:avLst>
          </a:prstGeom>
          <a:solidFill>
            <a:srgbClr val="FCFBF8"/>
          </a:solidFill>
          <a:ln w="12700">
            <a:solidFill>
              <a:srgbClr val="DDD8CC"/>
            </a:solidFill>
            <a:prstDash val="solid"/>
          </a:ln>
        </p:spPr>
      </p:sp>
      <p:sp>
        <p:nvSpPr>
          <p:cNvPr id="9" name="Text 5"/>
          <p:cNvSpPr txBox="1"/>
          <p:nvPr/>
        </p:nvSpPr>
        <p:spPr>
          <a:xfrm>
            <a:off x="6812280" y="5138928"/>
            <a:ext cx="4572000" cy="685800"/>
          </a:xfrm>
          <a:prstGeom prst="rect">
            <a:avLst/>
          </a:prstGeom>
          <a:noFill/>
          <a:ln/>
        </p:spPr>
        <p:txBody>
          <a:bodyPr wrap="square" lIns="0" tIns="0" rIns="0" bIns="0" rtlCol="0" anchor="t"/>
          <a:lstStyle/>
          <a:p>
            <a:pPr indent="0" marL="0">
              <a:buNone/>
            </a:pPr>
            <a:r>
              <a:rPr lang="en-US" sz="1300" b="1" dirty="0">
                <a:solidFill>
                  <a:srgbClr val="111A2E"/>
                </a:solidFill>
                <a:latin typeface="Arial" pitchFamily="34" charset="0"/>
                <a:ea typeface="Arial" pitchFamily="34" charset="-122"/>
                <a:cs typeface="Arial" pitchFamily="34" charset="-120"/>
              </a:rPr>
              <a:t>Small review team → 0.70–0.80</a:t>
            </a:r>
            <a:endParaRPr lang="en-US" sz="1300" dirty="0"/>
          </a:p>
          <a:p>
            <a:pPr indent="0" marL="0">
              <a:buNone/>
            </a:pPr>
            <a:r>
              <a:rPr lang="en-US" sz="1300" dirty="0">
                <a:solidFill>
                  <a:srgbClr val="3F4A5C"/>
                </a:solidFill>
                <a:latin typeface="Arial" pitchFamily="34" charset="0"/>
                <a:ea typeface="Arial" pitchFamily="34" charset="-122"/>
                <a:cs typeface="Arial" pitchFamily="34" charset="-120"/>
              </a:rPr>
              <a:t>65–85% fewer false alerts, about half of fraud missed.</a:t>
            </a:r>
            <a:endParaRPr lang="en-US" sz="1300" dirty="0"/>
          </a:p>
        </p:txBody>
      </p:sp>
      <p:sp>
        <p:nvSpPr>
          <p:cNvPr id="10" name="Text 6"/>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5E6778"/>
                </a:solidFill>
                <a:latin typeface="Arial" pitchFamily="34" charset="0"/>
                <a:ea typeface="Arial" pitchFamily="34" charset="-122"/>
                <a:cs typeface="Arial" pitchFamily="34" charset="-120"/>
              </a:rPr>
              <a:t>4,064 frauds in the validation period</a:t>
            </a:r>
            <a:endParaRPr lang="en-US" sz="1100" dirty="0"/>
          </a:p>
        </p:txBody>
      </p:sp>
      <p:sp>
        <p:nvSpPr>
          <p:cNvPr id="11" name="Text 7"/>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11</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9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B04A16"/>
                </a:solidFill>
                <a:latin typeface="Arial" pitchFamily="34" charset="0"/>
                <a:ea typeface="Arial" pitchFamily="34" charset="-122"/>
                <a:cs typeface="Arial" pitchFamily="34" charset="-120"/>
              </a:rPr>
              <a:t>10 · INSIGHTS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111A2E"/>
                </a:solidFill>
                <a:latin typeface="Arial" pitchFamily="34" charset="0"/>
                <a:ea typeface="Arial" pitchFamily="34" charset="-122"/>
                <a:cs typeface="Arial" pitchFamily="34" charset="-120"/>
              </a:rPr>
              <a:t>What drives the predictions</a:t>
            </a:r>
            <a:endParaRPr lang="en-US" sz="3200" dirty="0"/>
          </a:p>
        </p:txBody>
      </p:sp>
      <p:sp>
        <p:nvSpPr>
          <p:cNvPr id="4" name="Shape 2"/>
          <p:cNvSpPr/>
          <p:nvPr/>
        </p:nvSpPr>
        <p:spPr>
          <a:xfrm>
            <a:off x="612648" y="1600200"/>
            <a:ext cx="3749040" cy="4526280"/>
          </a:xfrm>
          <a:prstGeom prst="roundRect">
            <a:avLst>
              <a:gd name="adj" fmla="val 2439"/>
            </a:avLst>
          </a:prstGeom>
          <a:solidFill>
            <a:srgbClr val="FFFFFF"/>
          </a:solidFill>
          <a:ln w="12700">
            <a:solidFill>
              <a:srgbClr val="DDD8CC"/>
            </a:solidFill>
            <a:prstDash val="solid"/>
          </a:ln>
        </p:spPr>
      </p:sp>
      <p:pic>
        <p:nvPicPr>
          <p:cNvPr id="5" name="Image 0" descr="SHAP summary plot of the top 20 features influencing fraud predictions">    </p:cNvPr>
          <p:cNvPicPr>
            <a:picLocks noChangeAspect="1"/>
          </p:cNvPicPr>
          <p:nvPr/>
        </p:nvPicPr>
        <p:blipFill>
          <a:blip r:embed="rId1"/>
          <a:stretch>
            <a:fillRect/>
          </a:stretch>
        </p:blipFill>
        <p:spPr>
          <a:xfrm>
            <a:off x="704088" y="1645920"/>
            <a:ext cx="3566160" cy="4306824"/>
          </a:xfrm>
          <a:prstGeom prst="rect">
            <a:avLst/>
          </a:prstGeom>
        </p:spPr>
      </p:pic>
      <p:sp>
        <p:nvSpPr>
          <p:cNvPr id="6" name="Text 3"/>
          <p:cNvSpPr txBox="1"/>
          <p:nvPr/>
        </p:nvSpPr>
        <p:spPr>
          <a:xfrm>
            <a:off x="4800600" y="1691640"/>
            <a:ext cx="6766560" cy="411480"/>
          </a:xfrm>
          <a:prstGeom prst="rect">
            <a:avLst/>
          </a:prstGeom>
          <a:noFill/>
          <a:ln/>
        </p:spPr>
        <p:txBody>
          <a:bodyPr wrap="square" lIns="0" tIns="0" rIns="0" bIns="0" rtlCol="0" anchor="t"/>
          <a:lstStyle/>
          <a:p>
            <a:pPr indent="0" marL="0">
              <a:buNone/>
            </a:pPr>
            <a:r>
              <a:rPr lang="en-US" sz="1800" b="1" dirty="0">
                <a:solidFill>
                  <a:srgbClr val="111A2E"/>
                </a:solidFill>
                <a:latin typeface="Arial" pitchFamily="34" charset="0"/>
                <a:ea typeface="Arial" pitchFamily="34" charset="-122"/>
                <a:cs typeface="Arial" pitchFamily="34" charset="-120"/>
              </a:rPr>
              <a:t>1. Transaction amount</a:t>
            </a:r>
            <a:endParaRPr lang="en-US" sz="1800" dirty="0"/>
          </a:p>
        </p:txBody>
      </p:sp>
      <p:sp>
        <p:nvSpPr>
          <p:cNvPr id="7" name="Text 4"/>
          <p:cNvSpPr txBox="1"/>
          <p:nvPr/>
        </p:nvSpPr>
        <p:spPr>
          <a:xfrm>
            <a:off x="4800600" y="2103120"/>
            <a:ext cx="6766560" cy="594360"/>
          </a:xfrm>
          <a:prstGeom prst="rect">
            <a:avLst/>
          </a:prstGeom>
          <a:noFill/>
          <a:ln/>
        </p:spPr>
        <p:txBody>
          <a:bodyPr wrap="square" lIns="0" tIns="0" rIns="0" bIns="0" rtlCol="0" anchor="t"/>
          <a:lstStyle/>
          <a:p>
            <a:pPr indent="0" marL="0">
              <a:buNone/>
            </a:pPr>
            <a:r>
              <a:rPr lang="en-US" sz="1400" dirty="0">
                <a:solidFill>
                  <a:srgbClr val="3F4A5C"/>
                </a:solidFill>
                <a:latin typeface="Arial" pitchFamily="34" charset="0"/>
                <a:ea typeface="Arial" pitchFamily="34" charset="-122"/>
                <a:cs typeface="Arial" pitchFamily="34" charset="-120"/>
              </a:rPr>
              <a:t>The strongest driver; higher amounts tend to raise the fraud score.</a:t>
            </a:r>
            <a:endParaRPr lang="en-US" sz="1400" dirty="0"/>
          </a:p>
        </p:txBody>
      </p:sp>
      <p:sp>
        <p:nvSpPr>
          <p:cNvPr id="8" name="Text 5"/>
          <p:cNvSpPr txBox="1"/>
          <p:nvPr/>
        </p:nvSpPr>
        <p:spPr>
          <a:xfrm>
            <a:off x="4800600" y="2788920"/>
            <a:ext cx="6766560" cy="411480"/>
          </a:xfrm>
          <a:prstGeom prst="rect">
            <a:avLst/>
          </a:prstGeom>
          <a:noFill/>
          <a:ln/>
        </p:spPr>
        <p:txBody>
          <a:bodyPr wrap="square" lIns="0" tIns="0" rIns="0" bIns="0" rtlCol="0" anchor="t"/>
          <a:lstStyle/>
          <a:p>
            <a:pPr indent="0" marL="0">
              <a:buNone/>
            </a:pPr>
            <a:r>
              <a:rPr lang="en-US" sz="1800" b="1" dirty="0">
                <a:solidFill>
                  <a:srgbClr val="111A2E"/>
                </a:solidFill>
                <a:latin typeface="Arial" pitchFamily="34" charset="0"/>
                <a:ea typeface="Arial" pitchFamily="34" charset="-122"/>
                <a:cs typeface="Arial" pitchFamily="34" charset="-120"/>
              </a:rPr>
              <a:t>2. Card type</a:t>
            </a:r>
            <a:endParaRPr lang="en-US" sz="1800" dirty="0"/>
          </a:p>
        </p:txBody>
      </p:sp>
      <p:sp>
        <p:nvSpPr>
          <p:cNvPr id="9" name="Text 6"/>
          <p:cNvSpPr txBox="1"/>
          <p:nvPr/>
        </p:nvSpPr>
        <p:spPr>
          <a:xfrm>
            <a:off x="4800600" y="3200400"/>
            <a:ext cx="6766560" cy="594360"/>
          </a:xfrm>
          <a:prstGeom prst="rect">
            <a:avLst/>
          </a:prstGeom>
          <a:noFill/>
          <a:ln/>
        </p:spPr>
        <p:txBody>
          <a:bodyPr wrap="square" lIns="0" tIns="0" rIns="0" bIns="0" rtlCol="0" anchor="t"/>
          <a:lstStyle/>
          <a:p>
            <a:pPr indent="0" marL="0">
              <a:buNone/>
            </a:pPr>
            <a:r>
              <a:rPr lang="en-US" sz="1400" dirty="0">
                <a:solidFill>
                  <a:srgbClr val="3F4A5C"/>
                </a:solidFill>
                <a:latin typeface="Arial" pitchFamily="34" charset="0"/>
                <a:ea typeface="Arial" pitchFamily="34" charset="-122"/>
                <a:cs typeface="Arial" pitchFamily="34" charset="-120"/>
              </a:rPr>
              <a:t>Matches the EDA: credit cards have almost 3× the fraud rate of debit.</a:t>
            </a:r>
            <a:endParaRPr lang="en-US" sz="1400" dirty="0"/>
          </a:p>
        </p:txBody>
      </p:sp>
      <p:sp>
        <p:nvSpPr>
          <p:cNvPr id="10" name="Text 7"/>
          <p:cNvSpPr txBox="1"/>
          <p:nvPr/>
        </p:nvSpPr>
        <p:spPr>
          <a:xfrm>
            <a:off x="4800600" y="3886200"/>
            <a:ext cx="6766560" cy="411480"/>
          </a:xfrm>
          <a:prstGeom prst="rect">
            <a:avLst/>
          </a:prstGeom>
          <a:noFill/>
          <a:ln/>
        </p:spPr>
        <p:txBody>
          <a:bodyPr wrap="square" lIns="0" tIns="0" rIns="0" bIns="0" rtlCol="0" anchor="t"/>
          <a:lstStyle/>
          <a:p>
            <a:pPr indent="0" marL="0">
              <a:buNone/>
            </a:pPr>
            <a:r>
              <a:rPr lang="en-US" sz="1800" b="1" dirty="0">
                <a:solidFill>
                  <a:srgbClr val="111A2E"/>
                </a:solidFill>
                <a:latin typeface="Arial" pitchFamily="34" charset="0"/>
                <a:ea typeface="Arial" pitchFamily="34" charset="-122"/>
                <a:cs typeface="Arial" pitchFamily="34" charset="-120"/>
              </a:rPr>
              <a:t>Anonymised C and V features</a:t>
            </a:r>
            <a:endParaRPr lang="en-US" sz="1800" dirty="0"/>
          </a:p>
        </p:txBody>
      </p:sp>
      <p:sp>
        <p:nvSpPr>
          <p:cNvPr id="11" name="Text 8"/>
          <p:cNvSpPr txBox="1"/>
          <p:nvPr/>
        </p:nvSpPr>
        <p:spPr>
          <a:xfrm>
            <a:off x="4800600" y="4297680"/>
            <a:ext cx="6766560" cy="594360"/>
          </a:xfrm>
          <a:prstGeom prst="rect">
            <a:avLst/>
          </a:prstGeom>
          <a:noFill/>
          <a:ln/>
        </p:spPr>
        <p:txBody>
          <a:bodyPr wrap="square" lIns="0" tIns="0" rIns="0" bIns="0" rtlCol="0" anchor="t"/>
          <a:lstStyle/>
          <a:p>
            <a:pPr indent="0" marL="0">
              <a:buNone/>
            </a:pPr>
            <a:r>
              <a:rPr lang="en-US" sz="1400" dirty="0">
                <a:solidFill>
                  <a:srgbClr val="3F4A5C"/>
                </a:solidFill>
                <a:latin typeface="Arial" pitchFamily="34" charset="0"/>
                <a:ea typeface="Arial" pitchFamily="34" charset="-122"/>
                <a:cs typeface="Arial" pitchFamily="34" charset="-120"/>
              </a:rPr>
              <a:t>Fill most of the top 10, but their meaning is hidden.</a:t>
            </a:r>
            <a:endParaRPr lang="en-US" sz="1400" dirty="0"/>
          </a:p>
        </p:txBody>
      </p:sp>
      <p:sp>
        <p:nvSpPr>
          <p:cNvPr id="12" name="Text 9"/>
          <p:cNvSpPr txBox="1"/>
          <p:nvPr/>
        </p:nvSpPr>
        <p:spPr>
          <a:xfrm>
            <a:off x="4800600" y="4983480"/>
            <a:ext cx="6766560" cy="411480"/>
          </a:xfrm>
          <a:prstGeom prst="rect">
            <a:avLst/>
          </a:prstGeom>
          <a:noFill/>
          <a:ln/>
        </p:spPr>
        <p:txBody>
          <a:bodyPr wrap="square" lIns="0" tIns="0" rIns="0" bIns="0" rtlCol="0" anchor="t"/>
          <a:lstStyle/>
          <a:p>
            <a:pPr indent="0" marL="0">
              <a:buNone/>
            </a:pPr>
            <a:r>
              <a:rPr lang="en-US" sz="1800" b="1" dirty="0">
                <a:solidFill>
                  <a:srgbClr val="B04A16"/>
                </a:solidFill>
                <a:latin typeface="Arial" pitchFamily="34" charset="0"/>
                <a:ea typeface="Arial" pitchFamily="34" charset="-122"/>
                <a:cs typeface="Arial" pitchFamily="34" charset="-120"/>
              </a:rPr>
              <a:t>Our card count ranks 17th of 428</a:t>
            </a:r>
            <a:endParaRPr lang="en-US" sz="1800" dirty="0"/>
          </a:p>
        </p:txBody>
      </p:sp>
      <p:sp>
        <p:nvSpPr>
          <p:cNvPr id="13" name="Text 10"/>
          <p:cNvSpPr txBox="1"/>
          <p:nvPr/>
        </p:nvSpPr>
        <p:spPr>
          <a:xfrm>
            <a:off x="4800600" y="5394960"/>
            <a:ext cx="6766560" cy="594360"/>
          </a:xfrm>
          <a:prstGeom prst="rect">
            <a:avLst/>
          </a:prstGeom>
          <a:noFill/>
          <a:ln/>
        </p:spPr>
        <p:txBody>
          <a:bodyPr wrap="square" lIns="0" tIns="0" rIns="0" bIns="0" rtlCol="0" anchor="t"/>
          <a:lstStyle/>
          <a:p>
            <a:pPr indent="0" marL="0">
              <a:buNone/>
            </a:pPr>
            <a:r>
              <a:rPr lang="en-US" sz="1400" dirty="0">
                <a:solidFill>
                  <a:srgbClr val="3F4A5C"/>
                </a:solidFill>
                <a:latin typeface="Arial" pitchFamily="34" charset="0"/>
                <a:ea typeface="Arial" pitchFamily="34" charset="-122"/>
                <a:cs typeface="Arial" pitchFamily="34" charset="-120"/>
              </a:rPr>
              <a:t>The best historical feature. The model uses it as a supporting signal, not a main driver.</a:t>
            </a:r>
            <a:endParaRPr lang="en-US" sz="1400" dirty="0"/>
          </a:p>
        </p:txBody>
      </p:sp>
      <p:sp>
        <p:nvSpPr>
          <p:cNvPr id="14" name="Text 11"/>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5E6778"/>
                </a:solidFill>
                <a:latin typeface="Arial" pitchFamily="34" charset="0"/>
                <a:ea typeface="Arial" pitchFamily="34" charset="-122"/>
                <a:cs typeface="Arial" pitchFamily="34" charset="-120"/>
              </a:rPr>
              <a:t>SHAP on 5,000 validation transactions</a:t>
            </a:r>
            <a:endParaRPr lang="en-US" sz="1100" dirty="0"/>
          </a:p>
        </p:txBody>
      </p:sp>
      <p:sp>
        <p:nvSpPr>
          <p:cNvPr id="15" name="Text 12"/>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12</a:t>
            </a:r>
            <a:endParaRPr lang="en-US" sz="11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11 · DASHBOARD</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F5F3EE"/>
                </a:solidFill>
                <a:latin typeface="Arial" pitchFamily="34" charset="0"/>
                <a:ea typeface="Arial" pitchFamily="34" charset="-122"/>
                <a:cs typeface="Arial" pitchFamily="34" charset="-120"/>
              </a:rPr>
              <a:t>MAKĀMIN | مكامن: from score to evidence</a:t>
            </a:r>
            <a:endParaRPr lang="en-US" sz="3200" dirty="0"/>
          </a:p>
        </p:txBody>
      </p:sp>
      <p:sp>
        <p:nvSpPr>
          <p:cNvPr id="4" name="Text 2"/>
          <p:cNvSpPr txBox="1"/>
          <p:nvPr/>
        </p:nvSpPr>
        <p:spPr>
          <a:xfrm>
            <a:off x="612648" y="1554480"/>
            <a:ext cx="10972800" cy="731520"/>
          </a:xfrm>
          <a:prstGeom prst="rect">
            <a:avLst/>
          </a:prstGeom>
          <a:noFill/>
          <a:ln/>
        </p:spPr>
        <p:txBody>
          <a:bodyPr wrap="square" lIns="0" tIns="0" rIns="0" bIns="0" rtlCol="0" anchor="t"/>
          <a:lstStyle/>
          <a:p>
            <a:pPr indent="0" marL="0">
              <a:lnSpc>
                <a:spcPct val="120000"/>
              </a:lnSpc>
              <a:buNone/>
            </a:pPr>
            <a:r>
              <a:rPr lang="en-US" sz="1700" dirty="0">
                <a:solidFill>
                  <a:srgbClr val="C3CCDA"/>
                </a:solidFill>
                <a:latin typeface="Arial" pitchFamily="34" charset="0"/>
                <a:ea typeface="Arial" pitchFamily="34" charset="-122"/>
                <a:cs typeface="Arial" pitchFamily="34" charset="-120"/>
              </a:rPr>
              <a:t>A Streamlit investigation dashboard over 5,000 validation transactions. Pick a transaction, then follow three steps.</a:t>
            </a:r>
            <a:endParaRPr lang="en-US" sz="1700" dirty="0"/>
          </a:p>
        </p:txBody>
      </p:sp>
      <p:sp>
        <p:nvSpPr>
          <p:cNvPr id="5" name="dc0"/>
          <p:cNvSpPr/>
          <p:nvPr/>
        </p:nvSpPr>
        <p:spPr>
          <a:xfrm>
            <a:off x="612648" y="2560320"/>
            <a:ext cx="3529584" cy="3108960"/>
          </a:xfrm>
          <a:prstGeom prst="roundRect">
            <a:avLst>
              <a:gd name="adj" fmla="val 3529"/>
            </a:avLst>
          </a:prstGeom>
          <a:solidFill>
            <a:srgbClr val="1B2640"/>
          </a:solidFill>
          <a:ln w="12700">
            <a:solidFill>
              <a:srgbClr val="2C3A5A"/>
            </a:solidFill>
            <a:prstDash val="solid"/>
          </a:ln>
        </p:spPr>
      </p:sp>
      <p:sp>
        <p:nvSpPr>
          <p:cNvPr id="6" name="dk0"/>
          <p:cNvSpPr txBox="1"/>
          <p:nvPr/>
        </p:nvSpPr>
        <p:spPr>
          <a:xfrm>
            <a:off x="886968" y="2788920"/>
            <a:ext cx="2980944" cy="320040"/>
          </a:xfrm>
          <a:prstGeom prst="rect">
            <a:avLst/>
          </a:prstGeom>
          <a:noFill/>
          <a:ln/>
        </p:spPr>
        <p:txBody>
          <a:bodyPr wrap="square" lIns="0" tIns="0" rIns="0" bIns="0" rtlCol="0" anchor="t"/>
          <a:lstStyle/>
          <a:p>
            <a:pPr indent="0" marL="0">
              <a:buNone/>
            </a:pPr>
            <a:r>
              <a:rPr lang="en-US" sz="1300" b="1" dirty="0">
                <a:solidFill>
                  <a:srgbClr val="E8743B"/>
                </a:solidFill>
                <a:latin typeface="Arial" pitchFamily="34" charset="0"/>
                <a:ea typeface="Arial" pitchFamily="34" charset="-122"/>
                <a:cs typeface="Arial" pitchFamily="34" charset="-120"/>
              </a:rPr>
              <a:t>1 · Prediction</a:t>
            </a:r>
            <a:endParaRPr lang="en-US" sz="1300" dirty="0"/>
          </a:p>
        </p:txBody>
      </p:sp>
      <p:sp>
        <p:nvSpPr>
          <p:cNvPr id="7" name="dh0"/>
          <p:cNvSpPr txBox="1"/>
          <p:nvPr/>
        </p:nvSpPr>
        <p:spPr>
          <a:xfrm>
            <a:off x="886968" y="3127248"/>
            <a:ext cx="2980944" cy="457200"/>
          </a:xfrm>
          <a:prstGeom prst="rect">
            <a:avLst/>
          </a:prstGeom>
          <a:noFill/>
          <a:ln/>
        </p:spPr>
        <p:txBody>
          <a:bodyPr wrap="square" lIns="0" tIns="0" rIns="0" bIns="0" rtlCol="0" anchor="t"/>
          <a:lstStyle/>
          <a:p>
            <a:pPr indent="0" marL="0">
              <a:buNone/>
            </a:pPr>
            <a:r>
              <a:rPr lang="en-US" sz="1900" b="1" dirty="0">
                <a:solidFill>
                  <a:srgbClr val="F5F3EE"/>
                </a:solidFill>
                <a:latin typeface="Arial" pitchFamily="34" charset="0"/>
                <a:ea typeface="Arial" pitchFamily="34" charset="-122"/>
                <a:cs typeface="Arial" pitchFamily="34" charset="-120"/>
              </a:rPr>
              <a:t>Risk score</a:t>
            </a:r>
            <a:endParaRPr lang="en-US" sz="1900" dirty="0"/>
          </a:p>
        </p:txBody>
      </p:sp>
      <p:sp>
        <p:nvSpPr>
          <p:cNvPr id="8" name="dv0a"/>
          <p:cNvSpPr/>
          <p:nvPr/>
        </p:nvSpPr>
        <p:spPr>
          <a:xfrm>
            <a:off x="886968" y="3886200"/>
            <a:ext cx="2980944" cy="182880"/>
          </a:xfrm>
          <a:prstGeom prst="roundRect">
            <a:avLst>
              <a:gd name="adj" fmla="val 50000"/>
            </a:avLst>
          </a:prstGeom>
          <a:solidFill>
            <a:srgbClr val="2C3A5A"/>
          </a:solidFill>
          <a:ln/>
        </p:spPr>
      </p:sp>
      <p:sp>
        <p:nvSpPr>
          <p:cNvPr id="9" name="dv0b"/>
          <p:cNvSpPr/>
          <p:nvPr/>
        </p:nvSpPr>
        <p:spPr>
          <a:xfrm>
            <a:off x="886968" y="3886200"/>
            <a:ext cx="2235708" cy="182880"/>
          </a:xfrm>
          <a:prstGeom prst="roundRect">
            <a:avLst>
              <a:gd name="adj" fmla="val 50000"/>
            </a:avLst>
          </a:prstGeom>
          <a:solidFill>
            <a:srgbClr val="E8743B"/>
          </a:solidFill>
          <a:ln/>
        </p:spPr>
      </p:sp>
      <p:sp>
        <p:nvSpPr>
          <p:cNvPr id="10" name="dv0c"/>
          <p:cNvSpPr/>
          <p:nvPr/>
        </p:nvSpPr>
        <p:spPr>
          <a:xfrm>
            <a:off x="2377440" y="3749040"/>
            <a:ext cx="914" cy="457200"/>
          </a:xfrm>
          <a:prstGeom prst="line">
            <a:avLst/>
          </a:prstGeom>
          <a:noFill/>
          <a:ln w="19050">
            <a:solidFill>
              <a:srgbClr val="F5F3EE"/>
            </a:solidFill>
            <a:prstDash val="dash"/>
          </a:ln>
        </p:spPr>
      </p:sp>
      <p:sp>
        <p:nvSpPr>
          <p:cNvPr id="11" name="dv0d"/>
          <p:cNvSpPr/>
          <p:nvPr/>
        </p:nvSpPr>
        <p:spPr>
          <a:xfrm>
            <a:off x="2994660" y="3849624"/>
            <a:ext cx="256032" cy="256032"/>
          </a:xfrm>
          <a:prstGeom prst="ellipse">
            <a:avLst/>
          </a:prstGeom>
          <a:solidFill>
            <a:srgbClr val="F5F3EE"/>
          </a:solidFill>
          <a:ln w="12700">
            <a:solidFill>
              <a:srgbClr val="F5F3EE"/>
            </a:solidFill>
            <a:prstDash val="solid"/>
          </a:ln>
        </p:spPr>
      </p:sp>
      <p:sp>
        <p:nvSpPr>
          <p:cNvPr id="12" name="db0"/>
          <p:cNvSpPr txBox="1"/>
          <p:nvPr/>
        </p:nvSpPr>
        <p:spPr>
          <a:xfrm>
            <a:off x="886968" y="4480560"/>
            <a:ext cx="2980944" cy="914400"/>
          </a:xfrm>
          <a:prstGeom prst="rect">
            <a:avLst/>
          </a:prstGeom>
          <a:noFill/>
          <a:ln/>
        </p:spPr>
        <p:txBody>
          <a:bodyPr wrap="square" lIns="0" tIns="0" rIns="0" bIns="0" rtlCol="0" anchor="t"/>
          <a:lstStyle/>
          <a:p>
            <a:pPr indent="0" marL="0">
              <a:lnSpc>
                <a:spcPct val="120000"/>
              </a:lnSpc>
              <a:buNone/>
            </a:pPr>
            <a:r>
              <a:rPr lang="en-US" sz="1400" dirty="0">
                <a:solidFill>
                  <a:srgbClr val="C3CCDA"/>
                </a:solidFill>
                <a:latin typeface="Arial" pitchFamily="34" charset="0"/>
                <a:ea typeface="Arial" pitchFamily="34" charset="-122"/>
                <a:cs typeface="Arial" pitchFamily="34" charset="-120"/>
              </a:rPr>
              <a:t>Final XGBoost score and decision at the 0.50 reference threshold.</a:t>
            </a:r>
            <a:endParaRPr lang="en-US" sz="1400" dirty="0"/>
          </a:p>
        </p:txBody>
      </p:sp>
      <p:sp>
        <p:nvSpPr>
          <p:cNvPr id="13" name="dc1"/>
          <p:cNvSpPr/>
          <p:nvPr/>
        </p:nvSpPr>
        <p:spPr>
          <a:xfrm>
            <a:off x="4334256" y="2560320"/>
            <a:ext cx="3529584" cy="3108960"/>
          </a:xfrm>
          <a:prstGeom prst="roundRect">
            <a:avLst>
              <a:gd name="adj" fmla="val 3529"/>
            </a:avLst>
          </a:prstGeom>
          <a:solidFill>
            <a:srgbClr val="1B2640"/>
          </a:solidFill>
          <a:ln w="12700">
            <a:solidFill>
              <a:srgbClr val="2C3A5A"/>
            </a:solidFill>
            <a:prstDash val="solid"/>
          </a:ln>
        </p:spPr>
      </p:sp>
      <p:sp>
        <p:nvSpPr>
          <p:cNvPr id="14" name="dk1"/>
          <p:cNvSpPr txBox="1"/>
          <p:nvPr/>
        </p:nvSpPr>
        <p:spPr>
          <a:xfrm>
            <a:off x="4608576" y="2788920"/>
            <a:ext cx="2980944" cy="320040"/>
          </a:xfrm>
          <a:prstGeom prst="rect">
            <a:avLst/>
          </a:prstGeom>
          <a:noFill/>
          <a:ln/>
        </p:spPr>
        <p:txBody>
          <a:bodyPr wrap="square" lIns="0" tIns="0" rIns="0" bIns="0" rtlCol="0" anchor="t"/>
          <a:lstStyle/>
          <a:p>
            <a:pPr indent="0" marL="0">
              <a:buNone/>
            </a:pPr>
            <a:r>
              <a:rPr lang="en-US" sz="1300" b="1" dirty="0">
                <a:solidFill>
                  <a:srgbClr val="E8743B"/>
                </a:solidFill>
                <a:latin typeface="Arial" pitchFamily="34" charset="0"/>
                <a:ea typeface="Arial" pitchFamily="34" charset="-122"/>
                <a:cs typeface="Arial" pitchFamily="34" charset="-120"/>
              </a:rPr>
              <a:t>2 · Explanation</a:t>
            </a:r>
            <a:endParaRPr lang="en-US" sz="1300" dirty="0"/>
          </a:p>
        </p:txBody>
      </p:sp>
      <p:sp>
        <p:nvSpPr>
          <p:cNvPr id="15" name="dh1"/>
          <p:cNvSpPr txBox="1"/>
          <p:nvPr/>
        </p:nvSpPr>
        <p:spPr>
          <a:xfrm>
            <a:off x="4608576" y="3127248"/>
            <a:ext cx="2980944" cy="457200"/>
          </a:xfrm>
          <a:prstGeom prst="rect">
            <a:avLst/>
          </a:prstGeom>
          <a:noFill/>
          <a:ln/>
        </p:spPr>
        <p:txBody>
          <a:bodyPr wrap="square" lIns="0" tIns="0" rIns="0" bIns="0" rtlCol="0" anchor="t"/>
          <a:lstStyle/>
          <a:p>
            <a:pPr indent="0" marL="0">
              <a:buNone/>
            </a:pPr>
            <a:r>
              <a:rPr lang="en-US" sz="1900" b="1" dirty="0">
                <a:solidFill>
                  <a:srgbClr val="F5F3EE"/>
                </a:solidFill>
                <a:latin typeface="Arial" pitchFamily="34" charset="0"/>
                <a:ea typeface="Arial" pitchFamily="34" charset="-122"/>
                <a:cs typeface="Arial" pitchFamily="34" charset="-120"/>
              </a:rPr>
              <a:t>Top 10 SHAP reasons</a:t>
            </a:r>
            <a:endParaRPr lang="en-US" sz="1900" dirty="0"/>
          </a:p>
        </p:txBody>
      </p:sp>
      <p:sp>
        <p:nvSpPr>
          <p:cNvPr id="16" name="dv1a"/>
          <p:cNvSpPr/>
          <p:nvPr/>
        </p:nvSpPr>
        <p:spPr>
          <a:xfrm>
            <a:off x="6099048" y="3730752"/>
            <a:ext cx="914" cy="566928"/>
          </a:xfrm>
          <a:prstGeom prst="line">
            <a:avLst/>
          </a:prstGeom>
          <a:noFill/>
          <a:ln w="19050">
            <a:solidFill>
              <a:srgbClr val="8C97AB"/>
            </a:solidFill>
            <a:prstDash val="solid"/>
          </a:ln>
        </p:spPr>
      </p:sp>
      <p:sp>
        <p:nvSpPr>
          <p:cNvPr id="17" name="dv1b0"/>
          <p:cNvSpPr/>
          <p:nvPr/>
        </p:nvSpPr>
        <p:spPr>
          <a:xfrm>
            <a:off x="6099048" y="3749040"/>
            <a:ext cx="1201320" cy="91440"/>
          </a:xfrm>
          <a:prstGeom prst="rect">
            <a:avLst/>
          </a:prstGeom>
          <a:solidFill>
            <a:srgbClr val="E8743B"/>
          </a:solidFill>
          <a:ln/>
        </p:spPr>
      </p:sp>
      <p:sp>
        <p:nvSpPr>
          <p:cNvPr id="18" name="dv1b1"/>
          <p:cNvSpPr/>
          <p:nvPr/>
        </p:nvSpPr>
        <p:spPr>
          <a:xfrm>
            <a:off x="5362755" y="3886200"/>
            <a:ext cx="736293" cy="91440"/>
          </a:xfrm>
          <a:prstGeom prst="rect">
            <a:avLst/>
          </a:prstGeom>
          <a:solidFill>
            <a:srgbClr val="6F9BEF"/>
          </a:solidFill>
          <a:ln/>
        </p:spPr>
      </p:sp>
      <p:sp>
        <p:nvSpPr>
          <p:cNvPr id="19" name="dv1b2"/>
          <p:cNvSpPr/>
          <p:nvPr/>
        </p:nvSpPr>
        <p:spPr>
          <a:xfrm>
            <a:off x="6099048" y="4023360"/>
            <a:ext cx="775045" cy="91440"/>
          </a:xfrm>
          <a:prstGeom prst="rect">
            <a:avLst/>
          </a:prstGeom>
          <a:solidFill>
            <a:srgbClr val="E8743B"/>
          </a:solidFill>
          <a:ln/>
        </p:spPr>
      </p:sp>
      <p:sp>
        <p:nvSpPr>
          <p:cNvPr id="20" name="dv1b3"/>
          <p:cNvSpPr/>
          <p:nvPr/>
        </p:nvSpPr>
        <p:spPr>
          <a:xfrm>
            <a:off x="5672773" y="4160520"/>
            <a:ext cx="426275" cy="91440"/>
          </a:xfrm>
          <a:prstGeom prst="rect">
            <a:avLst/>
          </a:prstGeom>
          <a:solidFill>
            <a:srgbClr val="6F9BEF"/>
          </a:solidFill>
          <a:ln/>
        </p:spPr>
      </p:sp>
      <p:sp>
        <p:nvSpPr>
          <p:cNvPr id="21" name="db1"/>
          <p:cNvSpPr txBox="1"/>
          <p:nvPr/>
        </p:nvSpPr>
        <p:spPr>
          <a:xfrm>
            <a:off x="4608576" y="4480560"/>
            <a:ext cx="2980944" cy="914400"/>
          </a:xfrm>
          <a:prstGeom prst="rect">
            <a:avLst/>
          </a:prstGeom>
          <a:noFill/>
          <a:ln/>
        </p:spPr>
        <p:txBody>
          <a:bodyPr wrap="square" lIns="0" tIns="0" rIns="0" bIns="0" rtlCol="0" anchor="t"/>
          <a:lstStyle/>
          <a:p>
            <a:pPr indent="0" marL="0">
              <a:lnSpc>
                <a:spcPct val="120000"/>
              </a:lnSpc>
              <a:buNone/>
            </a:pPr>
            <a:r>
              <a:rPr lang="en-US" sz="1400" dirty="0">
                <a:solidFill>
                  <a:srgbClr val="C3CCDA"/>
                </a:solidFill>
                <a:latin typeface="Arial" pitchFamily="34" charset="0"/>
                <a:ea typeface="Arial" pitchFamily="34" charset="-122"/>
                <a:cs typeface="Arial" pitchFamily="34" charset="-120"/>
              </a:rPr>
              <a:t>What pushes this transaction toward or away from fraud.</a:t>
            </a:r>
            <a:endParaRPr lang="en-US" sz="1400" dirty="0"/>
          </a:p>
        </p:txBody>
      </p:sp>
      <p:sp>
        <p:nvSpPr>
          <p:cNvPr id="22" name="dc2"/>
          <p:cNvSpPr/>
          <p:nvPr/>
        </p:nvSpPr>
        <p:spPr>
          <a:xfrm>
            <a:off x="8055864" y="2560320"/>
            <a:ext cx="3529584" cy="3108960"/>
          </a:xfrm>
          <a:prstGeom prst="roundRect">
            <a:avLst>
              <a:gd name="adj" fmla="val 3529"/>
            </a:avLst>
          </a:prstGeom>
          <a:solidFill>
            <a:srgbClr val="1B2640"/>
          </a:solidFill>
          <a:ln w="12700">
            <a:solidFill>
              <a:srgbClr val="2C3A5A"/>
            </a:solidFill>
            <a:prstDash val="solid"/>
          </a:ln>
        </p:spPr>
      </p:sp>
      <p:sp>
        <p:nvSpPr>
          <p:cNvPr id="23" name="dk2"/>
          <p:cNvSpPr txBox="1"/>
          <p:nvPr/>
        </p:nvSpPr>
        <p:spPr>
          <a:xfrm>
            <a:off x="8330184" y="2788920"/>
            <a:ext cx="2980944" cy="320040"/>
          </a:xfrm>
          <a:prstGeom prst="rect">
            <a:avLst/>
          </a:prstGeom>
          <a:noFill/>
          <a:ln/>
        </p:spPr>
        <p:txBody>
          <a:bodyPr wrap="square" lIns="0" tIns="0" rIns="0" bIns="0" rtlCol="0" anchor="t"/>
          <a:lstStyle/>
          <a:p>
            <a:pPr indent="0" marL="0">
              <a:buNone/>
            </a:pPr>
            <a:r>
              <a:rPr lang="en-US" sz="1300" b="1" dirty="0">
                <a:solidFill>
                  <a:srgbClr val="E8743B"/>
                </a:solidFill>
                <a:latin typeface="Arial" pitchFamily="34" charset="0"/>
                <a:ea typeface="Arial" pitchFamily="34" charset="-122"/>
                <a:cs typeface="Arial" pitchFamily="34" charset="-120"/>
              </a:rPr>
              <a:t>3 · Relationships</a:t>
            </a:r>
            <a:endParaRPr lang="en-US" sz="1300" dirty="0"/>
          </a:p>
        </p:txBody>
      </p:sp>
      <p:sp>
        <p:nvSpPr>
          <p:cNvPr id="24" name="dh2"/>
          <p:cNvSpPr txBox="1"/>
          <p:nvPr/>
        </p:nvSpPr>
        <p:spPr>
          <a:xfrm>
            <a:off x="8330184" y="3127248"/>
            <a:ext cx="2980944" cy="457200"/>
          </a:xfrm>
          <a:prstGeom prst="rect">
            <a:avLst/>
          </a:prstGeom>
          <a:noFill/>
          <a:ln/>
        </p:spPr>
        <p:txBody>
          <a:bodyPr wrap="square" lIns="0" tIns="0" rIns="0" bIns="0" rtlCol="0" anchor="t"/>
          <a:lstStyle/>
          <a:p>
            <a:pPr indent="0" marL="0">
              <a:buNone/>
            </a:pPr>
            <a:r>
              <a:rPr lang="en-US" sz="1900" b="1" dirty="0">
                <a:solidFill>
                  <a:srgbClr val="F5F3EE"/>
                </a:solidFill>
                <a:latin typeface="Arial" pitchFamily="34" charset="0"/>
                <a:ea typeface="Arial" pitchFamily="34" charset="-122"/>
                <a:cs typeface="Arial" pitchFamily="34" charset="-120"/>
              </a:rPr>
              <a:t>24-hour network</a:t>
            </a:r>
            <a:endParaRPr lang="en-US" sz="1900" dirty="0"/>
          </a:p>
        </p:txBody>
      </p:sp>
      <p:sp>
        <p:nvSpPr>
          <p:cNvPr id="25" name="dv2l0"/>
          <p:cNvSpPr/>
          <p:nvPr/>
        </p:nvSpPr>
        <p:spPr>
          <a:xfrm>
            <a:off x="8906256" y="3822192"/>
            <a:ext cx="914400" cy="182880"/>
          </a:xfrm>
          <a:prstGeom prst="line">
            <a:avLst/>
          </a:prstGeom>
          <a:noFill/>
          <a:ln w="19050">
            <a:solidFill>
              <a:srgbClr val="3B6FD4"/>
            </a:solidFill>
            <a:prstDash val="solid"/>
          </a:ln>
        </p:spPr>
      </p:sp>
      <p:sp>
        <p:nvSpPr>
          <p:cNvPr id="26" name="dv2l1"/>
          <p:cNvSpPr/>
          <p:nvPr/>
        </p:nvSpPr>
        <p:spPr>
          <a:xfrm flipV="1">
            <a:off x="8814816" y="4005072"/>
            <a:ext cx="1005840" cy="201168"/>
          </a:xfrm>
          <a:prstGeom prst="line">
            <a:avLst/>
          </a:prstGeom>
          <a:noFill/>
          <a:ln w="19050">
            <a:solidFill>
              <a:srgbClr val="3B6FD4"/>
            </a:solidFill>
            <a:prstDash val="solid"/>
          </a:ln>
        </p:spPr>
      </p:sp>
      <p:sp>
        <p:nvSpPr>
          <p:cNvPr id="27" name="dv2l2"/>
          <p:cNvSpPr/>
          <p:nvPr/>
        </p:nvSpPr>
        <p:spPr>
          <a:xfrm flipV="1">
            <a:off x="9820656" y="3785616"/>
            <a:ext cx="868680" cy="219456"/>
          </a:xfrm>
          <a:prstGeom prst="line">
            <a:avLst/>
          </a:prstGeom>
          <a:noFill/>
          <a:ln w="19050">
            <a:solidFill>
              <a:srgbClr val="3B6FD4"/>
            </a:solidFill>
            <a:prstDash val="solid"/>
          </a:ln>
        </p:spPr>
      </p:sp>
      <p:sp>
        <p:nvSpPr>
          <p:cNvPr id="28" name="dv2l3"/>
          <p:cNvSpPr/>
          <p:nvPr/>
        </p:nvSpPr>
        <p:spPr>
          <a:xfrm>
            <a:off x="9820656" y="4005072"/>
            <a:ext cx="960120" cy="219456"/>
          </a:xfrm>
          <a:prstGeom prst="line">
            <a:avLst/>
          </a:prstGeom>
          <a:noFill/>
          <a:ln w="19050">
            <a:solidFill>
              <a:srgbClr val="3B6FD4"/>
            </a:solidFill>
            <a:prstDash val="solid"/>
          </a:ln>
        </p:spPr>
      </p:sp>
      <p:sp>
        <p:nvSpPr>
          <p:cNvPr id="29" name="dv2l4"/>
          <p:cNvSpPr/>
          <p:nvPr/>
        </p:nvSpPr>
        <p:spPr>
          <a:xfrm>
            <a:off x="8449056" y="4005072"/>
            <a:ext cx="1371600" cy="914"/>
          </a:xfrm>
          <a:prstGeom prst="line">
            <a:avLst/>
          </a:prstGeom>
          <a:noFill/>
          <a:ln w="19050">
            <a:solidFill>
              <a:srgbClr val="3B6FD4"/>
            </a:solidFill>
            <a:prstDash val="solid"/>
          </a:ln>
        </p:spPr>
      </p:sp>
      <p:sp>
        <p:nvSpPr>
          <p:cNvPr id="30" name="dv2l5"/>
          <p:cNvSpPr/>
          <p:nvPr/>
        </p:nvSpPr>
        <p:spPr>
          <a:xfrm>
            <a:off x="9820656" y="4005072"/>
            <a:ext cx="1371600" cy="914"/>
          </a:xfrm>
          <a:prstGeom prst="line">
            <a:avLst/>
          </a:prstGeom>
          <a:noFill/>
          <a:ln w="19050">
            <a:solidFill>
              <a:srgbClr val="3B6FD4"/>
            </a:solidFill>
            <a:prstDash val="solid"/>
          </a:ln>
        </p:spPr>
      </p:sp>
      <p:sp>
        <p:nvSpPr>
          <p:cNvPr id="31" name="dv2n0"/>
          <p:cNvSpPr/>
          <p:nvPr/>
        </p:nvSpPr>
        <p:spPr>
          <a:xfrm>
            <a:off x="8842248" y="3758184"/>
            <a:ext cx="128016" cy="128016"/>
          </a:xfrm>
          <a:prstGeom prst="ellipse">
            <a:avLst/>
          </a:prstGeom>
          <a:solidFill>
            <a:srgbClr val="C3CCDA"/>
          </a:solidFill>
          <a:ln/>
        </p:spPr>
      </p:sp>
      <p:sp>
        <p:nvSpPr>
          <p:cNvPr id="32" name="dv2n1"/>
          <p:cNvSpPr/>
          <p:nvPr/>
        </p:nvSpPr>
        <p:spPr>
          <a:xfrm>
            <a:off x="8750808" y="4142232"/>
            <a:ext cx="128016" cy="128016"/>
          </a:xfrm>
          <a:prstGeom prst="ellipse">
            <a:avLst/>
          </a:prstGeom>
          <a:solidFill>
            <a:srgbClr val="C3CCDA"/>
          </a:solidFill>
          <a:ln/>
        </p:spPr>
      </p:sp>
      <p:sp>
        <p:nvSpPr>
          <p:cNvPr id="33" name="dv2n2"/>
          <p:cNvSpPr/>
          <p:nvPr/>
        </p:nvSpPr>
        <p:spPr>
          <a:xfrm>
            <a:off x="10625328" y="3721608"/>
            <a:ext cx="128016" cy="128016"/>
          </a:xfrm>
          <a:prstGeom prst="ellipse">
            <a:avLst/>
          </a:prstGeom>
          <a:solidFill>
            <a:srgbClr val="E8743B"/>
          </a:solidFill>
          <a:ln/>
        </p:spPr>
      </p:sp>
      <p:sp>
        <p:nvSpPr>
          <p:cNvPr id="34" name="dv2n3"/>
          <p:cNvSpPr/>
          <p:nvPr/>
        </p:nvSpPr>
        <p:spPr>
          <a:xfrm>
            <a:off x="10716768" y="4160520"/>
            <a:ext cx="128016" cy="128016"/>
          </a:xfrm>
          <a:prstGeom prst="ellipse">
            <a:avLst/>
          </a:prstGeom>
          <a:solidFill>
            <a:srgbClr val="C3CCDA"/>
          </a:solidFill>
          <a:ln/>
        </p:spPr>
      </p:sp>
      <p:sp>
        <p:nvSpPr>
          <p:cNvPr id="35" name="dv2n4"/>
          <p:cNvSpPr/>
          <p:nvPr/>
        </p:nvSpPr>
        <p:spPr>
          <a:xfrm>
            <a:off x="8385048" y="3941064"/>
            <a:ext cx="128016" cy="128016"/>
          </a:xfrm>
          <a:prstGeom prst="ellipse">
            <a:avLst/>
          </a:prstGeom>
          <a:solidFill>
            <a:srgbClr val="C3CCDA"/>
          </a:solidFill>
          <a:ln/>
        </p:spPr>
      </p:sp>
      <p:sp>
        <p:nvSpPr>
          <p:cNvPr id="36" name="dv2n5"/>
          <p:cNvSpPr/>
          <p:nvPr/>
        </p:nvSpPr>
        <p:spPr>
          <a:xfrm>
            <a:off x="11128248" y="3941064"/>
            <a:ext cx="128016" cy="128016"/>
          </a:xfrm>
          <a:prstGeom prst="ellipse">
            <a:avLst/>
          </a:prstGeom>
          <a:solidFill>
            <a:srgbClr val="E8743B"/>
          </a:solidFill>
          <a:ln/>
        </p:spPr>
      </p:sp>
      <p:sp>
        <p:nvSpPr>
          <p:cNvPr id="37" name="dv2c"/>
          <p:cNvSpPr/>
          <p:nvPr/>
        </p:nvSpPr>
        <p:spPr>
          <a:xfrm>
            <a:off x="9710928" y="3895344"/>
            <a:ext cx="219456" cy="219456"/>
          </a:xfrm>
          <a:prstGeom prst="ellipse">
            <a:avLst/>
          </a:prstGeom>
          <a:solidFill>
            <a:srgbClr val="F5F3EE"/>
          </a:solidFill>
          <a:ln/>
        </p:spPr>
      </p:sp>
      <p:sp>
        <p:nvSpPr>
          <p:cNvPr id="38" name="db2"/>
          <p:cNvSpPr txBox="1"/>
          <p:nvPr/>
        </p:nvSpPr>
        <p:spPr>
          <a:xfrm>
            <a:off x="8330184" y="4480560"/>
            <a:ext cx="2980944" cy="914400"/>
          </a:xfrm>
          <a:prstGeom prst="rect">
            <a:avLst/>
          </a:prstGeom>
          <a:noFill/>
          <a:ln/>
        </p:spPr>
        <p:txBody>
          <a:bodyPr wrap="square" lIns="0" tIns="0" rIns="0" bIns="0" rtlCol="0" anchor="t"/>
          <a:lstStyle/>
          <a:p>
            <a:pPr indent="0" marL="0">
              <a:lnSpc>
                <a:spcPct val="120000"/>
              </a:lnSpc>
              <a:buNone/>
            </a:pPr>
            <a:r>
              <a:rPr lang="en-US" sz="1400" dirty="0">
                <a:solidFill>
                  <a:srgbClr val="C3CCDA"/>
                </a:solidFill>
                <a:latin typeface="Arial" pitchFamily="34" charset="0"/>
                <a:ea typeface="Arial" pitchFamily="34" charset="-122"/>
                <a:cs typeface="Arial" pitchFamily="34" charset="-120"/>
              </a:rPr>
              <a:t>Earlier transactions sharing card, address, email or device.</a:t>
            </a:r>
            <a:endParaRPr lang="en-US" sz="1400" dirty="0"/>
          </a:p>
        </p:txBody>
      </p:sp>
      <p:sp>
        <p:nvSpPr>
          <p:cNvPr id="39" name="Text 37"/>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8C97AB"/>
                </a:solidFill>
                <a:latin typeface="Arial" pitchFamily="34" charset="0"/>
                <a:ea typeface="Arial" pitchFamily="34" charset="-122"/>
                <a:cs typeface="Arial" pitchFamily="34" charset="-120"/>
              </a:rPr>
              <a:t>Demo tool: a link is context for an investigator, not proof of fraud</a:t>
            </a:r>
            <a:endParaRPr lang="en-US" sz="1100" dirty="0"/>
          </a:p>
        </p:txBody>
      </p:sp>
      <p:sp>
        <p:nvSpPr>
          <p:cNvPr id="40" name="Text 38"/>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8C97AB"/>
                </a:solidFill>
                <a:latin typeface="Arial" pitchFamily="34" charset="0"/>
                <a:ea typeface="Arial" pitchFamily="34" charset="-122"/>
                <a:cs typeface="Arial" pitchFamily="34" charset="-120"/>
              </a:rPr>
              <a:t>13</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6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6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6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6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6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6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600"/>
                                        <p:tgtEl>
                                          <p:spTgt spid="2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6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6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6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fade">
                                      <p:cBhvr>
                                        <p:cTn id="71" dur="600"/>
                                        <p:tgtEl>
                                          <p:spTgt spid="38"/>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Effect transition="in" filter="fade">
                                      <p:cBhvr>
                                        <p:cTn id="74" dur="600"/>
                                        <p:tgtEl>
                                          <p:spTgt spid="3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6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6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6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600"/>
                                        <p:tgtEl>
                                          <p:spTgt spid="28"/>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600"/>
                                        <p:tgtEl>
                                          <p:spTgt spid="29"/>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600"/>
                                        <p:tgtEl>
                                          <p:spTgt spid="3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fade">
                                      <p:cBhvr>
                                        <p:cTn id="95" dur="600"/>
                                        <p:tgtEl>
                                          <p:spTgt spid="3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600"/>
                                        <p:tgtEl>
                                          <p:spTgt spid="3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3"/>
                                        </p:tgtEl>
                                        <p:attrNameLst>
                                          <p:attrName>style.visibility</p:attrName>
                                        </p:attrNameLst>
                                      </p:cBhvr>
                                      <p:to>
                                        <p:strVal val="visible"/>
                                      </p:to>
                                    </p:set>
                                    <p:animEffect transition="in" filter="fade">
                                      <p:cBhvr>
                                        <p:cTn id="101" dur="600"/>
                                        <p:tgtEl>
                                          <p:spTgt spid="3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600"/>
                                        <p:tgtEl>
                                          <p:spTgt spid="34"/>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600"/>
                                        <p:tgtEl>
                                          <p:spTgt spid="35"/>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6"/>
                                        </p:tgtEl>
                                        <p:attrNameLst>
                                          <p:attrName>style.visibility</p:attrName>
                                        </p:attrNameLst>
                                      </p:cBhvr>
                                      <p:to>
                                        <p:strVal val="visible"/>
                                      </p:to>
                                    </p:set>
                                    <p:animEffect transition="in" filter="fade">
                                      <p:cBhvr>
                                        <p:cTn id="110" dur="6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2" grpId="0" animBg="1"/>
      <p:bldP spid="8" grpId="0" animBg="1"/>
      <p:bldP spid="9" grpId="0" animBg="1"/>
      <p:bldP spid="10" grpId="0" animBg="1"/>
      <p:bldP spid="11" grpId="0" animBg="1"/>
      <p:bldP spid="13" grpId="0" animBg="1"/>
      <p:bldP spid="14" grpId="0" animBg="1"/>
      <p:bldP spid="15" grpId="0" animBg="1"/>
      <p:bldP spid="21" grpId="0" animBg="1"/>
      <p:bldP spid="16" grpId="0" animBg="1"/>
      <p:bldP spid="17" grpId="0" animBg="1"/>
      <p:bldP spid="18" grpId="0" animBg="1"/>
      <p:bldP spid="19" grpId="0" animBg="1"/>
      <p:bldP spid="20" grpId="0" animBg="1"/>
      <p:bldP spid="22" grpId="0" animBg="1"/>
      <p:bldP spid="23" grpId="0" animBg="1"/>
      <p:bldP spid="24" grpId="0" animBg="1"/>
      <p:bldP spid="38" grpId="0" animBg="1"/>
      <p:bldP spid="37"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12 · CHECKING OUR RESULTS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F5F3EE"/>
                </a:solidFill>
                <a:latin typeface="Arial" pitchFamily="34" charset="0"/>
                <a:ea typeface="Arial" pitchFamily="34" charset="-122"/>
                <a:cs typeface="Arial" pitchFamily="34" charset="-120"/>
              </a:rPr>
              <a:t>Leakage-aware, but the feature gain is within noise</a:t>
            </a:r>
            <a:endParaRPr lang="en-US" sz="3200" dirty="0"/>
          </a:p>
        </p:txBody>
      </p:sp>
      <p:sp>
        <p:nvSpPr>
          <p:cNvPr id="4" name="Shape 2"/>
          <p:cNvSpPr/>
          <p:nvPr/>
        </p:nvSpPr>
        <p:spPr>
          <a:xfrm>
            <a:off x="612648" y="1737360"/>
            <a:ext cx="5394960" cy="3566160"/>
          </a:xfrm>
          <a:prstGeom prst="roundRect">
            <a:avLst>
              <a:gd name="adj" fmla="val 3077"/>
            </a:avLst>
          </a:prstGeom>
          <a:solidFill>
            <a:srgbClr val="1B2640"/>
          </a:solidFill>
          <a:ln w="12700">
            <a:solidFill>
              <a:srgbClr val="2C3A5A"/>
            </a:solidFill>
            <a:prstDash val="solid"/>
          </a:ln>
        </p:spPr>
      </p:sp>
      <p:sp>
        <p:nvSpPr>
          <p:cNvPr id="5" name="Shape 3"/>
          <p:cNvSpPr/>
          <p:nvPr/>
        </p:nvSpPr>
        <p:spPr>
          <a:xfrm>
            <a:off x="932688" y="2011680"/>
            <a:ext cx="457200" cy="457200"/>
          </a:xfrm>
          <a:prstGeom prst="ellipse">
            <a:avLst/>
          </a:prstGeom>
          <a:solidFill>
            <a:srgbClr val="7FB77E"/>
          </a:solidFill>
          <a:ln w="12700">
            <a:solidFill>
              <a:srgbClr val="7FB77E"/>
            </a:solidFill>
            <a:prstDash val="solid"/>
          </a:ln>
        </p:spPr>
      </p:sp>
      <p:sp>
        <p:nvSpPr>
          <p:cNvPr id="6" name="Text 4"/>
          <p:cNvSpPr txBox="1"/>
          <p:nvPr/>
        </p:nvSpPr>
        <p:spPr>
          <a:xfrm>
            <a:off x="932688" y="2011680"/>
            <a:ext cx="457200" cy="457200"/>
          </a:xfrm>
          <a:prstGeom prst="rect">
            <a:avLst/>
          </a:prstGeom>
          <a:noFill/>
          <a:ln/>
        </p:spPr>
        <p:txBody>
          <a:bodyPr wrap="square" lIns="0" tIns="0" rIns="0" bIns="0" rtlCol="0" anchor="ctr"/>
          <a:lstStyle/>
          <a:p>
            <a:pPr algn="ctr" indent="0" marL="0">
              <a:buNone/>
            </a:pPr>
            <a:r>
              <a:rPr lang="en-US" sz="1800" b="1" dirty="0">
                <a:solidFill>
                  <a:srgbClr val="111A2E"/>
                </a:solidFill>
                <a:latin typeface="Arial" pitchFamily="34" charset="0"/>
                <a:ea typeface="Arial" pitchFamily="34" charset="-122"/>
                <a:cs typeface="Arial" pitchFamily="34" charset="-120"/>
              </a:rPr>
              <a:t>✓</a:t>
            </a:r>
            <a:endParaRPr lang="en-US" sz="1800" dirty="0"/>
          </a:p>
        </p:txBody>
      </p:sp>
      <p:sp>
        <p:nvSpPr>
          <p:cNvPr id="7" name="Text 5"/>
          <p:cNvSpPr txBox="1"/>
          <p:nvPr/>
        </p:nvSpPr>
        <p:spPr>
          <a:xfrm>
            <a:off x="1572768" y="2011680"/>
            <a:ext cx="4114800" cy="457200"/>
          </a:xfrm>
          <a:prstGeom prst="rect">
            <a:avLst/>
          </a:prstGeom>
          <a:noFill/>
          <a:ln/>
        </p:spPr>
        <p:txBody>
          <a:bodyPr wrap="square" lIns="0" tIns="0" rIns="0" bIns="0" rtlCol="0" anchor="ctr"/>
          <a:lstStyle/>
          <a:p>
            <a:pPr indent="0" marL="0">
              <a:buNone/>
            </a:pPr>
            <a:r>
              <a:rPr lang="en-US" sz="2000" b="1" dirty="0">
                <a:solidFill>
                  <a:srgbClr val="F5F3EE"/>
                </a:solidFill>
                <a:latin typeface="Arial" pitchFamily="34" charset="0"/>
                <a:ea typeface="Arial" pitchFamily="34" charset="-122"/>
                <a:cs typeface="Arial" pitchFamily="34" charset="-120"/>
              </a:rPr>
              <a:t>Done right</a:t>
            </a:r>
            <a:endParaRPr lang="en-US" sz="2000" dirty="0"/>
          </a:p>
        </p:txBody>
      </p:sp>
      <p:sp>
        <p:nvSpPr>
          <p:cNvPr id="8" name="Text 6"/>
          <p:cNvSpPr txBox="1"/>
          <p:nvPr/>
        </p:nvSpPr>
        <p:spPr>
          <a:xfrm>
            <a:off x="932688" y="2743200"/>
            <a:ext cx="48463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Tested on future transactions only</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Preprocessing learned from training data</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Features use past data, never labels</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Notebook check confirms time order</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Labelled network kept out of the model</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AP instead of accuracy for 3.5% fraud</a:t>
            </a:r>
            <a:endParaRPr lang="en-US" sz="1500" dirty="0"/>
          </a:p>
        </p:txBody>
      </p:sp>
      <p:sp>
        <p:nvSpPr>
          <p:cNvPr id="9" name="Shape 7"/>
          <p:cNvSpPr/>
          <p:nvPr/>
        </p:nvSpPr>
        <p:spPr>
          <a:xfrm>
            <a:off x="6190488" y="1737360"/>
            <a:ext cx="5394960" cy="3566160"/>
          </a:xfrm>
          <a:prstGeom prst="roundRect">
            <a:avLst>
              <a:gd name="adj" fmla="val 3077"/>
            </a:avLst>
          </a:prstGeom>
          <a:solidFill>
            <a:srgbClr val="1B2640"/>
          </a:solidFill>
          <a:ln w="12700">
            <a:solidFill>
              <a:srgbClr val="2C3A5A"/>
            </a:solidFill>
            <a:prstDash val="solid"/>
          </a:ln>
        </p:spPr>
      </p:sp>
      <p:sp>
        <p:nvSpPr>
          <p:cNvPr id="10" name="Shape 8"/>
          <p:cNvSpPr/>
          <p:nvPr/>
        </p:nvSpPr>
        <p:spPr>
          <a:xfrm>
            <a:off x="6510528" y="2011680"/>
            <a:ext cx="457200" cy="457200"/>
          </a:xfrm>
          <a:prstGeom prst="ellipse">
            <a:avLst/>
          </a:prstGeom>
          <a:solidFill>
            <a:srgbClr val="E8743B"/>
          </a:solidFill>
          <a:ln w="12700">
            <a:solidFill>
              <a:srgbClr val="E8743B"/>
            </a:solidFill>
            <a:prstDash val="solid"/>
          </a:ln>
        </p:spPr>
      </p:sp>
      <p:sp>
        <p:nvSpPr>
          <p:cNvPr id="11" name="Text 9"/>
          <p:cNvSpPr txBox="1"/>
          <p:nvPr/>
        </p:nvSpPr>
        <p:spPr>
          <a:xfrm>
            <a:off x="6510528" y="2011680"/>
            <a:ext cx="457200" cy="457200"/>
          </a:xfrm>
          <a:prstGeom prst="rect">
            <a:avLst/>
          </a:prstGeom>
          <a:noFill/>
          <a:ln/>
        </p:spPr>
        <p:txBody>
          <a:bodyPr wrap="square" lIns="0" tIns="0" rIns="0" bIns="0" rtlCol="0" anchor="ctr"/>
          <a:lstStyle/>
          <a:p>
            <a:pPr algn="ctr" indent="0" marL="0">
              <a:buNone/>
            </a:pPr>
            <a:r>
              <a:rPr lang="en-US" sz="1800" b="1" dirty="0">
                <a:solidFill>
                  <a:srgbClr val="111A2E"/>
                </a:solidFill>
                <a:latin typeface="Arial" pitchFamily="34" charset="0"/>
                <a:ea typeface="Arial" pitchFamily="34" charset="-122"/>
                <a:cs typeface="Arial" pitchFamily="34" charset="-120"/>
              </a:rPr>
              <a:t>!</a:t>
            </a:r>
            <a:endParaRPr lang="en-US" sz="1800" dirty="0"/>
          </a:p>
        </p:txBody>
      </p:sp>
      <p:sp>
        <p:nvSpPr>
          <p:cNvPr id="12" name="Text 10"/>
          <p:cNvSpPr txBox="1"/>
          <p:nvPr/>
        </p:nvSpPr>
        <p:spPr>
          <a:xfrm>
            <a:off x="7150608" y="2011680"/>
            <a:ext cx="4114800" cy="457200"/>
          </a:xfrm>
          <a:prstGeom prst="rect">
            <a:avLst/>
          </a:prstGeom>
          <a:noFill/>
          <a:ln/>
        </p:spPr>
        <p:txBody>
          <a:bodyPr wrap="square" lIns="0" tIns="0" rIns="0" bIns="0" rtlCol="0" anchor="ctr"/>
          <a:lstStyle/>
          <a:p>
            <a:pPr indent="0" marL="0">
              <a:buNone/>
            </a:pPr>
            <a:r>
              <a:rPr lang="en-US" sz="2000" b="1" dirty="0">
                <a:solidFill>
                  <a:srgbClr val="F5F3EE"/>
                </a:solidFill>
                <a:latin typeface="Arial" pitchFamily="34" charset="0"/>
                <a:ea typeface="Arial" pitchFamily="34" charset="-122"/>
                <a:cs typeface="Arial" pitchFamily="34" charset="-120"/>
              </a:rPr>
              <a:t>Watch out</a:t>
            </a:r>
            <a:endParaRPr lang="en-US" sz="2000" dirty="0"/>
          </a:p>
        </p:txBody>
      </p:sp>
      <p:sp>
        <p:nvSpPr>
          <p:cNvPr id="13" name="Text 11"/>
          <p:cNvSpPr txBox="1"/>
          <p:nvPr/>
        </p:nvSpPr>
        <p:spPr>
          <a:xfrm>
            <a:off x="6510528" y="2743200"/>
            <a:ext cx="484632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ANN early stopping watched validation data</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One split, one run: +0.0017 may be noise</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XGBoost training scores not recorded</a:t>
            </a:r>
            <a:endParaRPr lang="en-US" sz="1500" dirty="0"/>
          </a:p>
          <a:p>
            <a:pPr marL="342900" indent="-342900">
              <a:spcAft>
                <a:spcPts val="800"/>
              </a:spcAft>
              <a:buSzPct val="100000"/>
              <a:buChar char="•"/>
            </a:pPr>
            <a:r>
              <a:rPr lang="en-US" sz="1500" dirty="0">
                <a:solidFill>
                  <a:srgbClr val="C3CCDA"/>
                </a:solidFill>
                <a:latin typeface="Arial" pitchFamily="34" charset="0"/>
                <a:ea typeface="Arial" pitchFamily="34" charset="-122"/>
                <a:cs typeface="Arial" pitchFamily="34" charset="-120"/>
              </a:rPr>
              <a:t>ANN validation score unstable across epochs</a:t>
            </a:r>
            <a:endParaRPr lang="en-US" sz="1500" dirty="0"/>
          </a:p>
        </p:txBody>
      </p:sp>
      <p:sp>
        <p:nvSpPr>
          <p:cNvPr id="14" name="Text 12"/>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8C97AB"/>
                </a:solidFill>
                <a:latin typeface="Arial" pitchFamily="34" charset="0"/>
                <a:ea typeface="Arial" pitchFamily="34" charset="-122"/>
                <a:cs typeface="Arial" pitchFamily="34" charset="-120"/>
              </a:rPr>
              <a:t>Fraud Ring Detection · Group 8</a:t>
            </a:r>
            <a:endParaRPr lang="en-US" sz="1100" dirty="0"/>
          </a:p>
        </p:txBody>
      </p:sp>
      <p:sp>
        <p:nvSpPr>
          <p:cNvPr id="15" name="Text 13"/>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8C97AB"/>
                </a:solidFill>
                <a:latin typeface="Arial" pitchFamily="34" charset="0"/>
                <a:ea typeface="Arial" pitchFamily="34" charset="-122"/>
                <a:cs typeface="Arial" pitchFamily="34" charset="-120"/>
              </a:rPr>
              <a:t>14</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B04A16"/>
                </a:solidFill>
                <a:latin typeface="Arial" pitchFamily="34" charset="0"/>
                <a:ea typeface="Arial" pitchFamily="34" charset="-122"/>
                <a:cs typeface="Arial" pitchFamily="34" charset="-120"/>
              </a:rPr>
              <a:t>13 · LIMITATIONS AND NEXT STEPS</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111A2E"/>
                </a:solidFill>
                <a:latin typeface="Arial" pitchFamily="34" charset="0"/>
                <a:ea typeface="Arial" pitchFamily="34" charset="-122"/>
                <a:cs typeface="Arial" pitchFamily="34" charset="-120"/>
              </a:rPr>
              <a:t>What limits the results, and what comes next</a:t>
            </a:r>
            <a:endParaRPr lang="en-US" sz="3200" dirty="0"/>
          </a:p>
        </p:txBody>
      </p:sp>
      <p:sp>
        <p:nvSpPr>
          <p:cNvPr id="4" name="Shape 2"/>
          <p:cNvSpPr/>
          <p:nvPr/>
        </p:nvSpPr>
        <p:spPr>
          <a:xfrm>
            <a:off x="612648" y="1737360"/>
            <a:ext cx="5394960" cy="3566160"/>
          </a:xfrm>
          <a:prstGeom prst="roundRect">
            <a:avLst>
              <a:gd name="adj" fmla="val 3077"/>
            </a:avLst>
          </a:prstGeom>
          <a:solidFill>
            <a:srgbClr val="FCFBF8"/>
          </a:solidFill>
          <a:ln w="12700">
            <a:solidFill>
              <a:srgbClr val="DDD8CC"/>
            </a:solidFill>
            <a:prstDash val="solid"/>
          </a:ln>
        </p:spPr>
      </p:sp>
      <p:sp>
        <p:nvSpPr>
          <p:cNvPr id="5" name="Text 3"/>
          <p:cNvSpPr txBox="1"/>
          <p:nvPr/>
        </p:nvSpPr>
        <p:spPr>
          <a:xfrm>
            <a:off x="932688" y="1965960"/>
            <a:ext cx="4754880" cy="457200"/>
          </a:xfrm>
          <a:prstGeom prst="rect">
            <a:avLst/>
          </a:prstGeom>
          <a:noFill/>
          <a:ln/>
        </p:spPr>
        <p:txBody>
          <a:bodyPr wrap="square" lIns="0" tIns="0" rIns="0" bIns="0" rtlCol="0" anchor="t"/>
          <a:lstStyle/>
          <a:p>
            <a:pPr indent="0" marL="0">
              <a:buNone/>
            </a:pPr>
            <a:r>
              <a:rPr lang="en-US" sz="2000" b="1" dirty="0">
                <a:solidFill>
                  <a:srgbClr val="111A2E"/>
                </a:solidFill>
                <a:latin typeface="Arial" pitchFamily="34" charset="0"/>
                <a:ea typeface="Arial" pitchFamily="34" charset="-122"/>
                <a:cs typeface="Arial" pitchFamily="34" charset="-120"/>
              </a:rPr>
              <a:t>Limitations</a:t>
            </a:r>
            <a:endParaRPr lang="en-US" sz="2000" dirty="0"/>
          </a:p>
        </p:txBody>
      </p:sp>
      <p:sp>
        <p:nvSpPr>
          <p:cNvPr id="6" name="Text 4"/>
          <p:cNvSpPr txBox="1"/>
          <p:nvPr/>
        </p:nvSpPr>
        <p:spPr>
          <a:xfrm>
            <a:off x="932688" y="2606040"/>
            <a:ext cx="484632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GNN experiments not in the final notebook</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Many top features are anonymised</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Card and address are not true customer IDs</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Little hyperparameter tuning; CPU only</a:t>
            </a:r>
            <a:endParaRPr lang="en-US" sz="1500" dirty="0"/>
          </a:p>
          <a:p>
            <a:pPr marL="342900" indent="-342900">
              <a:spcAft>
                <a:spcPts val="800"/>
              </a:spcAft>
              <a:buSzPct val="100000"/>
              <a:buChar char="•"/>
            </a:pPr>
            <a:r>
              <a:rPr lang="en-US" sz="1500" dirty="0">
                <a:solidFill>
                  <a:srgbClr val="3F4A5C"/>
                </a:solidFill>
                <a:latin typeface="Arial" pitchFamily="34" charset="0"/>
                <a:ea typeface="Arial" pitchFamily="34" charset="-122"/>
                <a:cs typeface="Arial" pitchFamily="34" charset="-120"/>
              </a:rPr>
              <a:t>Real fraud labels arrive late</a:t>
            </a:r>
            <a:endParaRPr lang="en-US" sz="1500" dirty="0"/>
          </a:p>
        </p:txBody>
      </p:sp>
      <p:sp>
        <p:nvSpPr>
          <p:cNvPr id="7" name="Shape 5"/>
          <p:cNvSpPr/>
          <p:nvPr/>
        </p:nvSpPr>
        <p:spPr>
          <a:xfrm>
            <a:off x="6190488" y="1737360"/>
            <a:ext cx="5394960" cy="3566160"/>
          </a:xfrm>
          <a:prstGeom prst="roundRect">
            <a:avLst>
              <a:gd name="adj" fmla="val 3077"/>
            </a:avLst>
          </a:prstGeom>
          <a:solidFill>
            <a:srgbClr val="FCFBF8"/>
          </a:solidFill>
          <a:ln w="25400">
            <a:solidFill>
              <a:srgbClr val="E8743B"/>
            </a:solidFill>
            <a:prstDash val="solid"/>
          </a:ln>
        </p:spPr>
      </p:sp>
      <p:sp>
        <p:nvSpPr>
          <p:cNvPr id="8" name="Text 6"/>
          <p:cNvSpPr txBox="1"/>
          <p:nvPr/>
        </p:nvSpPr>
        <p:spPr>
          <a:xfrm>
            <a:off x="6510528" y="1965960"/>
            <a:ext cx="4754880" cy="457200"/>
          </a:xfrm>
          <a:prstGeom prst="rect">
            <a:avLst/>
          </a:prstGeom>
          <a:noFill/>
          <a:ln/>
        </p:spPr>
        <p:txBody>
          <a:bodyPr wrap="square" lIns="0" tIns="0" rIns="0" bIns="0" rtlCol="0" anchor="t"/>
          <a:lstStyle/>
          <a:p>
            <a:pPr indent="0" marL="0">
              <a:buNone/>
            </a:pPr>
            <a:r>
              <a:rPr lang="en-US" sz="2000" b="1" dirty="0">
                <a:solidFill>
                  <a:srgbClr val="111A2E"/>
                </a:solidFill>
                <a:latin typeface="Arial" pitchFamily="34" charset="0"/>
                <a:ea typeface="Arial" pitchFamily="34" charset="-122"/>
                <a:cs typeface="Arial" pitchFamily="34" charset="-120"/>
              </a:rPr>
              <a:t>Future work</a:t>
            </a:r>
            <a:endParaRPr lang="en-US" sz="2000" dirty="0"/>
          </a:p>
        </p:txBody>
      </p:sp>
      <p:sp>
        <p:nvSpPr>
          <p:cNvPr id="9" name="Text 7"/>
          <p:cNvSpPr txBox="1"/>
          <p:nvPr/>
        </p:nvSpPr>
        <p:spPr>
          <a:xfrm>
            <a:off x="6510528" y="2606040"/>
            <a:ext cx="4846320" cy="310896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3F4A5C"/>
                </a:solidFill>
                <a:latin typeface="Arial" pitchFamily="34" charset="0"/>
                <a:ea typeface="Arial" pitchFamily="34" charset="-122"/>
                <a:cs typeface="Arial" pitchFamily="34" charset="-120"/>
              </a:rPr>
              <a:t>Revisit GNNs with a richer entity graph</a:t>
            </a:r>
            <a:endParaRPr lang="en-US" sz="1500" dirty="0"/>
          </a:p>
          <a:p>
            <a:pPr marL="342900" indent="-342900">
              <a:spcAft>
                <a:spcPts val="800"/>
              </a:spcAft>
              <a:buSzPct val="100000"/>
              <a:buFont typeface="+mj-lt"/>
              <a:buAutoNum type="arabicPeriod" startAt="1"/>
            </a:pPr>
            <a:r>
              <a:rPr lang="en-US" sz="1500" dirty="0">
                <a:solidFill>
                  <a:srgbClr val="3F4A5C"/>
                </a:solidFill>
                <a:latin typeface="Arial" pitchFamily="34" charset="0"/>
                <a:ea typeface="Arial" pitchFamily="34" charset="-122"/>
                <a:cs typeface="Arial" pitchFamily="34" charset="-120"/>
              </a:rPr>
              <a:t>Time-based cross-validation + final test set</a:t>
            </a:r>
            <a:endParaRPr lang="en-US" sz="1500" dirty="0"/>
          </a:p>
          <a:p>
            <a:pPr marL="342900" indent="-342900">
              <a:spcAft>
                <a:spcPts val="800"/>
              </a:spcAft>
              <a:buSzPct val="100000"/>
              <a:buFont typeface="+mj-lt"/>
              <a:buAutoNum type="arabicPeriod" startAt="1"/>
            </a:pPr>
            <a:r>
              <a:rPr lang="en-US" sz="1500" dirty="0">
                <a:solidFill>
                  <a:srgbClr val="3F4A5C"/>
                </a:solidFill>
                <a:latin typeface="Arial" pitchFamily="34" charset="0"/>
                <a:ea typeface="Arial" pitchFamily="34" charset="-122"/>
                <a:cs typeface="Arial" pitchFamily="34" charset="-120"/>
              </a:rPr>
              <a:t>Tune XGBoost, report training scores</a:t>
            </a:r>
            <a:endParaRPr lang="en-US" sz="1500" dirty="0"/>
          </a:p>
          <a:p>
            <a:pPr marL="342900" indent="-342900">
              <a:spcAft>
                <a:spcPts val="800"/>
              </a:spcAft>
              <a:buSzPct val="100000"/>
              <a:buFont typeface="+mj-lt"/>
              <a:buAutoNum type="arabicPeriod" startAt="1"/>
            </a:pPr>
            <a:r>
              <a:rPr lang="en-US" sz="1500" dirty="0">
                <a:solidFill>
                  <a:srgbClr val="3F4A5C"/>
                </a:solidFill>
                <a:latin typeface="Arial" pitchFamily="34" charset="0"/>
                <a:ea typeface="Arial" pitchFamily="34" charset="-122"/>
                <a:cs typeface="Arial" pitchFamily="34" charset="-120"/>
              </a:rPr>
              <a:t>Stronger customer identifiers</a:t>
            </a:r>
            <a:endParaRPr lang="en-US" sz="1500" dirty="0"/>
          </a:p>
          <a:p>
            <a:pPr marL="342900" indent="-342900">
              <a:spcAft>
                <a:spcPts val="800"/>
              </a:spcAft>
              <a:buSzPct val="100000"/>
              <a:buFont typeface="+mj-lt"/>
              <a:buAutoNum type="arabicPeriod" startAt="1"/>
            </a:pPr>
            <a:r>
              <a:rPr lang="en-US" sz="1500" dirty="0">
                <a:solidFill>
                  <a:srgbClr val="3F4A5C"/>
                </a:solidFill>
                <a:latin typeface="Arial" pitchFamily="34" charset="0"/>
                <a:ea typeface="Arial" pitchFamily="34" charset="-122"/>
                <a:cs typeface="Arial" pitchFamily="34" charset="-120"/>
              </a:rPr>
              <a:t>Cost-based threshold; host MAKĀMIN permanently</a:t>
            </a:r>
            <a:endParaRPr lang="en-US" sz="1500" dirty="0"/>
          </a:p>
        </p:txBody>
      </p:sp>
      <p:sp>
        <p:nvSpPr>
          <p:cNvPr id="10" name="Text 8"/>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5E6778"/>
                </a:solidFill>
                <a:latin typeface="Arial" pitchFamily="34" charset="0"/>
                <a:ea typeface="Arial" pitchFamily="34" charset="-122"/>
                <a:cs typeface="Arial" pitchFamily="34" charset="-120"/>
              </a:rPr>
              <a:t>Fraud Ring Detection · Group 8</a:t>
            </a:r>
            <a:endParaRPr lang="en-US" sz="1100" dirty="0"/>
          </a:p>
        </p:txBody>
      </p:sp>
      <p:sp>
        <p:nvSpPr>
          <p:cNvPr id="11" name="Text 9"/>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5E6778"/>
                </a:solidFill>
                <a:latin typeface="Arial" pitchFamily="34" charset="0"/>
                <a:ea typeface="Arial" pitchFamily="34" charset="-122"/>
                <a:cs typeface="Arial" pitchFamily="34" charset="-120"/>
              </a:rPr>
              <a:t>15</a:t>
            </a:r>
            <a:endParaRPr lang="en-US" sz="11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A2E"/>
        </a:solidFill>
      </p:bgPr>
    </p:bg>
    <p:spTree>
      <p:nvGrpSpPr>
        <p:cNvPr id="1" name=""/>
        <p:cNvGrpSpPr/>
        <p:nvPr/>
      </p:nvGrpSpPr>
      <p:grpSpPr>
        <a:xfrm>
          <a:off x="0" y="0"/>
          <a:ext cx="0" cy="0"/>
          <a:chOff x="0" y="0"/>
          <a:chExt cx="0" cy="0"/>
        </a:xfrm>
      </p:grpSpPr>
      <p:sp>
        <p:nvSpPr>
          <p:cNvPr id="2" name="Text 0"/>
          <p:cNvSpPr txBox="1"/>
          <p:nvPr/>
        </p:nvSpPr>
        <p:spPr>
          <a:xfrm>
            <a:off x="612648" y="457200"/>
            <a:ext cx="10972800" cy="32004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14 · CONCLUSION</a:t>
            </a:r>
            <a:endParaRPr lang="en-US" sz="1200" dirty="0"/>
          </a:p>
        </p:txBody>
      </p:sp>
      <p:sp>
        <p:nvSpPr>
          <p:cNvPr id="3" name="Text 1"/>
          <p:cNvSpPr txBox="1"/>
          <p:nvPr/>
        </p:nvSpPr>
        <p:spPr>
          <a:xfrm>
            <a:off x="612648" y="777240"/>
            <a:ext cx="10972800" cy="685800"/>
          </a:xfrm>
          <a:prstGeom prst="rect">
            <a:avLst/>
          </a:prstGeom>
          <a:noFill/>
          <a:ln/>
        </p:spPr>
        <p:txBody>
          <a:bodyPr wrap="square" lIns="0" tIns="0" rIns="0" bIns="0" rtlCol="0" anchor="t"/>
          <a:lstStyle/>
          <a:p>
            <a:pPr indent="0" marL="0">
              <a:buNone/>
            </a:pPr>
            <a:r>
              <a:rPr lang="en-US" sz="3200" b="1" dirty="0">
                <a:solidFill>
                  <a:srgbClr val="F5F3EE"/>
                </a:solidFill>
                <a:latin typeface="Arial" pitchFamily="34" charset="0"/>
                <a:ea typeface="Arial" pitchFamily="34" charset="-122"/>
                <a:cs typeface="Arial" pitchFamily="34" charset="-120"/>
              </a:rPr>
              <a:t>Our hypothesis is partly supported</a:t>
            </a:r>
            <a:endParaRPr lang="en-US" sz="3200" dirty="0"/>
          </a:p>
        </p:txBody>
      </p:sp>
      <p:sp>
        <p:nvSpPr>
          <p:cNvPr id="4" name="cn0"/>
          <p:cNvSpPr txBox="1"/>
          <p:nvPr/>
        </p:nvSpPr>
        <p:spPr>
          <a:xfrm>
            <a:off x="612648" y="1828800"/>
            <a:ext cx="640080" cy="731520"/>
          </a:xfrm>
          <a:prstGeom prst="rect">
            <a:avLst/>
          </a:prstGeom>
          <a:noFill/>
          <a:ln/>
        </p:spPr>
        <p:txBody>
          <a:bodyPr wrap="square" lIns="0" tIns="0" rIns="0" bIns="0" rtlCol="0" anchor="t"/>
          <a:lstStyle/>
          <a:p>
            <a:pPr indent="0" marL="0">
              <a:buNone/>
            </a:pPr>
            <a:r>
              <a:rPr lang="en-US" sz="4000" b="1" dirty="0">
                <a:solidFill>
                  <a:srgbClr val="E8743B"/>
                </a:solidFill>
                <a:latin typeface="Arial" pitchFamily="34" charset="0"/>
                <a:ea typeface="Arial" pitchFamily="34" charset="-122"/>
                <a:cs typeface="Arial" pitchFamily="34" charset="-120"/>
              </a:rPr>
              <a:t>1</a:t>
            </a:r>
            <a:endParaRPr lang="en-US" sz="4000" dirty="0"/>
          </a:p>
        </p:txBody>
      </p:sp>
      <p:sp>
        <p:nvSpPr>
          <p:cNvPr id="5" name="ct0"/>
          <p:cNvSpPr txBox="1"/>
          <p:nvPr/>
        </p:nvSpPr>
        <p:spPr>
          <a:xfrm>
            <a:off x="1435608" y="1874520"/>
            <a:ext cx="10058400" cy="914400"/>
          </a:xfrm>
          <a:prstGeom prst="rect">
            <a:avLst/>
          </a:prstGeom>
          <a:noFill/>
          <a:ln/>
        </p:spPr>
        <p:txBody>
          <a:bodyPr wrap="square" lIns="0" tIns="0" rIns="0" bIns="0" rtlCol="0" anchor="t"/>
          <a:lstStyle/>
          <a:p>
            <a:pPr indent="0" marL="0">
              <a:lnSpc>
                <a:spcPct val="115000"/>
              </a:lnSpc>
              <a:buNone/>
            </a:pPr>
            <a:r>
              <a:rPr lang="en-US" sz="2100" dirty="0">
                <a:solidFill>
                  <a:srgbClr val="F5F3EE"/>
                </a:solidFill>
                <a:latin typeface="Arial" pitchFamily="34" charset="0"/>
                <a:ea typeface="Arial" pitchFamily="34" charset="-122"/>
                <a:cs typeface="Arial" pitchFamily="34" charset="-120"/>
              </a:rPr>
              <a:t>Coordinated fraud is real: up to 35 fraudulent transactions share one card and address.</a:t>
            </a:r>
            <a:endParaRPr lang="en-US" sz="2100" dirty="0"/>
          </a:p>
        </p:txBody>
      </p:sp>
      <p:sp>
        <p:nvSpPr>
          <p:cNvPr id="6" name="cn1"/>
          <p:cNvSpPr txBox="1"/>
          <p:nvPr/>
        </p:nvSpPr>
        <p:spPr>
          <a:xfrm>
            <a:off x="612648" y="3154680"/>
            <a:ext cx="640080" cy="731520"/>
          </a:xfrm>
          <a:prstGeom prst="rect">
            <a:avLst/>
          </a:prstGeom>
          <a:noFill/>
          <a:ln/>
        </p:spPr>
        <p:txBody>
          <a:bodyPr wrap="square" lIns="0" tIns="0" rIns="0" bIns="0" rtlCol="0" anchor="t"/>
          <a:lstStyle/>
          <a:p>
            <a:pPr indent="0" marL="0">
              <a:buNone/>
            </a:pPr>
            <a:r>
              <a:rPr lang="en-US" sz="4000" b="1" dirty="0">
                <a:solidFill>
                  <a:srgbClr val="E8743B"/>
                </a:solidFill>
                <a:latin typeface="Arial" pitchFamily="34" charset="0"/>
                <a:ea typeface="Arial" pitchFamily="34" charset="-122"/>
                <a:cs typeface="Arial" pitchFamily="34" charset="-120"/>
              </a:rPr>
              <a:t>2</a:t>
            </a:r>
            <a:endParaRPr lang="en-US" sz="4000" dirty="0"/>
          </a:p>
        </p:txBody>
      </p:sp>
      <p:sp>
        <p:nvSpPr>
          <p:cNvPr id="7" name="ct1"/>
          <p:cNvSpPr txBox="1"/>
          <p:nvPr/>
        </p:nvSpPr>
        <p:spPr>
          <a:xfrm>
            <a:off x="1435608" y="3200400"/>
            <a:ext cx="10058400" cy="914400"/>
          </a:xfrm>
          <a:prstGeom prst="rect">
            <a:avLst/>
          </a:prstGeom>
          <a:noFill/>
          <a:ln/>
        </p:spPr>
        <p:txBody>
          <a:bodyPr wrap="square" lIns="0" tIns="0" rIns="0" bIns="0" rtlCol="0" anchor="t"/>
          <a:lstStyle/>
          <a:p>
            <a:pPr indent="0" marL="0">
              <a:lnSpc>
                <a:spcPct val="115000"/>
              </a:lnSpc>
              <a:buNone/>
            </a:pPr>
            <a:r>
              <a:rPr lang="en-US" sz="2100" dirty="0">
                <a:solidFill>
                  <a:srgbClr val="F5F3EE"/>
                </a:solidFill>
                <a:latin typeface="Arial" pitchFamily="34" charset="0"/>
                <a:ea typeface="Arial" pitchFamily="34" charset="-122"/>
                <a:cs typeface="Arial" pitchFamily="34" charset="-120"/>
              </a:rPr>
              <a:t>Relationship features are safe and used by the model, but add only a little on top of XGBoost.</a:t>
            </a:r>
            <a:endParaRPr lang="en-US" sz="2100" dirty="0"/>
          </a:p>
        </p:txBody>
      </p:sp>
      <p:sp>
        <p:nvSpPr>
          <p:cNvPr id="8" name="cn2"/>
          <p:cNvSpPr txBox="1"/>
          <p:nvPr/>
        </p:nvSpPr>
        <p:spPr>
          <a:xfrm>
            <a:off x="612648" y="4480560"/>
            <a:ext cx="640080" cy="731520"/>
          </a:xfrm>
          <a:prstGeom prst="rect">
            <a:avLst/>
          </a:prstGeom>
          <a:noFill/>
          <a:ln/>
        </p:spPr>
        <p:txBody>
          <a:bodyPr wrap="square" lIns="0" tIns="0" rIns="0" bIns="0" rtlCol="0" anchor="t"/>
          <a:lstStyle/>
          <a:p>
            <a:pPr indent="0" marL="0">
              <a:buNone/>
            </a:pPr>
            <a:r>
              <a:rPr lang="en-US" sz="4000" b="1" dirty="0">
                <a:solidFill>
                  <a:srgbClr val="E8743B"/>
                </a:solidFill>
                <a:latin typeface="Arial" pitchFamily="34" charset="0"/>
                <a:ea typeface="Arial" pitchFamily="34" charset="-122"/>
                <a:cs typeface="Arial" pitchFamily="34" charset="-120"/>
              </a:rPr>
              <a:t>3</a:t>
            </a:r>
            <a:endParaRPr lang="en-US" sz="4000" dirty="0"/>
          </a:p>
        </p:txBody>
      </p:sp>
      <p:sp>
        <p:nvSpPr>
          <p:cNvPr id="9" name="ct2"/>
          <p:cNvSpPr txBox="1"/>
          <p:nvPr/>
        </p:nvSpPr>
        <p:spPr>
          <a:xfrm>
            <a:off x="1435608" y="4526280"/>
            <a:ext cx="10058400" cy="914400"/>
          </a:xfrm>
          <a:prstGeom prst="rect">
            <a:avLst/>
          </a:prstGeom>
          <a:noFill/>
          <a:ln/>
        </p:spPr>
        <p:txBody>
          <a:bodyPr wrap="square" lIns="0" tIns="0" rIns="0" bIns="0" rtlCol="0" anchor="t"/>
          <a:lstStyle/>
          <a:p>
            <a:pPr indent="0" marL="0">
              <a:lnSpc>
                <a:spcPct val="115000"/>
              </a:lnSpc>
              <a:buNone/>
            </a:pPr>
            <a:r>
              <a:rPr lang="en-US" sz="2100" dirty="0">
                <a:solidFill>
                  <a:srgbClr val="F5F3EE"/>
                </a:solidFill>
                <a:latin typeface="Arial" pitchFamily="34" charset="0"/>
                <a:ea typeface="Arial" pitchFamily="34" charset="-122"/>
                <a:cs typeface="Arial" pitchFamily="34" charset="-120"/>
              </a:rPr>
              <a:t>The most complex models were not the best: XGBoost beat the ANN, GraphSAGE and RGCN, catching 74% of fraud.</a:t>
            </a:r>
            <a:endParaRPr lang="en-US" sz="2100" dirty="0"/>
          </a:p>
        </p:txBody>
      </p:sp>
      <p:sp>
        <p:nvSpPr>
          <p:cNvPr id="10" name="Text 8"/>
          <p:cNvSpPr txBox="1"/>
          <p:nvPr/>
        </p:nvSpPr>
        <p:spPr>
          <a:xfrm>
            <a:off x="612648" y="6355080"/>
            <a:ext cx="7315200" cy="274320"/>
          </a:xfrm>
          <a:prstGeom prst="rect">
            <a:avLst/>
          </a:prstGeom>
          <a:noFill/>
          <a:ln/>
        </p:spPr>
        <p:txBody>
          <a:bodyPr wrap="square" lIns="0" tIns="0" rIns="0" bIns="0" rtlCol="0" anchor="ctr"/>
          <a:lstStyle/>
          <a:p>
            <a:pPr indent="0" marL="0">
              <a:buNone/>
            </a:pPr>
            <a:r>
              <a:rPr lang="en-US" sz="1100" dirty="0">
                <a:solidFill>
                  <a:srgbClr val="8C97AB"/>
                </a:solidFill>
                <a:latin typeface="Arial" pitchFamily="34" charset="0"/>
                <a:ea typeface="Arial" pitchFamily="34" charset="-122"/>
                <a:cs typeface="Arial" pitchFamily="34" charset="-120"/>
              </a:rPr>
              <a:t>Fraud Ring Detection · Group 8</a:t>
            </a:r>
            <a:endParaRPr lang="en-US" sz="1100" dirty="0"/>
          </a:p>
        </p:txBody>
      </p:sp>
      <p:sp>
        <p:nvSpPr>
          <p:cNvPr id="11" name="Text 9"/>
          <p:cNvSpPr txBox="1"/>
          <p:nvPr/>
        </p:nvSpPr>
        <p:spPr>
          <a:xfrm>
            <a:off x="10671048" y="6355080"/>
            <a:ext cx="914400" cy="274320"/>
          </a:xfrm>
          <a:prstGeom prst="rect">
            <a:avLst/>
          </a:prstGeom>
          <a:noFill/>
          <a:ln/>
        </p:spPr>
        <p:txBody>
          <a:bodyPr wrap="square" lIns="0" tIns="0" rIns="0" bIns="0" rtlCol="0" anchor="ctr"/>
          <a:lstStyle/>
          <a:p>
            <a:pPr algn="r" indent="0" marL="0">
              <a:buNone/>
            </a:pPr>
            <a:r>
              <a:rPr lang="en-US" sz="1100" dirty="0">
                <a:solidFill>
                  <a:srgbClr val="8C97AB"/>
                </a:solidFill>
                <a:latin typeface="Arial" pitchFamily="34" charset="0"/>
                <a:ea typeface="Arial" pitchFamily="34" charset="-122"/>
                <a:cs typeface="Arial" pitchFamily="34" charset="-120"/>
              </a:rPr>
              <a:t>16</a:t>
            </a:r>
            <a:endParaRPr lang="en-US" sz="11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6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A2E"/>
        </a:solidFill>
      </p:bgPr>
    </p:bg>
    <p:spTree>
      <p:nvGrpSpPr>
        <p:cNvPr id="1" name=""/>
        <p:cNvGrpSpPr/>
        <p:nvPr/>
      </p:nvGrpSpPr>
      <p:grpSpPr>
        <a:xfrm>
          <a:off x="0" y="0"/>
          <a:ext cx="0" cy="0"/>
          <a:chOff x="0" y="0"/>
          <a:chExt cx="0" cy="0"/>
        </a:xfrm>
      </p:grpSpPr>
      <p:sp>
        <p:nvSpPr>
          <p:cNvPr id="2" name="nl0"/>
          <p:cNvSpPr/>
          <p:nvPr/>
        </p:nvSpPr>
        <p:spPr>
          <a:xfrm flipV="1">
            <a:off x="7676147" y="1648326"/>
            <a:ext cx="1039528" cy="389823"/>
          </a:xfrm>
          <a:prstGeom prst="line">
            <a:avLst/>
          </a:prstGeom>
          <a:noFill/>
          <a:ln w="25400">
            <a:solidFill>
              <a:srgbClr val="3B6FD4">
                <a:alpha val="60000"/>
              </a:srgbClr>
            </a:solidFill>
            <a:prstDash val="solid"/>
          </a:ln>
        </p:spPr>
      </p:sp>
      <p:sp>
        <p:nvSpPr>
          <p:cNvPr id="3" name="nl1"/>
          <p:cNvSpPr/>
          <p:nvPr/>
        </p:nvSpPr>
        <p:spPr>
          <a:xfrm>
            <a:off x="7676147" y="2038149"/>
            <a:ext cx="649705" cy="909587"/>
          </a:xfrm>
          <a:prstGeom prst="line">
            <a:avLst/>
          </a:prstGeom>
          <a:noFill/>
          <a:ln w="25400">
            <a:solidFill>
              <a:srgbClr val="3B6FD4">
                <a:alpha val="60000"/>
              </a:srgbClr>
            </a:solidFill>
            <a:prstDash val="solid"/>
          </a:ln>
        </p:spPr>
      </p:sp>
      <p:sp>
        <p:nvSpPr>
          <p:cNvPr id="4" name="nl2"/>
          <p:cNvSpPr/>
          <p:nvPr/>
        </p:nvSpPr>
        <p:spPr>
          <a:xfrm flipV="1">
            <a:off x="8325853" y="1648326"/>
            <a:ext cx="389823" cy="1299411"/>
          </a:xfrm>
          <a:prstGeom prst="line">
            <a:avLst/>
          </a:prstGeom>
          <a:noFill/>
          <a:ln w="25400">
            <a:solidFill>
              <a:srgbClr val="3B6FD4">
                <a:alpha val="60000"/>
              </a:srgbClr>
            </a:solidFill>
            <a:prstDash val="solid"/>
          </a:ln>
        </p:spPr>
      </p:sp>
      <p:sp>
        <p:nvSpPr>
          <p:cNvPr id="5" name="nl3"/>
          <p:cNvSpPr/>
          <p:nvPr/>
        </p:nvSpPr>
        <p:spPr>
          <a:xfrm>
            <a:off x="8715676" y="1648326"/>
            <a:ext cx="1039528" cy="649705"/>
          </a:xfrm>
          <a:prstGeom prst="line">
            <a:avLst/>
          </a:prstGeom>
          <a:noFill/>
          <a:ln w="25400">
            <a:solidFill>
              <a:srgbClr val="3B6FD4">
                <a:alpha val="60000"/>
              </a:srgbClr>
            </a:solidFill>
            <a:prstDash val="solid"/>
          </a:ln>
        </p:spPr>
      </p:sp>
      <p:sp>
        <p:nvSpPr>
          <p:cNvPr id="6" name="nl4"/>
          <p:cNvSpPr/>
          <p:nvPr/>
        </p:nvSpPr>
        <p:spPr>
          <a:xfrm flipV="1">
            <a:off x="9755204" y="1778267"/>
            <a:ext cx="909587" cy="519764"/>
          </a:xfrm>
          <a:prstGeom prst="line">
            <a:avLst/>
          </a:prstGeom>
          <a:noFill/>
          <a:ln w="25400">
            <a:solidFill>
              <a:srgbClr val="3B6FD4">
                <a:alpha val="60000"/>
              </a:srgbClr>
            </a:solidFill>
            <a:prstDash val="solid"/>
          </a:ln>
        </p:spPr>
      </p:sp>
      <p:sp>
        <p:nvSpPr>
          <p:cNvPr id="7" name="nl5"/>
          <p:cNvSpPr/>
          <p:nvPr/>
        </p:nvSpPr>
        <p:spPr>
          <a:xfrm>
            <a:off x="8325853" y="2947737"/>
            <a:ext cx="584735" cy="1169469"/>
          </a:xfrm>
          <a:prstGeom prst="line">
            <a:avLst/>
          </a:prstGeom>
          <a:noFill/>
          <a:ln w="25400">
            <a:solidFill>
              <a:srgbClr val="3B6FD4">
                <a:alpha val="60000"/>
              </a:srgbClr>
            </a:solidFill>
            <a:prstDash val="solid"/>
          </a:ln>
        </p:spPr>
      </p:sp>
      <p:sp>
        <p:nvSpPr>
          <p:cNvPr id="8" name="nl6"/>
          <p:cNvSpPr/>
          <p:nvPr/>
        </p:nvSpPr>
        <p:spPr>
          <a:xfrm>
            <a:off x="10145027" y="3597442"/>
            <a:ext cx="779646" cy="909587"/>
          </a:xfrm>
          <a:prstGeom prst="line">
            <a:avLst/>
          </a:prstGeom>
          <a:noFill/>
          <a:ln w="25400">
            <a:solidFill>
              <a:srgbClr val="3B6FD4">
                <a:alpha val="60000"/>
              </a:srgbClr>
            </a:solidFill>
            <a:prstDash val="solid"/>
          </a:ln>
        </p:spPr>
      </p:sp>
      <p:sp>
        <p:nvSpPr>
          <p:cNvPr id="9" name="nl7"/>
          <p:cNvSpPr/>
          <p:nvPr/>
        </p:nvSpPr>
        <p:spPr>
          <a:xfrm flipV="1">
            <a:off x="8065971" y="4117206"/>
            <a:ext cx="844617" cy="779646"/>
          </a:xfrm>
          <a:prstGeom prst="line">
            <a:avLst/>
          </a:prstGeom>
          <a:noFill/>
          <a:ln w="25400">
            <a:solidFill>
              <a:srgbClr val="3B6FD4">
                <a:alpha val="60000"/>
              </a:srgbClr>
            </a:solidFill>
            <a:prstDash val="solid"/>
          </a:ln>
        </p:spPr>
      </p:sp>
      <p:sp>
        <p:nvSpPr>
          <p:cNvPr id="10" name="nl8"/>
          <p:cNvSpPr/>
          <p:nvPr/>
        </p:nvSpPr>
        <p:spPr>
          <a:xfrm>
            <a:off x="8910587" y="4117206"/>
            <a:ext cx="844617" cy="909587"/>
          </a:xfrm>
          <a:prstGeom prst="line">
            <a:avLst/>
          </a:prstGeom>
          <a:noFill/>
          <a:ln w="25400">
            <a:solidFill>
              <a:srgbClr val="3B6FD4">
                <a:alpha val="60000"/>
              </a:srgbClr>
            </a:solidFill>
            <a:prstDash val="solid"/>
          </a:ln>
        </p:spPr>
      </p:sp>
      <p:sp>
        <p:nvSpPr>
          <p:cNvPr id="11" name="nl9"/>
          <p:cNvSpPr/>
          <p:nvPr/>
        </p:nvSpPr>
        <p:spPr>
          <a:xfrm flipV="1">
            <a:off x="9755204" y="4507029"/>
            <a:ext cx="1169469" cy="519764"/>
          </a:xfrm>
          <a:prstGeom prst="line">
            <a:avLst/>
          </a:prstGeom>
          <a:noFill/>
          <a:ln w="25400">
            <a:solidFill>
              <a:srgbClr val="3B6FD4">
                <a:alpha val="60000"/>
              </a:srgbClr>
            </a:solidFill>
            <a:prstDash val="solid"/>
          </a:ln>
        </p:spPr>
      </p:sp>
      <p:sp>
        <p:nvSpPr>
          <p:cNvPr id="12" name="nl10"/>
          <p:cNvSpPr/>
          <p:nvPr/>
        </p:nvSpPr>
        <p:spPr>
          <a:xfrm flipV="1">
            <a:off x="10145027" y="1778267"/>
            <a:ext cx="519764" cy="1819175"/>
          </a:xfrm>
          <a:prstGeom prst="line">
            <a:avLst/>
          </a:prstGeom>
          <a:noFill/>
          <a:ln w="25400">
            <a:solidFill>
              <a:srgbClr val="3B6FD4">
                <a:alpha val="60000"/>
              </a:srgbClr>
            </a:solidFill>
            <a:prstDash val="solid"/>
          </a:ln>
        </p:spPr>
      </p:sp>
      <p:sp>
        <p:nvSpPr>
          <p:cNvPr id="13" name="nr0"/>
          <p:cNvSpPr/>
          <p:nvPr/>
        </p:nvSpPr>
        <p:spPr>
          <a:xfrm flipV="1">
            <a:off x="8325853" y="2298032"/>
            <a:ext cx="1429352" cy="649705"/>
          </a:xfrm>
          <a:prstGeom prst="line">
            <a:avLst/>
          </a:prstGeom>
          <a:noFill/>
          <a:ln w="44450">
            <a:solidFill>
              <a:srgbClr val="E8743B"/>
            </a:solidFill>
            <a:prstDash val="solid"/>
          </a:ln>
        </p:spPr>
      </p:sp>
      <p:sp>
        <p:nvSpPr>
          <p:cNvPr id="14" name="nr1"/>
          <p:cNvSpPr/>
          <p:nvPr/>
        </p:nvSpPr>
        <p:spPr>
          <a:xfrm>
            <a:off x="9755204" y="2298032"/>
            <a:ext cx="389823" cy="1299411"/>
          </a:xfrm>
          <a:prstGeom prst="line">
            <a:avLst/>
          </a:prstGeom>
          <a:noFill/>
          <a:ln w="44450">
            <a:solidFill>
              <a:srgbClr val="E8743B"/>
            </a:solidFill>
            <a:prstDash val="solid"/>
          </a:ln>
        </p:spPr>
      </p:sp>
      <p:sp>
        <p:nvSpPr>
          <p:cNvPr id="15" name="nr2"/>
          <p:cNvSpPr/>
          <p:nvPr/>
        </p:nvSpPr>
        <p:spPr>
          <a:xfrm flipV="1">
            <a:off x="8910587" y="3597442"/>
            <a:ext cx="1234440" cy="519764"/>
          </a:xfrm>
          <a:prstGeom prst="line">
            <a:avLst/>
          </a:prstGeom>
          <a:noFill/>
          <a:ln w="44450">
            <a:solidFill>
              <a:srgbClr val="E8743B"/>
            </a:solidFill>
            <a:prstDash val="solid"/>
          </a:ln>
        </p:spPr>
      </p:sp>
      <p:sp>
        <p:nvSpPr>
          <p:cNvPr id="16" name="nr3"/>
          <p:cNvSpPr/>
          <p:nvPr/>
        </p:nvSpPr>
        <p:spPr>
          <a:xfrm>
            <a:off x="8325853" y="2947737"/>
            <a:ext cx="584735" cy="1169469"/>
          </a:xfrm>
          <a:prstGeom prst="line">
            <a:avLst/>
          </a:prstGeom>
          <a:noFill/>
          <a:ln w="44450">
            <a:solidFill>
              <a:srgbClr val="E8743B"/>
            </a:solidFill>
            <a:prstDash val="solid"/>
          </a:ln>
        </p:spPr>
      </p:sp>
      <p:sp>
        <p:nvSpPr>
          <p:cNvPr id="17" name="nr4"/>
          <p:cNvSpPr/>
          <p:nvPr/>
        </p:nvSpPr>
        <p:spPr>
          <a:xfrm>
            <a:off x="8325853" y="2947737"/>
            <a:ext cx="1819175" cy="649705"/>
          </a:xfrm>
          <a:prstGeom prst="line">
            <a:avLst/>
          </a:prstGeom>
          <a:noFill/>
          <a:ln w="44450">
            <a:solidFill>
              <a:srgbClr val="E8743B"/>
            </a:solidFill>
            <a:prstDash val="solid"/>
          </a:ln>
        </p:spPr>
      </p:sp>
      <p:sp>
        <p:nvSpPr>
          <p:cNvPr id="18" name="nn0"/>
          <p:cNvSpPr/>
          <p:nvPr/>
        </p:nvSpPr>
        <p:spPr>
          <a:xfrm>
            <a:off x="7585189" y="1947191"/>
            <a:ext cx="181917" cy="181917"/>
          </a:xfrm>
          <a:prstGeom prst="ellipse">
            <a:avLst/>
          </a:prstGeom>
          <a:solidFill>
            <a:srgbClr val="C3CCDA"/>
          </a:solidFill>
          <a:ln w="12700">
            <a:solidFill>
              <a:srgbClr val="C3CCDA"/>
            </a:solidFill>
            <a:prstDash val="solid"/>
          </a:ln>
        </p:spPr>
      </p:sp>
      <p:sp>
        <p:nvSpPr>
          <p:cNvPr id="19" name="nn1"/>
          <p:cNvSpPr/>
          <p:nvPr/>
        </p:nvSpPr>
        <p:spPr>
          <a:xfrm>
            <a:off x="8624717" y="1557368"/>
            <a:ext cx="181917" cy="181917"/>
          </a:xfrm>
          <a:prstGeom prst="ellipse">
            <a:avLst/>
          </a:prstGeom>
          <a:solidFill>
            <a:srgbClr val="C3CCDA"/>
          </a:solidFill>
          <a:ln w="12700">
            <a:solidFill>
              <a:srgbClr val="C3CCDA"/>
            </a:solidFill>
            <a:prstDash val="solid"/>
          </a:ln>
        </p:spPr>
      </p:sp>
      <p:sp>
        <p:nvSpPr>
          <p:cNvPr id="20" name="nn2"/>
          <p:cNvSpPr/>
          <p:nvPr/>
        </p:nvSpPr>
        <p:spPr>
          <a:xfrm>
            <a:off x="10573833" y="1687309"/>
            <a:ext cx="181917" cy="181917"/>
          </a:xfrm>
          <a:prstGeom prst="ellipse">
            <a:avLst/>
          </a:prstGeom>
          <a:solidFill>
            <a:srgbClr val="C3CCDA"/>
          </a:solidFill>
          <a:ln w="12700">
            <a:solidFill>
              <a:srgbClr val="C3CCDA"/>
            </a:solidFill>
            <a:prstDash val="solid"/>
          </a:ln>
        </p:spPr>
      </p:sp>
      <p:sp>
        <p:nvSpPr>
          <p:cNvPr id="21" name="nn3"/>
          <p:cNvSpPr/>
          <p:nvPr/>
        </p:nvSpPr>
        <p:spPr>
          <a:xfrm>
            <a:off x="10833715" y="4416071"/>
            <a:ext cx="181917" cy="181917"/>
          </a:xfrm>
          <a:prstGeom prst="ellipse">
            <a:avLst/>
          </a:prstGeom>
          <a:solidFill>
            <a:srgbClr val="C3CCDA"/>
          </a:solidFill>
          <a:ln w="12700">
            <a:solidFill>
              <a:srgbClr val="C3CCDA"/>
            </a:solidFill>
            <a:prstDash val="solid"/>
          </a:ln>
        </p:spPr>
      </p:sp>
      <p:sp>
        <p:nvSpPr>
          <p:cNvPr id="22" name="nn4"/>
          <p:cNvSpPr/>
          <p:nvPr/>
        </p:nvSpPr>
        <p:spPr>
          <a:xfrm>
            <a:off x="7975012" y="4805894"/>
            <a:ext cx="181917" cy="181917"/>
          </a:xfrm>
          <a:prstGeom prst="ellipse">
            <a:avLst/>
          </a:prstGeom>
          <a:solidFill>
            <a:srgbClr val="C3CCDA"/>
          </a:solidFill>
          <a:ln w="12700">
            <a:solidFill>
              <a:srgbClr val="C3CCDA"/>
            </a:solidFill>
            <a:prstDash val="solid"/>
          </a:ln>
        </p:spPr>
      </p:sp>
      <p:sp>
        <p:nvSpPr>
          <p:cNvPr id="23" name="nn5"/>
          <p:cNvSpPr/>
          <p:nvPr/>
        </p:nvSpPr>
        <p:spPr>
          <a:xfrm>
            <a:off x="9664245" y="4935835"/>
            <a:ext cx="181917" cy="181917"/>
          </a:xfrm>
          <a:prstGeom prst="ellipse">
            <a:avLst/>
          </a:prstGeom>
          <a:solidFill>
            <a:srgbClr val="C3CCDA"/>
          </a:solidFill>
          <a:ln w="12700">
            <a:solidFill>
              <a:srgbClr val="C3CCDA"/>
            </a:solidFill>
            <a:prstDash val="solid"/>
          </a:ln>
        </p:spPr>
      </p:sp>
      <p:sp>
        <p:nvSpPr>
          <p:cNvPr id="24" name="nh0"/>
          <p:cNvSpPr/>
          <p:nvPr/>
        </p:nvSpPr>
        <p:spPr>
          <a:xfrm>
            <a:off x="8065971" y="2687855"/>
            <a:ext cx="519764" cy="519764"/>
          </a:xfrm>
          <a:prstGeom prst="ellipse">
            <a:avLst/>
          </a:prstGeom>
          <a:solidFill>
            <a:srgbClr val="E8743B">
              <a:alpha val="20000"/>
            </a:srgbClr>
          </a:solidFill>
          <a:ln w="19050">
            <a:solidFill>
              <a:srgbClr val="E8743B">
                <a:alpha val="50000"/>
              </a:srgbClr>
            </a:solidFill>
            <a:prstDash val="solid"/>
          </a:ln>
        </p:spPr>
      </p:sp>
      <p:sp>
        <p:nvSpPr>
          <p:cNvPr id="25" name="nh1"/>
          <p:cNvSpPr/>
          <p:nvPr/>
        </p:nvSpPr>
        <p:spPr>
          <a:xfrm>
            <a:off x="9495322" y="2038149"/>
            <a:ext cx="519764" cy="519764"/>
          </a:xfrm>
          <a:prstGeom prst="ellipse">
            <a:avLst/>
          </a:prstGeom>
          <a:solidFill>
            <a:srgbClr val="E8743B">
              <a:alpha val="20000"/>
            </a:srgbClr>
          </a:solidFill>
          <a:ln w="19050">
            <a:solidFill>
              <a:srgbClr val="E8743B">
                <a:alpha val="50000"/>
              </a:srgbClr>
            </a:solidFill>
            <a:prstDash val="solid"/>
          </a:ln>
        </p:spPr>
      </p:sp>
      <p:sp>
        <p:nvSpPr>
          <p:cNvPr id="26" name="nh2"/>
          <p:cNvSpPr/>
          <p:nvPr/>
        </p:nvSpPr>
        <p:spPr>
          <a:xfrm>
            <a:off x="9885145" y="3337560"/>
            <a:ext cx="519764" cy="519764"/>
          </a:xfrm>
          <a:prstGeom prst="ellipse">
            <a:avLst/>
          </a:prstGeom>
          <a:solidFill>
            <a:srgbClr val="E8743B">
              <a:alpha val="20000"/>
            </a:srgbClr>
          </a:solidFill>
          <a:ln w="19050">
            <a:solidFill>
              <a:srgbClr val="E8743B">
                <a:alpha val="50000"/>
              </a:srgbClr>
            </a:solidFill>
            <a:prstDash val="solid"/>
          </a:ln>
        </p:spPr>
      </p:sp>
      <p:sp>
        <p:nvSpPr>
          <p:cNvPr id="27" name="nh3"/>
          <p:cNvSpPr/>
          <p:nvPr/>
        </p:nvSpPr>
        <p:spPr>
          <a:xfrm>
            <a:off x="8650705" y="3857324"/>
            <a:ext cx="519764" cy="519764"/>
          </a:xfrm>
          <a:prstGeom prst="ellipse">
            <a:avLst/>
          </a:prstGeom>
          <a:solidFill>
            <a:srgbClr val="E8743B">
              <a:alpha val="20000"/>
            </a:srgbClr>
          </a:solidFill>
          <a:ln w="19050">
            <a:solidFill>
              <a:srgbClr val="E8743B">
                <a:alpha val="50000"/>
              </a:srgbClr>
            </a:solidFill>
            <a:prstDash val="solid"/>
          </a:ln>
        </p:spPr>
      </p:sp>
      <p:sp>
        <p:nvSpPr>
          <p:cNvPr id="28" name="nf0"/>
          <p:cNvSpPr/>
          <p:nvPr/>
        </p:nvSpPr>
        <p:spPr>
          <a:xfrm>
            <a:off x="8182917" y="2804802"/>
            <a:ext cx="285870" cy="285870"/>
          </a:xfrm>
          <a:prstGeom prst="ellipse">
            <a:avLst/>
          </a:prstGeom>
          <a:solidFill>
            <a:srgbClr val="E8743B"/>
          </a:solidFill>
          <a:ln w="12700">
            <a:solidFill>
              <a:srgbClr val="E8743B"/>
            </a:solidFill>
            <a:prstDash val="solid"/>
          </a:ln>
        </p:spPr>
      </p:sp>
      <p:sp>
        <p:nvSpPr>
          <p:cNvPr id="29" name="nf1"/>
          <p:cNvSpPr/>
          <p:nvPr/>
        </p:nvSpPr>
        <p:spPr>
          <a:xfrm>
            <a:off x="9612269" y="2155096"/>
            <a:ext cx="285870" cy="285870"/>
          </a:xfrm>
          <a:prstGeom prst="ellipse">
            <a:avLst/>
          </a:prstGeom>
          <a:solidFill>
            <a:srgbClr val="E8743B"/>
          </a:solidFill>
          <a:ln w="12700">
            <a:solidFill>
              <a:srgbClr val="E8743B"/>
            </a:solidFill>
            <a:prstDash val="solid"/>
          </a:ln>
        </p:spPr>
      </p:sp>
      <p:sp>
        <p:nvSpPr>
          <p:cNvPr id="30" name="nf2"/>
          <p:cNvSpPr/>
          <p:nvPr/>
        </p:nvSpPr>
        <p:spPr>
          <a:xfrm>
            <a:off x="10002092" y="3454507"/>
            <a:ext cx="285870" cy="285870"/>
          </a:xfrm>
          <a:prstGeom prst="ellipse">
            <a:avLst/>
          </a:prstGeom>
          <a:solidFill>
            <a:srgbClr val="E8743B"/>
          </a:solidFill>
          <a:ln w="12700">
            <a:solidFill>
              <a:srgbClr val="E8743B"/>
            </a:solidFill>
            <a:prstDash val="solid"/>
          </a:ln>
        </p:spPr>
      </p:sp>
      <p:sp>
        <p:nvSpPr>
          <p:cNvPr id="31" name="nf3"/>
          <p:cNvSpPr/>
          <p:nvPr/>
        </p:nvSpPr>
        <p:spPr>
          <a:xfrm>
            <a:off x="8767652" y="3974271"/>
            <a:ext cx="285870" cy="285870"/>
          </a:xfrm>
          <a:prstGeom prst="ellipse">
            <a:avLst/>
          </a:prstGeom>
          <a:solidFill>
            <a:srgbClr val="E8743B"/>
          </a:solidFill>
          <a:ln w="12700">
            <a:solidFill>
              <a:srgbClr val="E8743B"/>
            </a:solidFill>
            <a:prstDash val="solid"/>
          </a:ln>
        </p:spPr>
      </p:sp>
      <p:sp>
        <p:nvSpPr>
          <p:cNvPr id="32" name="Text 30"/>
          <p:cNvSpPr txBox="1"/>
          <p:nvPr/>
        </p:nvSpPr>
        <p:spPr>
          <a:xfrm>
            <a:off x="612648" y="2377440"/>
            <a:ext cx="6400800" cy="1097280"/>
          </a:xfrm>
          <a:prstGeom prst="rect">
            <a:avLst/>
          </a:prstGeom>
          <a:noFill/>
          <a:ln/>
        </p:spPr>
        <p:txBody>
          <a:bodyPr wrap="square" lIns="0" tIns="0" rIns="0" bIns="0" rtlCol="0" anchor="t"/>
          <a:lstStyle/>
          <a:p>
            <a:pPr indent="0" marL="0">
              <a:buNone/>
            </a:pPr>
            <a:r>
              <a:rPr lang="en-US" sz="6000" b="1" dirty="0">
                <a:solidFill>
                  <a:srgbClr val="F5F3EE"/>
                </a:solidFill>
                <a:latin typeface="Arial" pitchFamily="34" charset="0"/>
                <a:ea typeface="Arial" pitchFamily="34" charset="-122"/>
                <a:cs typeface="Arial" pitchFamily="34" charset="-120"/>
              </a:rPr>
              <a:t>Thank you</a:t>
            </a:r>
            <a:endParaRPr lang="en-US" sz="6000" dirty="0"/>
          </a:p>
        </p:txBody>
      </p:sp>
      <p:sp>
        <p:nvSpPr>
          <p:cNvPr id="33" name="Text 31"/>
          <p:cNvSpPr txBox="1"/>
          <p:nvPr/>
        </p:nvSpPr>
        <p:spPr>
          <a:xfrm>
            <a:off x="612648" y="3566160"/>
            <a:ext cx="6400800" cy="640080"/>
          </a:xfrm>
          <a:prstGeom prst="rect">
            <a:avLst/>
          </a:prstGeom>
          <a:noFill/>
          <a:ln/>
        </p:spPr>
        <p:txBody>
          <a:bodyPr wrap="square" lIns="0" tIns="0" rIns="0" bIns="0" rtlCol="0" anchor="t"/>
          <a:lstStyle/>
          <a:p>
            <a:pPr indent="0" marL="0">
              <a:buNone/>
            </a:pPr>
            <a:r>
              <a:rPr lang="en-US" sz="2600" dirty="0">
                <a:solidFill>
                  <a:srgbClr val="E8743B"/>
                </a:solidFill>
                <a:latin typeface="Arial" pitchFamily="34" charset="0"/>
                <a:ea typeface="Arial" pitchFamily="34" charset="-122"/>
                <a:cs typeface="Arial" pitchFamily="34" charset="-120"/>
              </a:rPr>
              <a:t>Questions?</a:t>
            </a:r>
            <a:endParaRPr lang="en-US" sz="2600" dirty="0"/>
          </a:p>
        </p:txBody>
      </p:sp>
      <p:sp>
        <p:nvSpPr>
          <p:cNvPr id="34" name="Text 32"/>
          <p:cNvSpPr txBox="1"/>
          <p:nvPr/>
        </p:nvSpPr>
        <p:spPr>
          <a:xfrm>
            <a:off x="612648" y="5577840"/>
            <a:ext cx="8229600" cy="731520"/>
          </a:xfrm>
          <a:prstGeom prst="rect">
            <a:avLst/>
          </a:prstGeom>
          <a:noFill/>
          <a:ln/>
        </p:spPr>
        <p:txBody>
          <a:bodyPr wrap="square" lIns="0" tIns="0" rIns="0" bIns="0" rtlCol="0" anchor="t"/>
          <a:lstStyle/>
          <a:p>
            <a:pPr indent="0" marL="0">
              <a:buNone/>
            </a:pPr>
            <a:r>
              <a:rPr lang="en-US" sz="1300" dirty="0">
                <a:solidFill>
                  <a:srgbClr val="C3CCDA"/>
                </a:solidFill>
                <a:latin typeface="Arial" pitchFamily="34" charset="0"/>
                <a:ea typeface="Arial" pitchFamily="34" charset="-122"/>
                <a:cs typeface="Arial" pitchFamily="34" charset="-120"/>
              </a:rPr>
              <a:t>Nada Aljaafari · Lujain Alqarni · Alia AlGhamdi · Remas Almutairi</a:t>
            </a:r>
            <a:endParaRPr lang="en-US" sz="1300" dirty="0"/>
          </a:p>
          <a:p>
            <a:pPr indent="0" marL="0">
              <a:buNone/>
            </a:pPr>
            <a:r>
              <a:rPr lang="en-US" sz="1300" dirty="0">
                <a:solidFill>
                  <a:srgbClr val="C3CCDA"/>
                </a:solidFill>
                <a:latin typeface="Arial" pitchFamily="34" charset="0"/>
                <a:ea typeface="Arial" pitchFamily="34" charset="-122"/>
                <a:cs typeface="Arial" pitchFamily="34" charset="-120"/>
              </a:rPr>
              <a:t>Data: IEEE-CIS Fraud Detection (Kaggle, 2019)</a:t>
            </a:r>
            <a:endParaRPr lang="en-US" sz="13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indefinite" autoRev="1" fill="hold" grpId="0" nodeType="afterEffect">
                                  <p:stCondLst>
                                    <p:cond delay="0"/>
                                  </p:stCondLst>
                                  <p:childTnLst>
                                    <p:animScale>
                                      <p:cBhvr>
                                        <p:cTn id="6" dur="900" fill="hold"/>
                                        <p:tgtEl>
                                          <p:spTgt spid="28"/>
                                        </p:tgtEl>
                                      </p:cBhvr>
                                      <p:by x="125000" y="125000"/>
                                    </p:animScale>
                                  </p:childTnLst>
                                </p:cTn>
                              </p:par>
                              <p:par>
                                <p:cTn id="7" presetID="6" presetClass="emph" presetSubtype="0" repeatCount="indefinite" autoRev="1" fill="hold" grpId="0" nodeType="withEffect">
                                  <p:stCondLst>
                                    <p:cond delay="350"/>
                                  </p:stCondLst>
                                  <p:childTnLst>
                                    <p:animScale>
                                      <p:cBhvr>
                                        <p:cTn id="8" dur="900" fill="hold"/>
                                        <p:tgtEl>
                                          <p:spTgt spid="29"/>
                                        </p:tgtEl>
                                      </p:cBhvr>
                                      <p:by x="125000" y="125000"/>
                                    </p:animScale>
                                  </p:childTnLst>
                                </p:cTn>
                              </p:par>
                              <p:par>
                                <p:cTn id="9" presetID="6" presetClass="emph" presetSubtype="0" repeatCount="indefinite" autoRev="1" fill="hold" grpId="0" nodeType="withEffect">
                                  <p:stCondLst>
                                    <p:cond delay="700"/>
                                  </p:stCondLst>
                                  <p:childTnLst>
                                    <p:animScale>
                                      <p:cBhvr>
                                        <p:cTn id="10" dur="900" fill="hold"/>
                                        <p:tgtEl>
                                          <p:spTgt spid="30"/>
                                        </p:tgtEl>
                                      </p:cBhvr>
                                      <p:by x="125000" y="125000"/>
                                    </p:animScale>
                                  </p:childTnLst>
                                </p:cTn>
                              </p:par>
                              <p:par>
                                <p:cTn id="11" presetID="6" presetClass="emph" presetSubtype="0" repeatCount="indefinite" autoRev="1" fill="hold" grpId="0" nodeType="withEffect">
                                  <p:stCondLst>
                                    <p:cond delay="1050"/>
                                  </p:stCondLst>
                                  <p:childTnLst>
                                    <p:animScale>
                                      <p:cBhvr>
                                        <p:cTn id="12" dur="900" fill="hold"/>
                                        <p:tgtEl>
                                          <p:spTgt spid="31"/>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Ring Detection – Final Presentation</dc:title>
  <dc:subject>PptxGenJS Presentation</dc:subject>
  <dc:creator>Group 8</dc:creator>
  <cp:lastModifiedBy>Group 8</cp:lastModifiedBy>
  <cp:revision>1</cp:revision>
  <dcterms:created xsi:type="dcterms:W3CDTF">2026-09-29T16:25:17Z</dcterms:created>
  <dcterms:modified xsi:type="dcterms:W3CDTF">2026-09-29T16:25:17Z</dcterms:modified>
</cp:coreProperties>
</file>